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drawings/drawing2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theme/themeOverride7.xml" ContentType="application/vnd.openxmlformats-officedocument.themeOverride+xml"/>
  <Override PartName="/ppt/charts/chart14.xml" ContentType="application/vnd.openxmlformats-officedocument.drawingml.chart+xml"/>
  <Override PartName="/ppt/theme/themeOverride8.xml" ContentType="application/vnd.openxmlformats-officedocument.themeOverride+xml"/>
  <Override PartName="/ppt/charts/chart15.xml" ContentType="application/vnd.openxmlformats-officedocument.drawingml.chart+xml"/>
  <Override PartName="/ppt/theme/themeOverride9.xml" ContentType="application/vnd.openxmlformats-officedocument.themeOverride+xml"/>
  <Override PartName="/ppt/charts/chart16.xml" ContentType="application/vnd.openxmlformats-officedocument.drawingml.chart+xml"/>
  <Override PartName="/ppt/theme/themeOverride10.xml" ContentType="application/vnd.openxmlformats-officedocument.themeOverride+xml"/>
  <Override PartName="/ppt/charts/chart17.xml" ContentType="application/vnd.openxmlformats-officedocument.drawingml.chart+xml"/>
  <Override PartName="/ppt/theme/themeOverride11.xml" ContentType="application/vnd.openxmlformats-officedocument.themeOverride+xml"/>
  <Override PartName="/ppt/charts/chart18.xml" ContentType="application/vnd.openxmlformats-officedocument.drawingml.chart+xml"/>
  <Override PartName="/ppt/theme/themeOverride12.xml" ContentType="application/vnd.openxmlformats-officedocument.themeOverride+xml"/>
  <Override PartName="/ppt/drawings/drawing3.xml" ContentType="application/vnd.openxmlformats-officedocument.drawingml.chartshape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9.xml" ContentType="application/vnd.openxmlformats-officedocument.drawingml.chart+xml"/>
  <Override PartName="/ppt/theme/themeOverride13.xml" ContentType="application/vnd.openxmlformats-officedocument.themeOverride+xml"/>
  <Override PartName="/ppt/charts/chart20.xml" ContentType="application/vnd.openxmlformats-officedocument.drawingml.chart+xml"/>
  <Override PartName="/ppt/theme/themeOverride14.xml" ContentType="application/vnd.openxmlformats-officedocument.themeOverride+xml"/>
  <Override PartName="/ppt/charts/chart21.xml" ContentType="application/vnd.openxmlformats-officedocument.drawingml.chart+xml"/>
  <Override PartName="/ppt/theme/themeOverride15.xml" ContentType="application/vnd.openxmlformats-officedocument.themeOverride+xml"/>
  <Override PartName="/ppt/charts/chart22.xml" ContentType="application/vnd.openxmlformats-officedocument.drawingml.chart+xml"/>
  <Override PartName="/ppt/theme/themeOverride16.xml" ContentType="application/vnd.openxmlformats-officedocument.themeOverride+xml"/>
  <Override PartName="/ppt/charts/chart23.xml" ContentType="application/vnd.openxmlformats-officedocument.drawingml.chart+xml"/>
  <Override PartName="/ppt/theme/themeOverride17.xml" ContentType="application/vnd.openxmlformats-officedocument.themeOverride+xml"/>
  <Override PartName="/ppt/charts/chart24.xml" ContentType="application/vnd.openxmlformats-officedocument.drawingml.chart+xml"/>
  <Override PartName="/ppt/theme/themeOverride18.xml" ContentType="application/vnd.openxmlformats-officedocument.themeOverride+xml"/>
  <Override PartName="/ppt/drawings/drawing4.xml" ContentType="application/vnd.openxmlformats-officedocument.drawingml.chartshap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5.xml" ContentType="application/vnd.openxmlformats-officedocument.drawingml.chart+xml"/>
  <Override PartName="/ppt/theme/themeOverride19.xml" ContentType="application/vnd.openxmlformats-officedocument.themeOverride+xml"/>
  <Override PartName="/ppt/charts/chart26.xml" ContentType="application/vnd.openxmlformats-officedocument.drawingml.chart+xml"/>
  <Override PartName="/ppt/theme/themeOverride20.xml" ContentType="application/vnd.openxmlformats-officedocument.themeOverride+xml"/>
  <Override PartName="/ppt/charts/chart27.xml" ContentType="application/vnd.openxmlformats-officedocument.drawingml.chart+xml"/>
  <Override PartName="/ppt/theme/themeOverride21.xml" ContentType="application/vnd.openxmlformats-officedocument.themeOverride+xml"/>
  <Override PartName="/ppt/charts/chart28.xml" ContentType="application/vnd.openxmlformats-officedocument.drawingml.chart+xml"/>
  <Override PartName="/ppt/theme/themeOverride22.xml" ContentType="application/vnd.openxmlformats-officedocument.themeOverride+xml"/>
  <Override PartName="/ppt/charts/chart29.xml" ContentType="application/vnd.openxmlformats-officedocument.drawingml.chart+xml"/>
  <Override PartName="/ppt/theme/themeOverride23.xml" ContentType="application/vnd.openxmlformats-officedocument.themeOverride+xml"/>
  <Override PartName="/ppt/charts/chart30.xml" ContentType="application/vnd.openxmlformats-officedocument.drawingml.chart+xml"/>
  <Override PartName="/ppt/theme/themeOverride24.xml" ContentType="application/vnd.openxmlformats-officedocument.themeOverride+xml"/>
  <Override PartName="/ppt/drawings/drawing5.xml" ContentType="application/vnd.openxmlformats-officedocument.drawingml.chartshape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1.xml" ContentType="application/vnd.openxmlformats-officedocument.drawingml.chart+xml"/>
  <Override PartName="/ppt/theme/themeOverride25.xml" ContentType="application/vnd.openxmlformats-officedocument.themeOverride+xml"/>
  <Override PartName="/ppt/charts/chart32.xml" ContentType="application/vnd.openxmlformats-officedocument.drawingml.chart+xml"/>
  <Override PartName="/ppt/theme/themeOverride26.xml" ContentType="application/vnd.openxmlformats-officedocument.themeOverride+xml"/>
  <Override PartName="/ppt/charts/chart33.xml" ContentType="application/vnd.openxmlformats-officedocument.drawingml.chart+xml"/>
  <Override PartName="/ppt/theme/themeOverride27.xml" ContentType="application/vnd.openxmlformats-officedocument.themeOverride+xml"/>
  <Override PartName="/ppt/charts/chart34.xml" ContentType="application/vnd.openxmlformats-officedocument.drawingml.chart+xml"/>
  <Override PartName="/ppt/theme/themeOverride28.xml" ContentType="application/vnd.openxmlformats-officedocument.themeOverride+xml"/>
  <Override PartName="/ppt/charts/chart35.xml" ContentType="application/vnd.openxmlformats-officedocument.drawingml.chart+xml"/>
  <Override PartName="/ppt/theme/themeOverride29.xml" ContentType="application/vnd.openxmlformats-officedocument.themeOverride+xml"/>
  <Override PartName="/ppt/charts/chart36.xml" ContentType="application/vnd.openxmlformats-officedocument.drawingml.chart+xml"/>
  <Override PartName="/ppt/theme/themeOverride30.xml" ContentType="application/vnd.openxmlformats-officedocument.themeOverride+xml"/>
  <Override PartName="/ppt/drawings/drawing6.xml" ContentType="application/vnd.openxmlformats-officedocument.drawingml.chartshapes+xml"/>
  <Override PartName="/ppt/notesSlides/notesSlide17.xml" ContentType="application/vnd.openxmlformats-officedocument.presentationml.notesSlide+xml"/>
  <Override PartName="/ppt/charts/chart37.xml" ContentType="application/vnd.openxmlformats-officedocument.drawingml.chart+xml"/>
  <Override PartName="/ppt/theme/themeOverride31.xml" ContentType="application/vnd.openxmlformats-officedocument.themeOverride+xml"/>
  <Override PartName="/ppt/charts/chart38.xml" ContentType="application/vnd.openxmlformats-officedocument.drawingml.chart+xml"/>
  <Override PartName="/ppt/theme/themeOverride32.xml" ContentType="application/vnd.openxmlformats-officedocument.themeOverride+xml"/>
  <Override PartName="/ppt/charts/chart39.xml" ContentType="application/vnd.openxmlformats-officedocument.drawingml.chart+xml"/>
  <Override PartName="/ppt/theme/themeOverride33.xml" ContentType="application/vnd.openxmlformats-officedocument.themeOverride+xml"/>
  <Override PartName="/ppt/charts/chart40.xml" ContentType="application/vnd.openxmlformats-officedocument.drawingml.chart+xml"/>
  <Override PartName="/ppt/theme/themeOverride34.xml" ContentType="application/vnd.openxmlformats-officedocument.themeOverride+xml"/>
  <Override PartName="/ppt/charts/chart41.xml" ContentType="application/vnd.openxmlformats-officedocument.drawingml.chart+xml"/>
  <Override PartName="/ppt/theme/themeOverride35.xml" ContentType="application/vnd.openxmlformats-officedocument.themeOverride+xml"/>
  <Override PartName="/ppt/charts/chart42.xml" ContentType="application/vnd.openxmlformats-officedocument.drawingml.chart+xml"/>
  <Override PartName="/ppt/theme/themeOverride36.xml" ContentType="application/vnd.openxmlformats-officedocument.themeOverride+xml"/>
  <Override PartName="/ppt/drawings/drawing7.xml" ContentType="application/vnd.openxmlformats-officedocument.drawingml.chartshapes+xml"/>
  <Override PartName="/ppt/notesSlides/notesSlide18.xml" ContentType="application/vnd.openxmlformats-officedocument.presentationml.notesSlide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drawings/drawing8.xml" ContentType="application/vnd.openxmlformats-officedocument.drawingml.chartshapes+xml"/>
  <Override PartName="/ppt/notesSlides/notesSlide19.xml" ContentType="application/vnd.openxmlformats-officedocument.presentationml.notesSlide+xml"/>
  <Override PartName="/ppt/charts/chart49.xml" ContentType="application/vnd.openxmlformats-officedocument.drawingml.chart+xml"/>
  <Override PartName="/ppt/theme/themeOverride37.xml" ContentType="application/vnd.openxmlformats-officedocument.themeOverride+xml"/>
  <Override PartName="/ppt/charts/chart50.xml" ContentType="application/vnd.openxmlformats-officedocument.drawingml.chart+xml"/>
  <Override PartName="/ppt/theme/themeOverride38.xml" ContentType="application/vnd.openxmlformats-officedocument.themeOverride+xml"/>
  <Override PartName="/ppt/charts/chart51.xml" ContentType="application/vnd.openxmlformats-officedocument.drawingml.chart+xml"/>
  <Override PartName="/ppt/theme/themeOverride39.xml" ContentType="application/vnd.openxmlformats-officedocument.themeOverride+xml"/>
  <Override PartName="/ppt/charts/chart52.xml" ContentType="application/vnd.openxmlformats-officedocument.drawingml.chart+xml"/>
  <Override PartName="/ppt/theme/themeOverride40.xml" ContentType="application/vnd.openxmlformats-officedocument.themeOverride+xml"/>
  <Override PartName="/ppt/charts/chart53.xml" ContentType="application/vnd.openxmlformats-officedocument.drawingml.chart+xml"/>
  <Override PartName="/ppt/theme/themeOverride41.xml" ContentType="application/vnd.openxmlformats-officedocument.themeOverride+xml"/>
  <Override PartName="/ppt/charts/chart54.xml" ContentType="application/vnd.openxmlformats-officedocument.drawingml.chart+xml"/>
  <Override PartName="/ppt/theme/themeOverride42.xml" ContentType="application/vnd.openxmlformats-officedocument.themeOverride+xml"/>
  <Override PartName="/ppt/drawings/drawing9.xml" ContentType="application/vnd.openxmlformats-officedocument.drawingml.chartshapes+xml"/>
  <Override PartName="/ppt/notesSlides/notesSlide20.xml" ContentType="application/vnd.openxmlformats-officedocument.presentationml.notesSlide+xml"/>
  <Override PartName="/ppt/charts/chart55.xml" ContentType="application/vnd.openxmlformats-officedocument.drawingml.chart+xml"/>
  <Override PartName="/ppt/theme/themeOverride43.xml" ContentType="application/vnd.openxmlformats-officedocument.themeOverride+xml"/>
  <Override PartName="/ppt/charts/chart56.xml" ContentType="application/vnd.openxmlformats-officedocument.drawingml.chart+xml"/>
  <Override PartName="/ppt/theme/themeOverride44.xml" ContentType="application/vnd.openxmlformats-officedocument.themeOverride+xml"/>
  <Override PartName="/ppt/charts/chart57.xml" ContentType="application/vnd.openxmlformats-officedocument.drawingml.chart+xml"/>
  <Override PartName="/ppt/theme/themeOverride45.xml" ContentType="application/vnd.openxmlformats-officedocument.themeOverride+xml"/>
  <Override PartName="/ppt/charts/chart58.xml" ContentType="application/vnd.openxmlformats-officedocument.drawingml.chart+xml"/>
  <Override PartName="/ppt/theme/themeOverride46.xml" ContentType="application/vnd.openxmlformats-officedocument.themeOverride+xml"/>
  <Override PartName="/ppt/charts/chart59.xml" ContentType="application/vnd.openxmlformats-officedocument.drawingml.chart+xml"/>
  <Override PartName="/ppt/theme/themeOverride47.xml" ContentType="application/vnd.openxmlformats-officedocument.themeOverride+xml"/>
  <Override PartName="/ppt/charts/chart60.xml" ContentType="application/vnd.openxmlformats-officedocument.drawingml.chart+xml"/>
  <Override PartName="/ppt/theme/themeOverride48.xml" ContentType="application/vnd.openxmlformats-officedocument.themeOverride+xml"/>
  <Override PartName="/ppt/drawings/drawing10.xml" ContentType="application/vnd.openxmlformats-officedocument.drawingml.chartshapes+xml"/>
  <Override PartName="/ppt/notesSlides/notesSlide21.xml" ContentType="application/vnd.openxmlformats-officedocument.presentationml.notesSlide+xml"/>
  <Override PartName="/ppt/charts/chart61.xml" ContentType="application/vnd.openxmlformats-officedocument.drawingml.chart+xml"/>
  <Override PartName="/ppt/theme/themeOverride49.xml" ContentType="application/vnd.openxmlformats-officedocument.themeOverride+xml"/>
  <Override PartName="/ppt/charts/chart62.xml" ContentType="application/vnd.openxmlformats-officedocument.drawingml.chart+xml"/>
  <Override PartName="/ppt/theme/themeOverride50.xml" ContentType="application/vnd.openxmlformats-officedocument.themeOverride+xml"/>
  <Override PartName="/ppt/charts/chart63.xml" ContentType="application/vnd.openxmlformats-officedocument.drawingml.chart+xml"/>
  <Override PartName="/ppt/theme/themeOverride51.xml" ContentType="application/vnd.openxmlformats-officedocument.themeOverride+xml"/>
  <Override PartName="/ppt/charts/chart64.xml" ContentType="application/vnd.openxmlformats-officedocument.drawingml.chart+xml"/>
  <Override PartName="/ppt/theme/themeOverride52.xml" ContentType="application/vnd.openxmlformats-officedocument.themeOverride+xml"/>
  <Override PartName="/ppt/charts/chart65.xml" ContentType="application/vnd.openxmlformats-officedocument.drawingml.chart+xml"/>
  <Override PartName="/ppt/theme/themeOverride53.xml" ContentType="application/vnd.openxmlformats-officedocument.themeOverride+xml"/>
  <Override PartName="/ppt/charts/chart66.xml" ContentType="application/vnd.openxmlformats-officedocument.drawingml.chart+xml"/>
  <Override PartName="/ppt/theme/themeOverride54.xml" ContentType="application/vnd.openxmlformats-officedocument.themeOverride+xml"/>
  <Override PartName="/ppt/drawings/drawing11.xml" ContentType="application/vnd.openxmlformats-officedocument.drawingml.chartshapes+xml"/>
  <Override PartName="/ppt/notesSlides/notesSlide22.xml" ContentType="application/vnd.openxmlformats-officedocument.presentationml.notesSlide+xml"/>
  <Override PartName="/ppt/charts/chart67.xml" ContentType="application/vnd.openxmlformats-officedocument.drawingml.chart+xml"/>
  <Override PartName="/ppt/theme/themeOverride55.xml" ContentType="application/vnd.openxmlformats-officedocument.themeOverride+xml"/>
  <Override PartName="/ppt/charts/chart68.xml" ContentType="application/vnd.openxmlformats-officedocument.drawingml.chart+xml"/>
  <Override PartName="/ppt/theme/themeOverride56.xml" ContentType="application/vnd.openxmlformats-officedocument.themeOverride+xml"/>
  <Override PartName="/ppt/charts/chart69.xml" ContentType="application/vnd.openxmlformats-officedocument.drawingml.chart+xml"/>
  <Override PartName="/ppt/theme/themeOverride57.xml" ContentType="application/vnd.openxmlformats-officedocument.themeOverride+xml"/>
  <Override PartName="/ppt/charts/chart70.xml" ContentType="application/vnd.openxmlformats-officedocument.drawingml.chart+xml"/>
  <Override PartName="/ppt/theme/themeOverride58.xml" ContentType="application/vnd.openxmlformats-officedocument.themeOverride+xml"/>
  <Override PartName="/ppt/charts/chart71.xml" ContentType="application/vnd.openxmlformats-officedocument.drawingml.chart+xml"/>
  <Override PartName="/ppt/theme/themeOverride59.xml" ContentType="application/vnd.openxmlformats-officedocument.themeOverride+xml"/>
  <Override PartName="/ppt/charts/chart72.xml" ContentType="application/vnd.openxmlformats-officedocument.drawingml.chart+xml"/>
  <Override PartName="/ppt/theme/themeOverride60.xml" ContentType="application/vnd.openxmlformats-officedocument.themeOverride+xml"/>
  <Override PartName="/ppt/drawings/drawing1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806" r:id="rId3"/>
  </p:sldMasterIdLst>
  <p:notesMasterIdLst>
    <p:notesMasterId r:id="rId34"/>
  </p:notesMasterIdLst>
  <p:handoutMasterIdLst>
    <p:handoutMasterId r:id="rId35"/>
  </p:handoutMasterIdLst>
  <p:sldIdLst>
    <p:sldId id="256" r:id="rId4"/>
    <p:sldId id="830" r:id="rId5"/>
    <p:sldId id="859" r:id="rId6"/>
    <p:sldId id="860" r:id="rId7"/>
    <p:sldId id="861" r:id="rId8"/>
    <p:sldId id="862" r:id="rId9"/>
    <p:sldId id="873" r:id="rId10"/>
    <p:sldId id="822" r:id="rId11"/>
    <p:sldId id="874" r:id="rId12"/>
    <p:sldId id="824" r:id="rId13"/>
    <p:sldId id="875" r:id="rId14"/>
    <p:sldId id="825" r:id="rId15"/>
    <p:sldId id="876" r:id="rId16"/>
    <p:sldId id="826" r:id="rId17"/>
    <p:sldId id="877" r:id="rId18"/>
    <p:sldId id="827" r:id="rId19"/>
    <p:sldId id="878" r:id="rId20"/>
    <p:sldId id="811" r:id="rId21"/>
    <p:sldId id="816" r:id="rId22"/>
    <p:sldId id="858" r:id="rId23"/>
    <p:sldId id="868" r:id="rId24"/>
    <p:sldId id="869" r:id="rId25"/>
    <p:sldId id="870" r:id="rId26"/>
    <p:sldId id="871" r:id="rId27"/>
    <p:sldId id="863" r:id="rId28"/>
    <p:sldId id="872" r:id="rId29"/>
    <p:sldId id="864" r:id="rId30"/>
    <p:sldId id="865" r:id="rId31"/>
    <p:sldId id="866" r:id="rId32"/>
    <p:sldId id="867" r:id="rId33"/>
  </p:sldIdLst>
  <p:sldSz cx="9144000" cy="5143500" type="screen16x9"/>
  <p:notesSz cx="6797675" cy="9926638"/>
  <p:defaultTextStyle>
    <a:defPPr>
      <a:defRPr lang="en-US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4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6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88" autoAdjust="0"/>
    <p:restoredTop sz="98043" autoAdjust="0"/>
  </p:normalViewPr>
  <p:slideViewPr>
    <p:cSldViewPr>
      <p:cViewPr>
        <p:scale>
          <a:sx n="80" d="100"/>
          <a:sy n="80" d="100"/>
        </p:scale>
        <p:origin x="-1638" y="-30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7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8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5.xlsx"/><Relationship Id="rId1" Type="http://schemas.openxmlformats.org/officeDocument/2006/relationships/themeOverride" Target="../theme/themeOverride9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6.xlsx"/><Relationship Id="rId1" Type="http://schemas.openxmlformats.org/officeDocument/2006/relationships/themeOverride" Target="../theme/themeOverride10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7.xlsx"/><Relationship Id="rId1" Type="http://schemas.openxmlformats.org/officeDocument/2006/relationships/themeOverride" Target="../theme/themeOverride11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3.xml"/><Relationship Id="rId2" Type="http://schemas.openxmlformats.org/officeDocument/2006/relationships/package" Target="../embeddings/Microsoft_Excel_Worksheet18.xlsx"/><Relationship Id="rId1" Type="http://schemas.openxmlformats.org/officeDocument/2006/relationships/themeOverride" Target="../theme/themeOverride12.xm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9.xlsx"/><Relationship Id="rId1" Type="http://schemas.openxmlformats.org/officeDocument/2006/relationships/themeOverride" Target="../theme/themeOverride13.xm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0.xlsx"/><Relationship Id="rId1" Type="http://schemas.openxmlformats.org/officeDocument/2006/relationships/themeOverride" Target="../theme/themeOverride14.xml"/></Relationships>
</file>

<file path=ppt/charts/_rels/chart2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1.xlsx"/><Relationship Id="rId1" Type="http://schemas.openxmlformats.org/officeDocument/2006/relationships/themeOverride" Target="../theme/themeOverride15.xml"/></Relationships>
</file>

<file path=ppt/charts/_rels/chart2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2.xlsx"/><Relationship Id="rId1" Type="http://schemas.openxmlformats.org/officeDocument/2006/relationships/themeOverride" Target="../theme/themeOverride16.xml"/></Relationships>
</file>

<file path=ppt/charts/_rels/chart2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3.xlsx"/><Relationship Id="rId1" Type="http://schemas.openxmlformats.org/officeDocument/2006/relationships/themeOverride" Target="../theme/themeOverride17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4.xml"/><Relationship Id="rId2" Type="http://schemas.openxmlformats.org/officeDocument/2006/relationships/package" Target="../embeddings/Microsoft_Excel_Worksheet24.xlsx"/><Relationship Id="rId1" Type="http://schemas.openxmlformats.org/officeDocument/2006/relationships/themeOverride" Target="../theme/themeOverride18.xml"/></Relationships>
</file>

<file path=ppt/charts/_rels/chart2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5.xlsx"/><Relationship Id="rId1" Type="http://schemas.openxmlformats.org/officeDocument/2006/relationships/themeOverride" Target="../theme/themeOverride19.xml"/></Relationships>
</file>

<file path=ppt/charts/_rels/chart2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6.xlsx"/><Relationship Id="rId1" Type="http://schemas.openxmlformats.org/officeDocument/2006/relationships/themeOverride" Target="../theme/themeOverride20.xml"/></Relationships>
</file>

<file path=ppt/charts/_rels/chart2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7.xlsx"/><Relationship Id="rId1" Type="http://schemas.openxmlformats.org/officeDocument/2006/relationships/themeOverride" Target="../theme/themeOverride21.xml"/></Relationships>
</file>

<file path=ppt/charts/_rels/chart2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8.xlsx"/><Relationship Id="rId1" Type="http://schemas.openxmlformats.org/officeDocument/2006/relationships/themeOverride" Target="../theme/themeOverride22.xml"/></Relationships>
</file>

<file path=ppt/charts/_rels/chart2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9.xlsx"/><Relationship Id="rId1" Type="http://schemas.openxmlformats.org/officeDocument/2006/relationships/themeOverride" Target="../theme/themeOverride23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5.xml"/><Relationship Id="rId2" Type="http://schemas.openxmlformats.org/officeDocument/2006/relationships/package" Target="../embeddings/Microsoft_Excel_Worksheet30.xlsx"/><Relationship Id="rId1" Type="http://schemas.openxmlformats.org/officeDocument/2006/relationships/themeOverride" Target="../theme/themeOverride24.xml"/></Relationships>
</file>

<file path=ppt/charts/_rels/chart3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1.xlsx"/><Relationship Id="rId1" Type="http://schemas.openxmlformats.org/officeDocument/2006/relationships/themeOverride" Target="../theme/themeOverride25.xml"/></Relationships>
</file>

<file path=ppt/charts/_rels/chart3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2.xlsx"/><Relationship Id="rId1" Type="http://schemas.openxmlformats.org/officeDocument/2006/relationships/themeOverride" Target="../theme/themeOverride26.xml"/></Relationships>
</file>

<file path=ppt/charts/_rels/chart3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3.xlsx"/><Relationship Id="rId1" Type="http://schemas.openxmlformats.org/officeDocument/2006/relationships/themeOverride" Target="../theme/themeOverride27.xml"/></Relationships>
</file>

<file path=ppt/charts/_rels/chart3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4.xlsx"/><Relationship Id="rId1" Type="http://schemas.openxmlformats.org/officeDocument/2006/relationships/themeOverride" Target="../theme/themeOverride28.xml"/></Relationships>
</file>

<file path=ppt/charts/_rels/chart3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5.xlsx"/><Relationship Id="rId1" Type="http://schemas.openxmlformats.org/officeDocument/2006/relationships/themeOverride" Target="../theme/themeOverride29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6.xml"/><Relationship Id="rId2" Type="http://schemas.openxmlformats.org/officeDocument/2006/relationships/package" Target="../embeddings/Microsoft_Excel_Worksheet36.xlsx"/><Relationship Id="rId1" Type="http://schemas.openxmlformats.org/officeDocument/2006/relationships/themeOverride" Target="../theme/themeOverride30.xml"/></Relationships>
</file>

<file path=ppt/charts/_rels/chart3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7.xlsx"/><Relationship Id="rId1" Type="http://schemas.openxmlformats.org/officeDocument/2006/relationships/themeOverride" Target="../theme/themeOverride31.xml"/></Relationships>
</file>

<file path=ppt/charts/_rels/chart3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8.xlsx"/><Relationship Id="rId1" Type="http://schemas.openxmlformats.org/officeDocument/2006/relationships/themeOverride" Target="../theme/themeOverride32.xml"/></Relationships>
</file>

<file path=ppt/charts/_rels/chart3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9.xlsx"/><Relationship Id="rId1" Type="http://schemas.openxmlformats.org/officeDocument/2006/relationships/themeOverride" Target="../theme/themeOverride33.xml"/></Relationships>
</file>

<file path=ppt/charts/_rels/chart4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0.xlsx"/><Relationship Id="rId1" Type="http://schemas.openxmlformats.org/officeDocument/2006/relationships/themeOverride" Target="../theme/themeOverride34.xml"/></Relationships>
</file>

<file path=ppt/charts/_rels/chart4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1.xlsx"/><Relationship Id="rId1" Type="http://schemas.openxmlformats.org/officeDocument/2006/relationships/themeOverride" Target="../theme/themeOverride35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7.xml"/><Relationship Id="rId2" Type="http://schemas.openxmlformats.org/officeDocument/2006/relationships/package" Target="../embeddings/Microsoft_Excel_Worksheet42.xlsx"/><Relationship Id="rId1" Type="http://schemas.openxmlformats.org/officeDocument/2006/relationships/themeOverride" Target="../theme/themeOverride36.xml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8.xml"/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9.xlsx"/><Relationship Id="rId1" Type="http://schemas.openxmlformats.org/officeDocument/2006/relationships/themeOverride" Target="../theme/themeOverride37.xml"/></Relationships>
</file>

<file path=ppt/charts/_rels/chart5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0.xlsx"/><Relationship Id="rId1" Type="http://schemas.openxmlformats.org/officeDocument/2006/relationships/themeOverride" Target="../theme/themeOverride38.xml"/></Relationships>
</file>

<file path=ppt/charts/_rels/chart5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1.xlsx"/><Relationship Id="rId1" Type="http://schemas.openxmlformats.org/officeDocument/2006/relationships/themeOverride" Target="../theme/themeOverride39.xml"/></Relationships>
</file>

<file path=ppt/charts/_rels/chart5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2.xlsx"/><Relationship Id="rId1" Type="http://schemas.openxmlformats.org/officeDocument/2006/relationships/themeOverride" Target="../theme/themeOverride40.xml"/></Relationships>
</file>

<file path=ppt/charts/_rels/chart5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3.xlsx"/><Relationship Id="rId1" Type="http://schemas.openxmlformats.org/officeDocument/2006/relationships/themeOverride" Target="../theme/themeOverride41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9.xml"/><Relationship Id="rId2" Type="http://schemas.openxmlformats.org/officeDocument/2006/relationships/package" Target="../embeddings/Microsoft_Excel_Worksheet54.xlsx"/><Relationship Id="rId1" Type="http://schemas.openxmlformats.org/officeDocument/2006/relationships/themeOverride" Target="../theme/themeOverride42.xml"/></Relationships>
</file>

<file path=ppt/charts/_rels/chart5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5.xlsx"/><Relationship Id="rId1" Type="http://schemas.openxmlformats.org/officeDocument/2006/relationships/themeOverride" Target="../theme/themeOverride43.xml"/></Relationships>
</file>

<file path=ppt/charts/_rels/chart5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6.xlsx"/><Relationship Id="rId1" Type="http://schemas.openxmlformats.org/officeDocument/2006/relationships/themeOverride" Target="../theme/themeOverride44.xml"/></Relationships>
</file>

<file path=ppt/charts/_rels/chart5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7.xlsx"/><Relationship Id="rId1" Type="http://schemas.openxmlformats.org/officeDocument/2006/relationships/themeOverride" Target="../theme/themeOverride45.xml"/></Relationships>
</file>

<file path=ppt/charts/_rels/chart5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8.xlsx"/><Relationship Id="rId1" Type="http://schemas.openxmlformats.org/officeDocument/2006/relationships/themeOverride" Target="../theme/themeOverride46.xml"/></Relationships>
</file>

<file path=ppt/charts/_rels/chart5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9.xlsx"/><Relationship Id="rId1" Type="http://schemas.openxmlformats.org/officeDocument/2006/relationships/themeOverride" Target="../theme/themeOverride47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0.xml"/><Relationship Id="rId2" Type="http://schemas.openxmlformats.org/officeDocument/2006/relationships/package" Target="../embeddings/Microsoft_Excel_Worksheet60.xlsx"/><Relationship Id="rId1" Type="http://schemas.openxmlformats.org/officeDocument/2006/relationships/themeOverride" Target="../theme/themeOverride48.xml"/></Relationships>
</file>

<file path=ppt/charts/_rels/chart6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1.xlsx"/><Relationship Id="rId1" Type="http://schemas.openxmlformats.org/officeDocument/2006/relationships/themeOverride" Target="../theme/themeOverride49.xml"/></Relationships>
</file>

<file path=ppt/charts/_rels/chart6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2.xlsx"/><Relationship Id="rId1" Type="http://schemas.openxmlformats.org/officeDocument/2006/relationships/themeOverride" Target="../theme/themeOverride50.xml"/></Relationships>
</file>

<file path=ppt/charts/_rels/chart6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3.xlsx"/><Relationship Id="rId1" Type="http://schemas.openxmlformats.org/officeDocument/2006/relationships/themeOverride" Target="../theme/themeOverride51.xml"/></Relationships>
</file>

<file path=ppt/charts/_rels/chart6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4.xlsx"/><Relationship Id="rId1" Type="http://schemas.openxmlformats.org/officeDocument/2006/relationships/themeOverride" Target="../theme/themeOverride52.xml"/></Relationships>
</file>

<file path=ppt/charts/_rels/chart6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5.xlsx"/><Relationship Id="rId1" Type="http://schemas.openxmlformats.org/officeDocument/2006/relationships/themeOverride" Target="../theme/themeOverride53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1.xml"/><Relationship Id="rId2" Type="http://schemas.openxmlformats.org/officeDocument/2006/relationships/package" Target="../embeddings/Microsoft_Excel_Worksheet66.xlsx"/><Relationship Id="rId1" Type="http://schemas.openxmlformats.org/officeDocument/2006/relationships/themeOverride" Target="../theme/themeOverride54.xml"/></Relationships>
</file>

<file path=ppt/charts/_rels/chart6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7.xlsx"/><Relationship Id="rId1" Type="http://schemas.openxmlformats.org/officeDocument/2006/relationships/themeOverride" Target="../theme/themeOverride55.xml"/></Relationships>
</file>

<file path=ppt/charts/_rels/chart6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8.xlsx"/><Relationship Id="rId1" Type="http://schemas.openxmlformats.org/officeDocument/2006/relationships/themeOverride" Target="../theme/themeOverride56.xml"/></Relationships>
</file>

<file path=ppt/charts/_rels/chart6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9.xlsx"/><Relationship Id="rId1" Type="http://schemas.openxmlformats.org/officeDocument/2006/relationships/themeOverride" Target="../theme/themeOverride57.xml"/></Relationships>
</file>

<file path=ppt/charts/_rels/chart7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0.xlsx"/><Relationship Id="rId1" Type="http://schemas.openxmlformats.org/officeDocument/2006/relationships/themeOverride" Target="../theme/themeOverride58.xml"/></Relationships>
</file>

<file path=ppt/charts/_rels/chart7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1.xlsx"/><Relationship Id="rId1" Type="http://schemas.openxmlformats.org/officeDocument/2006/relationships/themeOverride" Target="../theme/themeOverride59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2.xml"/><Relationship Id="rId2" Type="http://schemas.openxmlformats.org/officeDocument/2006/relationships/package" Target="../embeddings/Microsoft_Excel_Worksheet72.xlsx"/><Relationship Id="rId1" Type="http://schemas.openxmlformats.org/officeDocument/2006/relationships/themeOverride" Target="../theme/themeOverride6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1.7306767218529962E-2"/>
          <c:y val="0.22877070984437084"/>
          <c:w val="0.93509962293051263"/>
          <c:h val="0.571334476679578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421</c:v>
                </c:pt>
                <c:pt idx="1">
                  <c:v>419</c:v>
                </c:pt>
                <c:pt idx="2">
                  <c:v>400</c:v>
                </c:pt>
                <c:pt idx="3">
                  <c:v>432</c:v>
                </c:pt>
                <c:pt idx="4">
                  <c:v>424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8709504"/>
        <c:axId val="284712960"/>
      </c:barChart>
      <c:catAx>
        <c:axId val="458709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712960"/>
        <c:crosses val="autoZero"/>
        <c:auto val="1"/>
        <c:lblAlgn val="ctr"/>
        <c:lblOffset val="100"/>
        <c:noMultiLvlLbl val="0"/>
      </c:catAx>
      <c:valAx>
        <c:axId val="284712960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458709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113</c:v>
                </c:pt>
                <c:pt idx="1">
                  <c:v>113</c:v>
                </c:pt>
                <c:pt idx="2">
                  <c:v>119</c:v>
                </c:pt>
                <c:pt idx="3">
                  <c:v>99</c:v>
                </c:pt>
                <c:pt idx="4">
                  <c:v>110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000128"/>
        <c:axId val="285039360"/>
      </c:barChart>
      <c:catAx>
        <c:axId val="46200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039360"/>
        <c:crosses val="autoZero"/>
        <c:auto val="1"/>
        <c:lblAlgn val="ctr"/>
        <c:lblOffset val="100"/>
        <c:noMultiLvlLbl val="0"/>
      </c:catAx>
      <c:valAx>
        <c:axId val="285039360"/>
        <c:scaling>
          <c:orientation val="minMax"/>
          <c:min val="90"/>
        </c:scaling>
        <c:delete val="1"/>
        <c:axPos val="l"/>
        <c:numFmt formatCode="0" sourceLinked="1"/>
        <c:majorTickMark val="out"/>
        <c:minorTickMark val="none"/>
        <c:tickLblPos val="nextTo"/>
        <c:crossAx val="462000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2.02</c:v>
                </c:pt>
                <c:pt idx="1">
                  <c:v>2.09</c:v>
                </c:pt>
                <c:pt idx="2">
                  <c:v>2.2400000000000002</c:v>
                </c:pt>
                <c:pt idx="3">
                  <c:v>1.91</c:v>
                </c:pt>
                <c:pt idx="4">
                  <c:v>2.04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001664"/>
        <c:axId val="285290432"/>
      </c:barChart>
      <c:catAx>
        <c:axId val="462001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290432"/>
        <c:crosses val="autoZero"/>
        <c:auto val="1"/>
        <c:lblAlgn val="ctr"/>
        <c:lblOffset val="100"/>
        <c:noMultiLvlLbl val="0"/>
      </c:catAx>
      <c:valAx>
        <c:axId val="285290432"/>
        <c:scaling>
          <c:orientation val="minMax"/>
          <c:min val="1.5"/>
        </c:scaling>
        <c:delete val="1"/>
        <c:axPos val="l"/>
        <c:numFmt formatCode="0.00" sourceLinked="1"/>
        <c:majorTickMark val="out"/>
        <c:minorTickMark val="none"/>
        <c:tickLblPos val="nextTo"/>
        <c:crossAx val="462001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6.26</c:v>
                </c:pt>
                <c:pt idx="1">
                  <c:v>6.18</c:v>
                </c:pt>
                <c:pt idx="2">
                  <c:v>6.03</c:v>
                </c:pt>
                <c:pt idx="3">
                  <c:v>6.41</c:v>
                </c:pt>
                <c:pt idx="4">
                  <c:v>6.23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003200"/>
        <c:axId val="285287552"/>
      </c:barChart>
      <c:catAx>
        <c:axId val="46200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287552"/>
        <c:crosses val="autoZero"/>
        <c:auto val="1"/>
        <c:lblAlgn val="ctr"/>
        <c:lblOffset val="100"/>
        <c:noMultiLvlLbl val="0"/>
      </c:catAx>
      <c:valAx>
        <c:axId val="285287552"/>
        <c:scaling>
          <c:orientation val="minMax"/>
          <c:min val="5.5"/>
        </c:scaling>
        <c:delete val="1"/>
        <c:axPos val="l"/>
        <c:numFmt formatCode="0.00" sourceLinked="1"/>
        <c:majorTickMark val="out"/>
        <c:minorTickMark val="none"/>
        <c:tickLblPos val="nextTo"/>
        <c:crossAx val="46200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2.5499999999999998</c:v>
                </c:pt>
                <c:pt idx="1">
                  <c:v>2.5299999999999998</c:v>
                </c:pt>
                <c:pt idx="2">
                  <c:v>2.4300000000000002</c:v>
                </c:pt>
                <c:pt idx="3">
                  <c:v>2.59</c:v>
                </c:pt>
                <c:pt idx="4">
                  <c:v>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252032"/>
        <c:axId val="285305088"/>
      </c:barChart>
      <c:catAx>
        <c:axId val="462252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285305088"/>
        <c:crosses val="autoZero"/>
        <c:auto val="1"/>
        <c:lblAlgn val="ctr"/>
        <c:lblOffset val="100"/>
        <c:noMultiLvlLbl val="0"/>
      </c:catAx>
      <c:valAx>
        <c:axId val="285305088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462252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3.1623006825952517E-2"/>
          <c:y val="0.15386884171031409"/>
          <c:w val="0.92078338332309007"/>
          <c:h val="0.64687373878084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558</c:v>
                </c:pt>
                <c:pt idx="1">
                  <c:v>553</c:v>
                </c:pt>
                <c:pt idx="2">
                  <c:v>536</c:v>
                </c:pt>
                <c:pt idx="3">
                  <c:v>551</c:v>
                </c:pt>
                <c:pt idx="4">
                  <c:v>554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426624"/>
        <c:axId val="285307392"/>
      </c:barChart>
      <c:catAx>
        <c:axId val="462426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307392"/>
        <c:crosses val="autoZero"/>
        <c:auto val="1"/>
        <c:lblAlgn val="ctr"/>
        <c:lblOffset val="100"/>
        <c:noMultiLvlLbl val="0"/>
      </c:catAx>
      <c:valAx>
        <c:axId val="285307392"/>
        <c:scaling>
          <c:orientation val="minMax"/>
          <c:max val="580"/>
          <c:min val="500"/>
        </c:scaling>
        <c:delete val="1"/>
        <c:axPos val="l"/>
        <c:numFmt formatCode="0" sourceLinked="1"/>
        <c:majorTickMark val="out"/>
        <c:minorTickMark val="none"/>
        <c:tickLblPos val="nextTo"/>
        <c:crossAx val="462426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430</c:v>
                </c:pt>
                <c:pt idx="1">
                  <c:v>426</c:v>
                </c:pt>
                <c:pt idx="2">
                  <c:v>407</c:v>
                </c:pt>
                <c:pt idx="3">
                  <c:v>447</c:v>
                </c:pt>
                <c:pt idx="4">
                  <c:v>432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541952"/>
        <c:axId val="265349952"/>
      </c:barChart>
      <c:catAx>
        <c:axId val="508541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65349952"/>
        <c:crosses val="autoZero"/>
        <c:auto val="1"/>
        <c:lblAlgn val="ctr"/>
        <c:lblOffset val="100"/>
        <c:noMultiLvlLbl val="0"/>
      </c:catAx>
      <c:valAx>
        <c:axId val="265349952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508541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</c:v>
                </c:pt>
                <c:pt idx="1">
                  <c:v>118</c:v>
                </c:pt>
                <c:pt idx="2">
                  <c:v>125</c:v>
                </c:pt>
                <c:pt idx="3">
                  <c:v>99</c:v>
                </c:pt>
                <c:pt idx="4">
                  <c:v>114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732416"/>
        <c:axId val="284713536"/>
      </c:barChart>
      <c:catAx>
        <c:axId val="508732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713536"/>
        <c:crosses val="autoZero"/>
        <c:auto val="1"/>
        <c:lblAlgn val="ctr"/>
        <c:lblOffset val="100"/>
        <c:noMultiLvlLbl val="0"/>
      </c:catAx>
      <c:valAx>
        <c:axId val="284713536"/>
        <c:scaling>
          <c:orientation val="minMax"/>
          <c:min val="90"/>
        </c:scaling>
        <c:delete val="1"/>
        <c:axPos val="l"/>
        <c:numFmt formatCode="General" sourceLinked="1"/>
        <c:majorTickMark val="out"/>
        <c:minorTickMark val="none"/>
        <c:tickLblPos val="nextTo"/>
        <c:crossAx val="508732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1.93</c:v>
                </c:pt>
                <c:pt idx="1">
                  <c:v>2.04</c:v>
                </c:pt>
                <c:pt idx="2">
                  <c:v>2.2400000000000002</c:v>
                </c:pt>
                <c:pt idx="3">
                  <c:v>1.79</c:v>
                </c:pt>
                <c:pt idx="4">
                  <c:v>2.0299999999999998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6705536"/>
        <c:axId val="296158912"/>
      </c:barChart>
      <c:catAx>
        <c:axId val="45670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6158912"/>
        <c:crosses val="autoZero"/>
        <c:auto val="1"/>
        <c:lblAlgn val="ctr"/>
        <c:lblOffset val="100"/>
        <c:noMultiLvlLbl val="0"/>
      </c:catAx>
      <c:valAx>
        <c:axId val="296158912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456705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6.3</c:v>
                </c:pt>
                <c:pt idx="1">
                  <c:v>6.08</c:v>
                </c:pt>
                <c:pt idx="2">
                  <c:v>5.86</c:v>
                </c:pt>
                <c:pt idx="3">
                  <c:v>6.92</c:v>
                </c:pt>
                <c:pt idx="4">
                  <c:v>6.19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6706048"/>
        <c:axId val="296160640"/>
      </c:barChart>
      <c:catAx>
        <c:axId val="45670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6160640"/>
        <c:crosses val="autoZero"/>
        <c:auto val="1"/>
        <c:lblAlgn val="ctr"/>
        <c:lblOffset val="100"/>
        <c:noMultiLvlLbl val="0"/>
      </c:catAx>
      <c:valAx>
        <c:axId val="296160640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45670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</a:t>
            </a:r>
            <a:r>
              <a:rPr lang="en-US" sz="1400" baseline="-25000">
                <a:solidFill>
                  <a:srgbClr val="C00000"/>
                </a:solidFill>
              </a:rPr>
              <a:t>2</a:t>
            </a:r>
            <a:r>
              <a:rPr lang="en-US" sz="1400">
                <a:solidFill>
                  <a:srgbClr val="C00000"/>
                </a:solidFill>
              </a:rPr>
              <a:t>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2.62</c:v>
                </c:pt>
                <c:pt idx="1">
                  <c:v>2.54</c:v>
                </c:pt>
                <c:pt idx="2">
                  <c:v>2.4500000000000002</c:v>
                </c:pt>
                <c:pt idx="3">
                  <c:v>2.6</c:v>
                </c:pt>
                <c:pt idx="4">
                  <c:v>2.54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471680"/>
        <c:axId val="296162368"/>
      </c:barChart>
      <c:catAx>
        <c:axId val="462471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>
                <a:solidFill>
                  <a:srgbClr val="C00000"/>
                </a:solidFill>
              </a:defRPr>
            </a:pPr>
            <a:endParaRPr lang="en-US"/>
          </a:p>
        </c:txPr>
        <c:crossAx val="296162368"/>
        <c:crosses val="autoZero"/>
        <c:auto val="1"/>
        <c:lblAlgn val="ctr"/>
        <c:lblOffset val="100"/>
        <c:noMultiLvlLbl val="0"/>
      </c:catAx>
      <c:valAx>
        <c:axId val="296162368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462471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731198002775398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585</c:v>
                </c:pt>
                <c:pt idx="1">
                  <c:v>566</c:v>
                </c:pt>
                <c:pt idx="2">
                  <c:v>550</c:v>
                </c:pt>
                <c:pt idx="3">
                  <c:v>566</c:v>
                </c:pt>
                <c:pt idx="4">
                  <c:v>566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7841536"/>
        <c:axId val="296164672"/>
      </c:barChart>
      <c:catAx>
        <c:axId val="50784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6164672"/>
        <c:crosses val="autoZero"/>
        <c:auto val="1"/>
        <c:lblAlgn val="ctr"/>
        <c:lblOffset val="100"/>
        <c:noMultiLvlLbl val="0"/>
      </c:catAx>
      <c:valAx>
        <c:axId val="296164672"/>
        <c:scaling>
          <c:orientation val="minMax"/>
          <c:max val="590"/>
          <c:min val="530"/>
        </c:scaling>
        <c:delete val="1"/>
        <c:axPos val="l"/>
        <c:numFmt formatCode="General" sourceLinked="1"/>
        <c:majorTickMark val="out"/>
        <c:minorTickMark val="none"/>
        <c:tickLblPos val="nextTo"/>
        <c:crossAx val="507841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456</c:v>
                </c:pt>
                <c:pt idx="1">
                  <c:v>463</c:v>
                </c:pt>
                <c:pt idx="2">
                  <c:v>440</c:v>
                </c:pt>
                <c:pt idx="3">
                  <c:v>455</c:v>
                </c:pt>
                <c:pt idx="4">
                  <c:v>451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734976"/>
        <c:axId val="492103936"/>
      </c:barChart>
      <c:catAx>
        <c:axId val="50873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2103936"/>
        <c:crosses val="autoZero"/>
        <c:auto val="1"/>
        <c:lblAlgn val="ctr"/>
        <c:lblOffset val="100"/>
        <c:noMultiLvlLbl val="0"/>
      </c:catAx>
      <c:valAx>
        <c:axId val="492103936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508734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60</c:v>
                </c:pt>
                <c:pt idx="2">
                  <c:v>77</c:v>
                </c:pt>
                <c:pt idx="3">
                  <c:v>72</c:v>
                </c:pt>
                <c:pt idx="4">
                  <c:v>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425728"/>
        <c:axId val="653316032"/>
      </c:barChart>
      <c:catAx>
        <c:axId val="508425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53316032"/>
        <c:crosses val="autoZero"/>
        <c:auto val="1"/>
        <c:lblAlgn val="ctr"/>
        <c:lblOffset val="100"/>
        <c:noMultiLvlLbl val="0"/>
      </c:catAx>
      <c:valAx>
        <c:axId val="6533160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08425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1.79</c:v>
                </c:pt>
                <c:pt idx="1">
                  <c:v>1.74</c:v>
                </c:pt>
                <c:pt idx="2">
                  <c:v>1.96</c:v>
                </c:pt>
                <c:pt idx="3">
                  <c:v>1.77</c:v>
                </c:pt>
                <c:pt idx="4">
                  <c:v>1.83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731392"/>
        <c:axId val="297295872"/>
      </c:barChart>
      <c:catAx>
        <c:axId val="508731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7295872"/>
        <c:crosses val="autoZero"/>
        <c:auto val="1"/>
        <c:lblAlgn val="ctr"/>
        <c:lblOffset val="100"/>
        <c:noMultiLvlLbl val="0"/>
      </c:catAx>
      <c:valAx>
        <c:axId val="297295872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508731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6.35</c:v>
                </c:pt>
                <c:pt idx="1">
                  <c:v>6.36</c:v>
                </c:pt>
                <c:pt idx="2">
                  <c:v>6.34</c:v>
                </c:pt>
                <c:pt idx="3">
                  <c:v>6.47</c:v>
                </c:pt>
                <c:pt idx="4">
                  <c:v>6.46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256128"/>
        <c:axId val="297297600"/>
      </c:barChart>
      <c:catAx>
        <c:axId val="46225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7297600"/>
        <c:crosses val="autoZero"/>
        <c:auto val="1"/>
        <c:lblAlgn val="ctr"/>
        <c:lblOffset val="100"/>
        <c:noMultiLvlLbl val="0"/>
      </c:catAx>
      <c:valAx>
        <c:axId val="297297600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462256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2.48</c:v>
                </c:pt>
                <c:pt idx="1">
                  <c:v>2.52</c:v>
                </c:pt>
                <c:pt idx="2">
                  <c:v>2.48</c:v>
                </c:pt>
                <c:pt idx="3">
                  <c:v>2.6</c:v>
                </c:pt>
                <c:pt idx="4">
                  <c:v>2.64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107136"/>
        <c:axId val="653318912"/>
      </c:barChart>
      <c:catAx>
        <c:axId val="478107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653318912"/>
        <c:crosses val="autoZero"/>
        <c:auto val="1"/>
        <c:lblAlgn val="ctr"/>
        <c:lblOffset val="100"/>
        <c:noMultiLvlLbl val="0"/>
      </c:catAx>
      <c:valAx>
        <c:axId val="653318912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478107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706396735137693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543</c:v>
                </c:pt>
                <c:pt idx="1">
                  <c:v>546</c:v>
                </c:pt>
                <c:pt idx="2">
                  <c:v>535</c:v>
                </c:pt>
                <c:pt idx="3">
                  <c:v>541</c:v>
                </c:pt>
                <c:pt idx="4">
                  <c:v>539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895744"/>
        <c:axId val="653317184"/>
      </c:barChart>
      <c:catAx>
        <c:axId val="50889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53317184"/>
        <c:crosses val="autoZero"/>
        <c:auto val="1"/>
        <c:lblAlgn val="ctr"/>
        <c:lblOffset val="100"/>
        <c:noMultiLvlLbl val="0"/>
      </c:catAx>
      <c:valAx>
        <c:axId val="6533171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08895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391</c:v>
                </c:pt>
                <c:pt idx="1">
                  <c:v>386</c:v>
                </c:pt>
                <c:pt idx="2">
                  <c:v>381</c:v>
                </c:pt>
                <c:pt idx="3">
                  <c:v>410</c:v>
                </c:pt>
                <c:pt idx="4">
                  <c:v>402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9328896"/>
        <c:axId val="271229504"/>
      </c:barChart>
      <c:catAx>
        <c:axId val="50932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71229504"/>
        <c:crosses val="autoZero"/>
        <c:auto val="1"/>
        <c:lblAlgn val="ctr"/>
        <c:lblOffset val="100"/>
        <c:noMultiLvlLbl val="0"/>
      </c:catAx>
      <c:valAx>
        <c:axId val="271229504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509328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133</c:v>
                </c:pt>
                <c:pt idx="1">
                  <c:v>143</c:v>
                </c:pt>
                <c:pt idx="2">
                  <c:v>137</c:v>
                </c:pt>
                <c:pt idx="3">
                  <c:v>134</c:v>
                </c:pt>
                <c:pt idx="4">
                  <c:v>141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0444544"/>
        <c:axId val="297303360"/>
      </c:barChart>
      <c:catAx>
        <c:axId val="510444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7303360"/>
        <c:crosses val="autoZero"/>
        <c:auto val="1"/>
        <c:lblAlgn val="ctr"/>
        <c:lblOffset val="100"/>
        <c:noMultiLvlLbl val="0"/>
      </c:catAx>
      <c:valAx>
        <c:axId val="2973033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10444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2.31</c:v>
                </c:pt>
                <c:pt idx="1">
                  <c:v>2.46</c:v>
                </c:pt>
                <c:pt idx="2">
                  <c:v>2.5099999999999998</c:v>
                </c:pt>
                <c:pt idx="3">
                  <c:v>1.97</c:v>
                </c:pt>
                <c:pt idx="4">
                  <c:v>2.2200000000000002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0446080"/>
        <c:axId val="271232960"/>
      </c:barChart>
      <c:catAx>
        <c:axId val="510446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71232960"/>
        <c:crosses val="autoZero"/>
        <c:auto val="1"/>
        <c:lblAlgn val="ctr"/>
        <c:lblOffset val="100"/>
        <c:noMultiLvlLbl val="0"/>
      </c:catAx>
      <c:valAx>
        <c:axId val="271232960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510446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5.92</c:v>
                </c:pt>
                <c:pt idx="1">
                  <c:v>6</c:v>
                </c:pt>
                <c:pt idx="2">
                  <c:v>5.98</c:v>
                </c:pt>
                <c:pt idx="3">
                  <c:v>6.13</c:v>
                </c:pt>
                <c:pt idx="4">
                  <c:v>6.1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1025152"/>
        <c:axId val="271234688"/>
      </c:barChart>
      <c:catAx>
        <c:axId val="51102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71234688"/>
        <c:crosses val="autoZero"/>
        <c:auto val="1"/>
        <c:lblAlgn val="ctr"/>
        <c:lblOffset val="100"/>
        <c:noMultiLvlLbl val="0"/>
      </c:catAx>
      <c:valAx>
        <c:axId val="271234688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51102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2.5299999999999998</c:v>
                </c:pt>
                <c:pt idx="1">
                  <c:v>2.5099999999999998</c:v>
                </c:pt>
                <c:pt idx="2">
                  <c:v>2.41</c:v>
                </c:pt>
                <c:pt idx="3">
                  <c:v>2.6</c:v>
                </c:pt>
                <c:pt idx="4">
                  <c:v>2.61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1026688"/>
        <c:axId val="271236416"/>
      </c:barChart>
      <c:catAx>
        <c:axId val="51102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271236416"/>
        <c:crosses val="autoZero"/>
        <c:auto val="1"/>
        <c:lblAlgn val="ctr"/>
        <c:lblOffset val="100"/>
        <c:noMultiLvlLbl val="0"/>
      </c:catAx>
      <c:valAx>
        <c:axId val="271236416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511026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731198002775398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549</c:v>
                </c:pt>
                <c:pt idx="1">
                  <c:v>547</c:v>
                </c:pt>
                <c:pt idx="2">
                  <c:v>528</c:v>
                </c:pt>
                <c:pt idx="3">
                  <c:v>560</c:v>
                </c:pt>
                <c:pt idx="4">
                  <c:v>559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1516160"/>
        <c:axId val="299321024"/>
      </c:barChart>
      <c:catAx>
        <c:axId val="51151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9321024"/>
        <c:crosses val="autoZero"/>
        <c:auto val="1"/>
        <c:lblAlgn val="ctr"/>
        <c:lblOffset val="100"/>
        <c:noMultiLvlLbl val="0"/>
      </c:catAx>
      <c:valAx>
        <c:axId val="2993210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11516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445</c:v>
                </c:pt>
                <c:pt idx="1">
                  <c:v>446</c:v>
                </c:pt>
                <c:pt idx="2">
                  <c:v>420</c:v>
                </c:pt>
                <c:pt idx="3">
                  <c:v>459</c:v>
                </c:pt>
                <c:pt idx="4">
                  <c:v>449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1645696"/>
        <c:axId val="299323904"/>
      </c:barChart>
      <c:catAx>
        <c:axId val="511645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9323904"/>
        <c:crosses val="autoZero"/>
        <c:auto val="1"/>
        <c:lblAlgn val="ctr"/>
        <c:lblOffset val="100"/>
        <c:noMultiLvlLbl val="0"/>
      </c:catAx>
      <c:valAx>
        <c:axId val="299323904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511645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89</c:v>
                </c:pt>
                <c:pt idx="2">
                  <c:v>100</c:v>
                </c:pt>
                <c:pt idx="3">
                  <c:v>69</c:v>
                </c:pt>
                <c:pt idx="4">
                  <c:v>87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1647232"/>
        <c:axId val="299325632"/>
      </c:barChart>
      <c:catAx>
        <c:axId val="51164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9325632"/>
        <c:crosses val="autoZero"/>
        <c:auto val="1"/>
        <c:lblAlgn val="ctr"/>
        <c:lblOffset val="100"/>
        <c:noMultiLvlLbl val="0"/>
      </c:catAx>
      <c:valAx>
        <c:axId val="2993256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11647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1.91</c:v>
                </c:pt>
                <c:pt idx="1">
                  <c:v>1.97</c:v>
                </c:pt>
                <c:pt idx="2">
                  <c:v>2.1</c:v>
                </c:pt>
                <c:pt idx="3">
                  <c:v>1.88</c:v>
                </c:pt>
                <c:pt idx="4">
                  <c:v>1.91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2005120"/>
        <c:axId val="299325056"/>
      </c:barChart>
      <c:catAx>
        <c:axId val="512005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9325056"/>
        <c:crosses val="autoZero"/>
        <c:auto val="1"/>
        <c:lblAlgn val="ctr"/>
        <c:lblOffset val="100"/>
        <c:noMultiLvlLbl val="0"/>
      </c:catAx>
      <c:valAx>
        <c:axId val="299325056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512005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6.52</c:v>
                </c:pt>
                <c:pt idx="1">
                  <c:v>6.44</c:v>
                </c:pt>
                <c:pt idx="2">
                  <c:v>6.2</c:v>
                </c:pt>
                <c:pt idx="3">
                  <c:v>6.32</c:v>
                </c:pt>
                <c:pt idx="4">
                  <c:v>6.33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2006656"/>
        <c:axId val="250324672"/>
      </c:barChart>
      <c:catAx>
        <c:axId val="51200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24672"/>
        <c:crosses val="autoZero"/>
        <c:auto val="1"/>
        <c:lblAlgn val="ctr"/>
        <c:lblOffset val="100"/>
        <c:noMultiLvlLbl val="0"/>
      </c:catAx>
      <c:valAx>
        <c:axId val="250324672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512006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2.62</c:v>
                </c:pt>
                <c:pt idx="1">
                  <c:v>2.6</c:v>
                </c:pt>
                <c:pt idx="2">
                  <c:v>2.4700000000000002</c:v>
                </c:pt>
                <c:pt idx="3">
                  <c:v>2.57</c:v>
                </c:pt>
                <c:pt idx="4">
                  <c:v>2.61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2270336"/>
        <c:axId val="250326400"/>
      </c:barChart>
      <c:catAx>
        <c:axId val="51227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250326400"/>
        <c:crosses val="autoZero"/>
        <c:auto val="1"/>
        <c:lblAlgn val="ctr"/>
        <c:lblOffset val="100"/>
        <c:noMultiLvlLbl val="0"/>
      </c:catAx>
      <c:valAx>
        <c:axId val="250326400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51227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731198002775398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548</c:v>
                </c:pt>
                <c:pt idx="1">
                  <c:v>551</c:v>
                </c:pt>
                <c:pt idx="2">
                  <c:v>535</c:v>
                </c:pt>
                <c:pt idx="3">
                  <c:v>541</c:v>
                </c:pt>
                <c:pt idx="4">
                  <c:v>549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29271296"/>
        <c:axId val="250328704"/>
      </c:barChart>
      <c:catAx>
        <c:axId val="52927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28704"/>
        <c:crosses val="autoZero"/>
        <c:auto val="1"/>
        <c:lblAlgn val="ctr"/>
        <c:lblOffset val="100"/>
        <c:noMultiLvlLbl val="0"/>
      </c:catAx>
      <c:valAx>
        <c:axId val="2503287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2927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D37-456A-B374-C6861EC8A192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D37-456A-B374-C6861EC8A192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D37-456A-B374-C6861EC8A192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D37-456A-B374-C6861EC8A192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D37-456A-B374-C6861EC8A192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D37-456A-B374-C6861EC8A192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D37-456A-B374-C6861EC8A192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D37-456A-B374-C6861EC8A192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D37-456A-B374-C6861EC8A1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372</c:v>
                </c:pt>
                <c:pt idx="1">
                  <c:v>373</c:v>
                </c:pt>
                <c:pt idx="2">
                  <c:v>348</c:v>
                </c:pt>
                <c:pt idx="3">
                  <c:v>376</c:v>
                </c:pt>
                <c:pt idx="4">
                  <c:v>374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29519104"/>
        <c:axId val="250364480"/>
      </c:barChart>
      <c:catAx>
        <c:axId val="52951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64480"/>
        <c:crosses val="autoZero"/>
        <c:auto val="1"/>
        <c:lblAlgn val="ctr"/>
        <c:lblOffset val="100"/>
        <c:noMultiLvlLbl val="0"/>
      </c:catAx>
      <c:valAx>
        <c:axId val="25036448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29519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</c:v>
                </c:pt>
                <c:pt idx="1">
                  <c:v>136</c:v>
                </c:pt>
                <c:pt idx="2">
                  <c:v>150</c:v>
                </c:pt>
                <c:pt idx="3">
                  <c:v>123</c:v>
                </c:pt>
                <c:pt idx="4">
                  <c:v>132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29520640"/>
        <c:axId val="250366208"/>
      </c:barChart>
      <c:catAx>
        <c:axId val="529520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66208"/>
        <c:crosses val="autoZero"/>
        <c:auto val="1"/>
        <c:lblAlgn val="ctr"/>
        <c:lblOffset val="100"/>
        <c:noMultiLvlLbl val="0"/>
      </c:catAx>
      <c:valAx>
        <c:axId val="25036620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29520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2.27</c:v>
                </c:pt>
                <c:pt idx="1">
                  <c:v>2.3199999999999998</c:v>
                </c:pt>
                <c:pt idx="2">
                  <c:v>2.4700000000000002</c:v>
                </c:pt>
                <c:pt idx="3">
                  <c:v>2.29</c:v>
                </c:pt>
                <c:pt idx="4">
                  <c:v>2.31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29522176"/>
        <c:axId val="250367936"/>
      </c:barChart>
      <c:catAx>
        <c:axId val="529522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67936"/>
        <c:crosses val="autoZero"/>
        <c:auto val="1"/>
        <c:lblAlgn val="ctr"/>
        <c:lblOffset val="100"/>
        <c:noMultiLvlLbl val="0"/>
      </c:catAx>
      <c:valAx>
        <c:axId val="250367936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529522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1.2888548342627799E-2"/>
                  <c:y val="-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6.16</c:v>
                </c:pt>
                <c:pt idx="1">
                  <c:v>6.09</c:v>
                </c:pt>
                <c:pt idx="2">
                  <c:v>5.89</c:v>
                </c:pt>
                <c:pt idx="3">
                  <c:v>6.14</c:v>
                </c:pt>
                <c:pt idx="4">
                  <c:v>6.16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30224128"/>
        <c:axId val="250366784"/>
      </c:barChart>
      <c:catAx>
        <c:axId val="53022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66784"/>
        <c:crosses val="autoZero"/>
        <c:auto val="1"/>
        <c:lblAlgn val="ctr"/>
        <c:lblOffset val="100"/>
        <c:noMultiLvlLbl val="0"/>
      </c:catAx>
      <c:valAx>
        <c:axId val="250366784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530224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2.36</c:v>
                </c:pt>
                <c:pt idx="1">
                  <c:v>2.41</c:v>
                </c:pt>
                <c:pt idx="2">
                  <c:v>2.27</c:v>
                </c:pt>
                <c:pt idx="3">
                  <c:v>2.58</c:v>
                </c:pt>
                <c:pt idx="4">
                  <c:v>2.67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30225664"/>
        <c:axId val="250371392"/>
      </c:barChart>
      <c:catAx>
        <c:axId val="53022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250371392"/>
        <c:crosses val="autoZero"/>
        <c:auto val="1"/>
        <c:lblAlgn val="ctr"/>
        <c:lblOffset val="100"/>
        <c:noMultiLvlLbl val="0"/>
      </c:catAx>
      <c:valAx>
        <c:axId val="250371392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530225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706396735137693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546</c:v>
                </c:pt>
                <c:pt idx="1">
                  <c:v>543</c:v>
                </c:pt>
                <c:pt idx="2">
                  <c:v>525</c:v>
                </c:pt>
                <c:pt idx="3">
                  <c:v>540</c:v>
                </c:pt>
                <c:pt idx="4">
                  <c:v>542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30493440"/>
        <c:axId val="269166272"/>
      </c:barChart>
      <c:catAx>
        <c:axId val="53049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69166272"/>
        <c:crosses val="autoZero"/>
        <c:auto val="1"/>
        <c:lblAlgn val="ctr"/>
        <c:lblOffset val="100"/>
        <c:noMultiLvlLbl val="0"/>
      </c:catAx>
      <c:valAx>
        <c:axId val="26916627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3049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4.759360985095739E-2"/>
          <c:y val="0.22877070984437084"/>
          <c:w val="0.90481278029808521"/>
          <c:h val="0.604117443648116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421</c:v>
                </c:pt>
                <c:pt idx="1">
                  <c:v>419</c:v>
                </c:pt>
                <c:pt idx="2">
                  <c:v>400</c:v>
                </c:pt>
                <c:pt idx="3">
                  <c:v>421</c:v>
                </c:pt>
                <c:pt idx="4">
                  <c:v>425</c:v>
                </c:pt>
                <c:pt idx="5">
                  <c:v>415</c:v>
                </c:pt>
                <c:pt idx="6">
                  <c:v>425</c:v>
                </c:pt>
                <c:pt idx="7">
                  <c:v>426</c:v>
                </c:pt>
                <c:pt idx="8">
                  <c:v>432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9699072"/>
        <c:axId val="284715264"/>
      </c:barChart>
      <c:catAx>
        <c:axId val="469699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715264"/>
        <c:crosses val="autoZero"/>
        <c:auto val="1"/>
        <c:lblAlgn val="ctr"/>
        <c:lblOffset val="100"/>
        <c:noMultiLvlLbl val="0"/>
      </c:catAx>
      <c:valAx>
        <c:axId val="284715264"/>
        <c:scaling>
          <c:orientation val="minMax"/>
          <c:min val="350"/>
        </c:scaling>
        <c:delete val="1"/>
        <c:axPos val="l"/>
        <c:numFmt formatCode="0" sourceLinked="1"/>
        <c:majorTickMark val="out"/>
        <c:minorTickMark val="none"/>
        <c:tickLblPos val="nextTo"/>
        <c:crossAx val="469699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113</c:v>
                </c:pt>
                <c:pt idx="1">
                  <c:v>113</c:v>
                </c:pt>
                <c:pt idx="2">
                  <c:v>119</c:v>
                </c:pt>
                <c:pt idx="3">
                  <c:v>112</c:v>
                </c:pt>
                <c:pt idx="4">
                  <c:v>114</c:v>
                </c:pt>
                <c:pt idx="5">
                  <c:v>116</c:v>
                </c:pt>
                <c:pt idx="6">
                  <c:v>113</c:v>
                </c:pt>
                <c:pt idx="7">
                  <c:v>107</c:v>
                </c:pt>
                <c:pt idx="8">
                  <c:v>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3321472"/>
        <c:axId val="492105664"/>
      </c:barChart>
      <c:catAx>
        <c:axId val="47332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2105664"/>
        <c:crosses val="autoZero"/>
        <c:auto val="1"/>
        <c:lblAlgn val="ctr"/>
        <c:lblOffset val="100"/>
        <c:noMultiLvlLbl val="0"/>
      </c:catAx>
      <c:valAx>
        <c:axId val="492105664"/>
        <c:scaling>
          <c:orientation val="minMax"/>
          <c:min val="90"/>
        </c:scaling>
        <c:delete val="1"/>
        <c:axPos val="l"/>
        <c:numFmt formatCode="0" sourceLinked="1"/>
        <c:majorTickMark val="out"/>
        <c:minorTickMark val="none"/>
        <c:tickLblPos val="nextTo"/>
        <c:crossAx val="47332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2.02</c:v>
                </c:pt>
                <c:pt idx="1">
                  <c:v>2.09</c:v>
                </c:pt>
                <c:pt idx="2">
                  <c:v>2.2400000000000002</c:v>
                </c:pt>
                <c:pt idx="3">
                  <c:v>2.16</c:v>
                </c:pt>
                <c:pt idx="4">
                  <c:v>2.06</c:v>
                </c:pt>
                <c:pt idx="5">
                  <c:v>2.17</c:v>
                </c:pt>
                <c:pt idx="6">
                  <c:v>2.0499999999999998</c:v>
                </c:pt>
                <c:pt idx="7">
                  <c:v>1.94</c:v>
                </c:pt>
                <c:pt idx="8">
                  <c:v>1.91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3323008"/>
        <c:axId val="492108544"/>
      </c:barChart>
      <c:catAx>
        <c:axId val="47332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2108544"/>
        <c:crosses val="autoZero"/>
        <c:auto val="1"/>
        <c:lblAlgn val="ctr"/>
        <c:lblOffset val="100"/>
        <c:noMultiLvlLbl val="0"/>
      </c:catAx>
      <c:valAx>
        <c:axId val="492108544"/>
        <c:scaling>
          <c:orientation val="minMax"/>
          <c:min val="1.5"/>
        </c:scaling>
        <c:delete val="1"/>
        <c:axPos val="l"/>
        <c:numFmt formatCode="0.00" sourceLinked="1"/>
        <c:majorTickMark val="out"/>
        <c:minorTickMark val="none"/>
        <c:tickLblPos val="nextTo"/>
        <c:crossAx val="473323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3.009712603254470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6.26</c:v>
                </c:pt>
                <c:pt idx="1">
                  <c:v>6.18</c:v>
                </c:pt>
                <c:pt idx="2">
                  <c:v>6.03</c:v>
                </c:pt>
                <c:pt idx="3">
                  <c:v>6.17</c:v>
                </c:pt>
                <c:pt idx="4">
                  <c:v>6.3</c:v>
                </c:pt>
                <c:pt idx="5">
                  <c:v>6.14</c:v>
                </c:pt>
                <c:pt idx="6">
                  <c:v>6.19</c:v>
                </c:pt>
                <c:pt idx="7">
                  <c:v>6.2</c:v>
                </c:pt>
                <c:pt idx="8">
                  <c:v>6.41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3324544"/>
        <c:axId val="649019392"/>
      </c:barChart>
      <c:catAx>
        <c:axId val="473324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49019392"/>
        <c:crosses val="autoZero"/>
        <c:auto val="1"/>
        <c:lblAlgn val="ctr"/>
        <c:lblOffset val="100"/>
        <c:noMultiLvlLbl val="0"/>
      </c:catAx>
      <c:valAx>
        <c:axId val="649019392"/>
        <c:scaling>
          <c:orientation val="minMax"/>
          <c:min val="5.5"/>
        </c:scaling>
        <c:delete val="1"/>
        <c:axPos val="l"/>
        <c:numFmt formatCode="0.00" sourceLinked="1"/>
        <c:majorTickMark val="out"/>
        <c:minorTickMark val="none"/>
        <c:tickLblPos val="nextTo"/>
        <c:crossAx val="473324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0.00</c:formatCode>
                <c:ptCount val="8"/>
                <c:pt idx="0">
                  <c:v>2.5499999999999998</c:v>
                </c:pt>
                <c:pt idx="1">
                  <c:v>2.5299999999999998</c:v>
                </c:pt>
                <c:pt idx="2">
                  <c:v>2.4300000000000002</c:v>
                </c:pt>
                <c:pt idx="3">
                  <c:v>2.63</c:v>
                </c:pt>
                <c:pt idx="4">
                  <c:v>2.61</c:v>
                </c:pt>
                <c:pt idx="5">
                  <c:v>2.56</c:v>
                </c:pt>
                <c:pt idx="6">
                  <c:v>2.56</c:v>
                </c:pt>
                <c:pt idx="7">
                  <c:v>2.59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4833408"/>
        <c:axId val="649021120"/>
      </c:barChart>
      <c:catAx>
        <c:axId val="47483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 b="1"/>
            </a:pPr>
            <a:endParaRPr lang="en-US"/>
          </a:p>
        </c:txPr>
        <c:crossAx val="649021120"/>
        <c:crosses val="autoZero"/>
        <c:auto val="1"/>
        <c:lblAlgn val="ctr"/>
        <c:lblOffset val="100"/>
        <c:noMultiLvlLbl val="0"/>
      </c:catAx>
      <c:valAx>
        <c:axId val="649021120"/>
        <c:scaling>
          <c:orientation val="minMax"/>
        </c:scaling>
        <c:delete val="1"/>
        <c:axPos val="l"/>
        <c:numFmt formatCode="0.00" sourceLinked="1"/>
        <c:majorTickMark val="out"/>
        <c:minorTickMark val="none"/>
        <c:tickLblPos val="nextTo"/>
        <c:crossAx val="47483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3.1623006825952517E-2"/>
          <c:y val="0.15386884171031409"/>
          <c:w val="0.92078338332309007"/>
          <c:h val="0.684382624273212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558</c:v>
                </c:pt>
                <c:pt idx="1">
                  <c:v>553</c:v>
                </c:pt>
                <c:pt idx="2">
                  <c:v>536</c:v>
                </c:pt>
                <c:pt idx="3">
                  <c:v>554</c:v>
                </c:pt>
                <c:pt idx="4">
                  <c:v>557</c:v>
                </c:pt>
                <c:pt idx="5">
                  <c:v>550</c:v>
                </c:pt>
                <c:pt idx="6">
                  <c:v>557</c:v>
                </c:pt>
                <c:pt idx="7">
                  <c:v>553</c:v>
                </c:pt>
                <c:pt idx="8">
                  <c:v>551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048256"/>
        <c:axId val="649023424"/>
      </c:barChart>
      <c:catAx>
        <c:axId val="478048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49023424"/>
        <c:crosses val="autoZero"/>
        <c:auto val="1"/>
        <c:lblAlgn val="ctr"/>
        <c:lblOffset val="100"/>
        <c:noMultiLvlLbl val="0"/>
      </c:catAx>
      <c:valAx>
        <c:axId val="649023424"/>
        <c:scaling>
          <c:orientation val="minMax"/>
          <c:max val="580"/>
          <c:min val="530"/>
        </c:scaling>
        <c:delete val="1"/>
        <c:axPos val="l"/>
        <c:numFmt formatCode="0" sourceLinked="1"/>
        <c:majorTickMark val="out"/>
        <c:minorTickMark val="none"/>
        <c:tickLblPos val="nextTo"/>
        <c:crossAx val="47804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430</c:v>
                </c:pt>
                <c:pt idx="1">
                  <c:v>426</c:v>
                </c:pt>
                <c:pt idx="2">
                  <c:v>407</c:v>
                </c:pt>
                <c:pt idx="3">
                  <c:v>433</c:v>
                </c:pt>
                <c:pt idx="4">
                  <c:v>429</c:v>
                </c:pt>
                <c:pt idx="5">
                  <c:v>424</c:v>
                </c:pt>
                <c:pt idx="6">
                  <c:v>430</c:v>
                </c:pt>
                <c:pt idx="7">
                  <c:v>432</c:v>
                </c:pt>
                <c:pt idx="8">
                  <c:v>447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25869824"/>
        <c:axId val="485423872"/>
      </c:barChart>
      <c:catAx>
        <c:axId val="225869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85423872"/>
        <c:crosses val="autoZero"/>
        <c:auto val="1"/>
        <c:lblAlgn val="ctr"/>
        <c:lblOffset val="100"/>
        <c:noMultiLvlLbl val="0"/>
      </c:catAx>
      <c:valAx>
        <c:axId val="485423872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225869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134</c:v>
                </c:pt>
                <c:pt idx="1">
                  <c:v>118</c:v>
                </c:pt>
                <c:pt idx="2">
                  <c:v>125</c:v>
                </c:pt>
                <c:pt idx="3">
                  <c:v>113</c:v>
                </c:pt>
                <c:pt idx="4">
                  <c:v>118</c:v>
                </c:pt>
                <c:pt idx="5">
                  <c:v>120</c:v>
                </c:pt>
                <c:pt idx="6">
                  <c:v>115</c:v>
                </c:pt>
                <c:pt idx="7">
                  <c:v>112</c:v>
                </c:pt>
                <c:pt idx="8">
                  <c:v>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43312640"/>
        <c:axId val="285292736"/>
      </c:barChart>
      <c:catAx>
        <c:axId val="24331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292736"/>
        <c:crosses val="autoZero"/>
        <c:auto val="1"/>
        <c:lblAlgn val="ctr"/>
        <c:lblOffset val="100"/>
        <c:noMultiLvlLbl val="0"/>
      </c:catAx>
      <c:valAx>
        <c:axId val="285292736"/>
        <c:scaling>
          <c:orientation val="minMax"/>
          <c:min val="90"/>
        </c:scaling>
        <c:delete val="1"/>
        <c:axPos val="l"/>
        <c:numFmt formatCode="0" sourceLinked="1"/>
        <c:majorTickMark val="out"/>
        <c:minorTickMark val="none"/>
        <c:tickLblPos val="nextTo"/>
        <c:crossAx val="243312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1.93</c:v>
                </c:pt>
                <c:pt idx="1">
                  <c:v>2.04</c:v>
                </c:pt>
                <c:pt idx="2">
                  <c:v>2.2400000000000002</c:v>
                </c:pt>
                <c:pt idx="3">
                  <c:v>2.1</c:v>
                </c:pt>
                <c:pt idx="4">
                  <c:v>2.08</c:v>
                </c:pt>
                <c:pt idx="5">
                  <c:v>2.11</c:v>
                </c:pt>
                <c:pt idx="6">
                  <c:v>2.09</c:v>
                </c:pt>
                <c:pt idx="7">
                  <c:v>1.96</c:v>
                </c:pt>
                <c:pt idx="8">
                  <c:v>1.79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43313152"/>
        <c:axId val="485424448"/>
      </c:barChart>
      <c:catAx>
        <c:axId val="243313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85424448"/>
        <c:crosses val="autoZero"/>
        <c:auto val="1"/>
        <c:lblAlgn val="ctr"/>
        <c:lblOffset val="100"/>
        <c:noMultiLvlLbl val="0"/>
      </c:catAx>
      <c:valAx>
        <c:axId val="485424448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243313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6.3</c:v>
                </c:pt>
                <c:pt idx="1">
                  <c:v>6.08</c:v>
                </c:pt>
                <c:pt idx="2">
                  <c:v>5.86</c:v>
                </c:pt>
                <c:pt idx="3">
                  <c:v>6.03</c:v>
                </c:pt>
                <c:pt idx="4">
                  <c:v>6.04</c:v>
                </c:pt>
                <c:pt idx="5">
                  <c:v>6.03</c:v>
                </c:pt>
                <c:pt idx="6">
                  <c:v>6.06</c:v>
                </c:pt>
                <c:pt idx="7">
                  <c:v>6.26</c:v>
                </c:pt>
                <c:pt idx="8">
                  <c:v>6.92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19169280"/>
        <c:axId val="492050048"/>
      </c:barChart>
      <c:catAx>
        <c:axId val="41916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2050048"/>
        <c:crosses val="autoZero"/>
        <c:auto val="1"/>
        <c:lblAlgn val="ctr"/>
        <c:lblOffset val="100"/>
        <c:noMultiLvlLbl val="0"/>
      </c:catAx>
      <c:valAx>
        <c:axId val="492050048"/>
        <c:scaling>
          <c:orientation val="minMax"/>
          <c:min val="5.5"/>
        </c:scaling>
        <c:delete val="1"/>
        <c:axPos val="l"/>
        <c:numFmt formatCode="0.00" sourceLinked="1"/>
        <c:majorTickMark val="out"/>
        <c:minorTickMark val="none"/>
        <c:tickLblPos val="nextTo"/>
        <c:crossAx val="41916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Sheet1!$B$2:$B$12</c:f>
              <c:numCache>
                <c:formatCode>#,##0.00</c:formatCode>
                <c:ptCount val="8"/>
                <c:pt idx="0">
                  <c:v>2.62</c:v>
                </c:pt>
                <c:pt idx="1">
                  <c:v>2.54</c:v>
                </c:pt>
                <c:pt idx="2">
                  <c:v>2.4500000000000002</c:v>
                </c:pt>
                <c:pt idx="3" formatCode="General">
                  <c:v>2.58</c:v>
                </c:pt>
                <c:pt idx="4">
                  <c:v>2.52</c:v>
                </c:pt>
                <c:pt idx="5">
                  <c:v>2.5</c:v>
                </c:pt>
                <c:pt idx="6">
                  <c:v>2.5099999999999998</c:v>
                </c:pt>
                <c:pt idx="7">
                  <c:v>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43313664"/>
        <c:axId val="492051776"/>
      </c:barChart>
      <c:catAx>
        <c:axId val="24331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492051776"/>
        <c:crosses val="autoZero"/>
        <c:auto val="1"/>
        <c:lblAlgn val="ctr"/>
        <c:lblOffset val="100"/>
        <c:noMultiLvlLbl val="0"/>
      </c:catAx>
      <c:valAx>
        <c:axId val="492051776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243313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20677823112955765"/>
          <c:w val="0.87751646527676519"/>
          <c:h val="0.593964374708699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585</c:v>
                </c:pt>
                <c:pt idx="1">
                  <c:v>566</c:v>
                </c:pt>
                <c:pt idx="2">
                  <c:v>550</c:v>
                </c:pt>
                <c:pt idx="3">
                  <c:v>569</c:v>
                </c:pt>
                <c:pt idx="4">
                  <c:v>567</c:v>
                </c:pt>
                <c:pt idx="5">
                  <c:v>564</c:v>
                </c:pt>
                <c:pt idx="6">
                  <c:v>565</c:v>
                </c:pt>
                <c:pt idx="7">
                  <c:v>564</c:v>
                </c:pt>
                <c:pt idx="8">
                  <c:v>566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21519872"/>
        <c:axId val="492103360"/>
      </c:barChart>
      <c:catAx>
        <c:axId val="421519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2103360"/>
        <c:crosses val="autoZero"/>
        <c:auto val="1"/>
        <c:lblAlgn val="ctr"/>
        <c:lblOffset val="100"/>
        <c:noMultiLvlLbl val="0"/>
      </c:catAx>
      <c:valAx>
        <c:axId val="4921033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21519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456</c:v>
                </c:pt>
                <c:pt idx="1">
                  <c:v>463</c:v>
                </c:pt>
                <c:pt idx="2">
                  <c:v>440</c:v>
                </c:pt>
                <c:pt idx="3">
                  <c:v>453</c:v>
                </c:pt>
                <c:pt idx="4">
                  <c:v>452</c:v>
                </c:pt>
                <c:pt idx="5">
                  <c:v>453</c:v>
                </c:pt>
                <c:pt idx="6">
                  <c:v>446</c:v>
                </c:pt>
                <c:pt idx="7">
                  <c:v>451</c:v>
                </c:pt>
                <c:pt idx="8">
                  <c:v>455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322176"/>
        <c:axId val="649025728"/>
      </c:barChart>
      <c:catAx>
        <c:axId val="478322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49025728"/>
        <c:crosses val="autoZero"/>
        <c:auto val="1"/>
        <c:lblAlgn val="ctr"/>
        <c:lblOffset val="100"/>
        <c:noMultiLvlLbl val="0"/>
      </c:catAx>
      <c:valAx>
        <c:axId val="649025728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478322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1.2965344417058038E-2"/>
                  <c:y val="1.33529002888631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65</c:v>
                </c:pt>
                <c:pt idx="1">
                  <c:v>60</c:v>
                </c:pt>
                <c:pt idx="2">
                  <c:v>77</c:v>
                </c:pt>
                <c:pt idx="3">
                  <c:v>63</c:v>
                </c:pt>
                <c:pt idx="4">
                  <c:v>71</c:v>
                </c:pt>
                <c:pt idx="5">
                  <c:v>66</c:v>
                </c:pt>
                <c:pt idx="6">
                  <c:v>71</c:v>
                </c:pt>
                <c:pt idx="7">
                  <c:v>71</c:v>
                </c:pt>
                <c:pt idx="8">
                  <c:v>72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323712"/>
        <c:axId val="653319488"/>
      </c:barChart>
      <c:catAx>
        <c:axId val="478323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53319488"/>
        <c:crosses val="autoZero"/>
        <c:auto val="1"/>
        <c:lblAlgn val="ctr"/>
        <c:lblOffset val="100"/>
        <c:noMultiLvlLbl val="0"/>
      </c:catAx>
      <c:valAx>
        <c:axId val="6533194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8323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1.79</c:v>
                </c:pt>
                <c:pt idx="1">
                  <c:v>1.74</c:v>
                </c:pt>
                <c:pt idx="2">
                  <c:v>1.96</c:v>
                </c:pt>
                <c:pt idx="3">
                  <c:v>1.85</c:v>
                </c:pt>
                <c:pt idx="4">
                  <c:v>1.83</c:v>
                </c:pt>
                <c:pt idx="5">
                  <c:v>1.79</c:v>
                </c:pt>
                <c:pt idx="6">
                  <c:v>1.89</c:v>
                </c:pt>
                <c:pt idx="7">
                  <c:v>1.84</c:v>
                </c:pt>
                <c:pt idx="8">
                  <c:v>1.77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326272"/>
        <c:axId val="284903104"/>
      </c:barChart>
      <c:catAx>
        <c:axId val="478326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903104"/>
        <c:crosses val="autoZero"/>
        <c:auto val="1"/>
        <c:lblAlgn val="ctr"/>
        <c:lblOffset val="100"/>
        <c:noMultiLvlLbl val="0"/>
      </c:catAx>
      <c:valAx>
        <c:axId val="284903104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478326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6.35</c:v>
                </c:pt>
                <c:pt idx="1">
                  <c:v>6.36</c:v>
                </c:pt>
                <c:pt idx="2">
                  <c:v>6.34</c:v>
                </c:pt>
                <c:pt idx="3">
                  <c:v>6.38</c:v>
                </c:pt>
                <c:pt idx="4">
                  <c:v>6.56</c:v>
                </c:pt>
                <c:pt idx="5">
                  <c:v>6.44</c:v>
                </c:pt>
                <c:pt idx="6">
                  <c:v>6.41</c:v>
                </c:pt>
                <c:pt idx="7">
                  <c:v>6.53</c:v>
                </c:pt>
                <c:pt idx="8">
                  <c:v>6.47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544896"/>
        <c:axId val="284904832"/>
      </c:barChart>
      <c:catAx>
        <c:axId val="47854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904832"/>
        <c:crosses val="autoZero"/>
        <c:auto val="1"/>
        <c:lblAlgn val="ctr"/>
        <c:lblOffset val="100"/>
        <c:noMultiLvlLbl val="0"/>
      </c:catAx>
      <c:valAx>
        <c:axId val="284904832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478544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0.00</c:formatCode>
                <c:ptCount val="8"/>
                <c:pt idx="0">
                  <c:v>2.48</c:v>
                </c:pt>
                <c:pt idx="1">
                  <c:v>2.52</c:v>
                </c:pt>
                <c:pt idx="2">
                  <c:v>2.48</c:v>
                </c:pt>
                <c:pt idx="3">
                  <c:v>3.02</c:v>
                </c:pt>
                <c:pt idx="4">
                  <c:v>2.59</c:v>
                </c:pt>
                <c:pt idx="5">
                  <c:v>2.58</c:v>
                </c:pt>
                <c:pt idx="6">
                  <c:v>2.5</c:v>
                </c:pt>
                <c:pt idx="7">
                  <c:v>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546432"/>
        <c:axId val="284906560"/>
      </c:barChart>
      <c:catAx>
        <c:axId val="478546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 b="1"/>
            </a:pPr>
            <a:endParaRPr lang="en-US"/>
          </a:p>
        </c:txPr>
        <c:crossAx val="284906560"/>
        <c:crosses val="autoZero"/>
        <c:auto val="1"/>
        <c:lblAlgn val="ctr"/>
        <c:lblOffset val="100"/>
        <c:noMultiLvlLbl val="0"/>
      </c:catAx>
      <c:valAx>
        <c:axId val="284906560"/>
        <c:scaling>
          <c:orientation val="minMax"/>
        </c:scaling>
        <c:delete val="1"/>
        <c:axPos val="l"/>
        <c:numFmt formatCode="0.00" sourceLinked="1"/>
        <c:majorTickMark val="out"/>
        <c:minorTickMark val="none"/>
        <c:tickLblPos val="nextTo"/>
        <c:crossAx val="478546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68655576183495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543</c:v>
                </c:pt>
                <c:pt idx="1">
                  <c:v>546</c:v>
                </c:pt>
                <c:pt idx="2">
                  <c:v>535</c:v>
                </c:pt>
                <c:pt idx="3">
                  <c:v>539</c:v>
                </c:pt>
                <c:pt idx="4">
                  <c:v>542</c:v>
                </c:pt>
                <c:pt idx="5">
                  <c:v>539</c:v>
                </c:pt>
                <c:pt idx="6">
                  <c:v>537</c:v>
                </c:pt>
                <c:pt idx="7">
                  <c:v>537</c:v>
                </c:pt>
                <c:pt idx="8">
                  <c:v>541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826496"/>
        <c:axId val="284908864"/>
      </c:barChart>
      <c:catAx>
        <c:axId val="478826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908864"/>
        <c:crosses val="autoZero"/>
        <c:auto val="1"/>
        <c:lblAlgn val="ctr"/>
        <c:lblOffset val="100"/>
        <c:noMultiLvlLbl val="0"/>
      </c:catAx>
      <c:valAx>
        <c:axId val="28490886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8826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391</c:v>
                </c:pt>
                <c:pt idx="1">
                  <c:v>386</c:v>
                </c:pt>
                <c:pt idx="2">
                  <c:v>381</c:v>
                </c:pt>
                <c:pt idx="3">
                  <c:v>392</c:v>
                </c:pt>
                <c:pt idx="4">
                  <c:v>396</c:v>
                </c:pt>
                <c:pt idx="5">
                  <c:v>390</c:v>
                </c:pt>
                <c:pt idx="6">
                  <c:v>407</c:v>
                </c:pt>
                <c:pt idx="7">
                  <c:v>416</c:v>
                </c:pt>
                <c:pt idx="8">
                  <c:v>410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952960"/>
        <c:axId val="507832000"/>
      </c:barChart>
      <c:catAx>
        <c:axId val="478952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7832000"/>
        <c:crosses val="autoZero"/>
        <c:auto val="1"/>
        <c:lblAlgn val="ctr"/>
        <c:lblOffset val="100"/>
        <c:noMultiLvlLbl val="0"/>
      </c:catAx>
      <c:valAx>
        <c:axId val="507832000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478952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133</c:v>
                </c:pt>
                <c:pt idx="1">
                  <c:v>143</c:v>
                </c:pt>
                <c:pt idx="2">
                  <c:v>137</c:v>
                </c:pt>
                <c:pt idx="3">
                  <c:v>145</c:v>
                </c:pt>
                <c:pt idx="4">
                  <c:v>147</c:v>
                </c:pt>
                <c:pt idx="5">
                  <c:v>144</c:v>
                </c:pt>
                <c:pt idx="6">
                  <c:v>142</c:v>
                </c:pt>
                <c:pt idx="7">
                  <c:v>135</c:v>
                </c:pt>
                <c:pt idx="8">
                  <c:v>134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955520"/>
        <c:axId val="507831424"/>
      </c:barChart>
      <c:catAx>
        <c:axId val="478955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7831424"/>
        <c:crosses val="autoZero"/>
        <c:auto val="1"/>
        <c:lblAlgn val="ctr"/>
        <c:lblOffset val="100"/>
        <c:noMultiLvlLbl val="0"/>
      </c:catAx>
      <c:valAx>
        <c:axId val="5078314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8955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2.31</c:v>
                </c:pt>
                <c:pt idx="1">
                  <c:v>2.46</c:v>
                </c:pt>
                <c:pt idx="2">
                  <c:v>2.5099999999999998</c:v>
                </c:pt>
                <c:pt idx="3">
                  <c:v>2.5</c:v>
                </c:pt>
                <c:pt idx="4">
                  <c:v>2.39</c:v>
                </c:pt>
                <c:pt idx="5">
                  <c:v>2.46</c:v>
                </c:pt>
                <c:pt idx="6">
                  <c:v>2.29</c:v>
                </c:pt>
                <c:pt idx="7">
                  <c:v>1.89</c:v>
                </c:pt>
                <c:pt idx="8">
                  <c:v>1.97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957056"/>
        <c:axId val="507835456"/>
      </c:barChart>
      <c:catAx>
        <c:axId val="478957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7835456"/>
        <c:crosses val="autoZero"/>
        <c:auto val="1"/>
        <c:lblAlgn val="ctr"/>
        <c:lblOffset val="100"/>
        <c:noMultiLvlLbl val="0"/>
      </c:catAx>
      <c:valAx>
        <c:axId val="507835456"/>
        <c:scaling>
          <c:orientation val="minMax"/>
          <c:min val="1.5"/>
        </c:scaling>
        <c:delete val="1"/>
        <c:axPos val="l"/>
        <c:numFmt formatCode="0.00" sourceLinked="1"/>
        <c:majorTickMark val="out"/>
        <c:minorTickMark val="none"/>
        <c:tickLblPos val="nextTo"/>
        <c:crossAx val="478957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5.92</c:v>
                </c:pt>
                <c:pt idx="1">
                  <c:v>6</c:v>
                </c:pt>
                <c:pt idx="2">
                  <c:v>5.98</c:v>
                </c:pt>
                <c:pt idx="3">
                  <c:v>6.15</c:v>
                </c:pt>
                <c:pt idx="4">
                  <c:v>6.22</c:v>
                </c:pt>
                <c:pt idx="5">
                  <c:v>5.98</c:v>
                </c:pt>
                <c:pt idx="6">
                  <c:v>6.12</c:v>
                </c:pt>
                <c:pt idx="7">
                  <c:v>6</c:v>
                </c:pt>
                <c:pt idx="8">
                  <c:v>6.13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278080"/>
        <c:axId val="507837184"/>
      </c:barChart>
      <c:catAx>
        <c:axId val="47927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7837184"/>
        <c:crosses val="autoZero"/>
        <c:auto val="1"/>
        <c:lblAlgn val="ctr"/>
        <c:lblOffset val="100"/>
        <c:noMultiLvlLbl val="0"/>
      </c:catAx>
      <c:valAx>
        <c:axId val="507837184"/>
        <c:scaling>
          <c:orientation val="minMax"/>
          <c:min val="5.5"/>
        </c:scaling>
        <c:delete val="1"/>
        <c:axPos val="l"/>
        <c:numFmt formatCode="0.00" sourceLinked="1"/>
        <c:majorTickMark val="out"/>
        <c:minorTickMark val="none"/>
        <c:tickLblPos val="nextTo"/>
        <c:crossAx val="479278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Sheet1!$B$2:$B$12</c:f>
              <c:numCache>
                <c:formatCode>#,##0.00</c:formatCode>
                <c:ptCount val="8"/>
                <c:pt idx="0">
                  <c:v>2.5299999999999998</c:v>
                </c:pt>
                <c:pt idx="1">
                  <c:v>2.5099999999999998</c:v>
                </c:pt>
                <c:pt idx="2">
                  <c:v>2.41</c:v>
                </c:pt>
                <c:pt idx="3" formatCode="General">
                  <c:v>2.61</c:v>
                </c:pt>
                <c:pt idx="4">
                  <c:v>2.63</c:v>
                </c:pt>
                <c:pt idx="5">
                  <c:v>2.58</c:v>
                </c:pt>
                <c:pt idx="6">
                  <c:v>2.62</c:v>
                </c:pt>
                <c:pt idx="7">
                  <c:v>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279616"/>
        <c:axId val="284959296"/>
      </c:barChart>
      <c:catAx>
        <c:axId val="479279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 b="1"/>
            </a:pPr>
            <a:endParaRPr lang="en-US"/>
          </a:p>
        </c:txPr>
        <c:crossAx val="284959296"/>
        <c:crosses val="autoZero"/>
        <c:auto val="1"/>
        <c:lblAlgn val="ctr"/>
        <c:lblOffset val="100"/>
        <c:noMultiLvlLbl val="0"/>
      </c:catAx>
      <c:valAx>
        <c:axId val="284959296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479279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3.5399834018563218E-2"/>
          <c:y val="3.968202305410972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64687373878084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549</c:v>
                </c:pt>
                <c:pt idx="1">
                  <c:v>547</c:v>
                </c:pt>
                <c:pt idx="2">
                  <c:v>528</c:v>
                </c:pt>
                <c:pt idx="3">
                  <c:v>553</c:v>
                </c:pt>
                <c:pt idx="4">
                  <c:v>559</c:v>
                </c:pt>
                <c:pt idx="5">
                  <c:v>551</c:v>
                </c:pt>
                <c:pt idx="6">
                  <c:v>566</c:v>
                </c:pt>
                <c:pt idx="7">
                  <c:v>565</c:v>
                </c:pt>
                <c:pt idx="8">
                  <c:v>560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703040"/>
        <c:axId val="284961600"/>
      </c:barChart>
      <c:catAx>
        <c:axId val="47970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961600"/>
        <c:crosses val="autoZero"/>
        <c:auto val="1"/>
        <c:lblAlgn val="ctr"/>
        <c:lblOffset val="100"/>
        <c:noMultiLvlLbl val="0"/>
      </c:catAx>
      <c:valAx>
        <c:axId val="28496160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9703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445</c:v>
                </c:pt>
                <c:pt idx="1">
                  <c:v>446</c:v>
                </c:pt>
                <c:pt idx="2">
                  <c:v>420</c:v>
                </c:pt>
                <c:pt idx="3">
                  <c:v>441</c:v>
                </c:pt>
                <c:pt idx="4">
                  <c:v>437</c:v>
                </c:pt>
                <c:pt idx="5">
                  <c:v>438</c:v>
                </c:pt>
                <c:pt idx="6">
                  <c:v>459</c:v>
                </c:pt>
                <c:pt idx="7">
                  <c:v>447</c:v>
                </c:pt>
                <c:pt idx="8">
                  <c:v>459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985152"/>
        <c:axId val="284963904"/>
      </c:barChart>
      <c:catAx>
        <c:axId val="47998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963904"/>
        <c:crosses val="autoZero"/>
        <c:auto val="1"/>
        <c:lblAlgn val="ctr"/>
        <c:lblOffset val="100"/>
        <c:noMultiLvlLbl val="0"/>
      </c:catAx>
      <c:valAx>
        <c:axId val="284963904"/>
        <c:scaling>
          <c:orientation val="minMax"/>
          <c:min val="350"/>
        </c:scaling>
        <c:delete val="1"/>
        <c:axPos val="l"/>
        <c:numFmt formatCode="0" sourceLinked="1"/>
        <c:majorTickMark val="out"/>
        <c:minorTickMark val="none"/>
        <c:tickLblPos val="nextTo"/>
        <c:crossAx val="47998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85</c:v>
                </c:pt>
                <c:pt idx="1">
                  <c:v>89</c:v>
                </c:pt>
                <c:pt idx="2">
                  <c:v>100</c:v>
                </c:pt>
                <c:pt idx="3">
                  <c:v>93</c:v>
                </c:pt>
                <c:pt idx="4">
                  <c:v>100</c:v>
                </c:pt>
                <c:pt idx="5">
                  <c:v>95</c:v>
                </c:pt>
                <c:pt idx="6">
                  <c:v>88</c:v>
                </c:pt>
                <c:pt idx="7">
                  <c:v>77</c:v>
                </c:pt>
                <c:pt idx="8">
                  <c:v>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987712"/>
        <c:axId val="507836608"/>
      </c:barChart>
      <c:catAx>
        <c:axId val="47998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7836608"/>
        <c:crosses val="autoZero"/>
        <c:auto val="1"/>
        <c:lblAlgn val="ctr"/>
        <c:lblOffset val="100"/>
        <c:noMultiLvlLbl val="0"/>
      </c:catAx>
      <c:valAx>
        <c:axId val="507836608"/>
        <c:scaling>
          <c:orientation val="minMax"/>
        </c:scaling>
        <c:delete val="1"/>
        <c:axPos val="l"/>
        <c:numFmt formatCode="0" sourceLinked="1"/>
        <c:majorTickMark val="out"/>
        <c:minorTickMark val="none"/>
        <c:tickLblPos val="nextTo"/>
        <c:crossAx val="47998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1.91</c:v>
                </c:pt>
                <c:pt idx="1">
                  <c:v>1.97</c:v>
                </c:pt>
                <c:pt idx="2">
                  <c:v>2.1</c:v>
                </c:pt>
                <c:pt idx="3">
                  <c:v>2.0699999999999998</c:v>
                </c:pt>
                <c:pt idx="4">
                  <c:v>1.94</c:v>
                </c:pt>
                <c:pt idx="5">
                  <c:v>2.06</c:v>
                </c:pt>
                <c:pt idx="6">
                  <c:v>1.77</c:v>
                </c:pt>
                <c:pt idx="7">
                  <c:v>1.79</c:v>
                </c:pt>
                <c:pt idx="8">
                  <c:v>1.88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989248"/>
        <c:axId val="285090368"/>
      </c:barChart>
      <c:catAx>
        <c:axId val="479989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090368"/>
        <c:crosses val="autoZero"/>
        <c:auto val="1"/>
        <c:lblAlgn val="ctr"/>
        <c:lblOffset val="100"/>
        <c:noMultiLvlLbl val="0"/>
      </c:catAx>
      <c:valAx>
        <c:axId val="285090368"/>
        <c:scaling>
          <c:orientation val="minMax"/>
          <c:min val="1.5"/>
        </c:scaling>
        <c:delete val="1"/>
        <c:axPos val="l"/>
        <c:numFmt formatCode="0.00" sourceLinked="1"/>
        <c:majorTickMark val="out"/>
        <c:minorTickMark val="none"/>
        <c:tickLblPos val="nextTo"/>
        <c:crossAx val="479989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6.52</c:v>
                </c:pt>
                <c:pt idx="1">
                  <c:v>6.44</c:v>
                </c:pt>
                <c:pt idx="2">
                  <c:v>6.2</c:v>
                </c:pt>
                <c:pt idx="3">
                  <c:v>6.32</c:v>
                </c:pt>
                <c:pt idx="4">
                  <c:v>6.35</c:v>
                </c:pt>
                <c:pt idx="5">
                  <c:v>6.35</c:v>
                </c:pt>
                <c:pt idx="6">
                  <c:v>6.38</c:v>
                </c:pt>
                <c:pt idx="7">
                  <c:v>6.29</c:v>
                </c:pt>
                <c:pt idx="8">
                  <c:v>6.32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379904"/>
        <c:axId val="285092096"/>
      </c:barChart>
      <c:catAx>
        <c:axId val="480379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092096"/>
        <c:crosses val="autoZero"/>
        <c:auto val="1"/>
        <c:lblAlgn val="ctr"/>
        <c:lblOffset val="100"/>
        <c:noMultiLvlLbl val="0"/>
      </c:catAx>
      <c:valAx>
        <c:axId val="285092096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480379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0.00</c:formatCode>
                <c:ptCount val="8"/>
                <c:pt idx="0">
                  <c:v>2.62</c:v>
                </c:pt>
                <c:pt idx="1">
                  <c:v>2.6</c:v>
                </c:pt>
                <c:pt idx="2">
                  <c:v>2.4700000000000002</c:v>
                </c:pt>
                <c:pt idx="3">
                  <c:v>2.58</c:v>
                </c:pt>
                <c:pt idx="4">
                  <c:v>2.62</c:v>
                </c:pt>
                <c:pt idx="5">
                  <c:v>2.6</c:v>
                </c:pt>
                <c:pt idx="6">
                  <c:v>2.58</c:v>
                </c:pt>
                <c:pt idx="7">
                  <c:v>2.57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381440"/>
        <c:axId val="285093824"/>
      </c:barChart>
      <c:catAx>
        <c:axId val="48038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 b="1"/>
            </a:pPr>
            <a:endParaRPr lang="en-US"/>
          </a:p>
        </c:txPr>
        <c:crossAx val="285093824"/>
        <c:crosses val="autoZero"/>
        <c:auto val="1"/>
        <c:lblAlgn val="ctr"/>
        <c:lblOffset val="100"/>
        <c:noMultiLvlLbl val="0"/>
      </c:catAx>
      <c:valAx>
        <c:axId val="285093824"/>
        <c:scaling>
          <c:orientation val="minMax"/>
        </c:scaling>
        <c:delete val="1"/>
        <c:axPos val="l"/>
        <c:numFmt formatCode="0.00" sourceLinked="1"/>
        <c:majorTickMark val="out"/>
        <c:minorTickMark val="none"/>
        <c:tickLblPos val="nextTo"/>
        <c:crossAx val="480381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7.8666752064888129E-2"/>
          <c:y val="3.968202305410972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68655576183495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548</c:v>
                </c:pt>
                <c:pt idx="1">
                  <c:v>551</c:v>
                </c:pt>
                <c:pt idx="2">
                  <c:v>535</c:v>
                </c:pt>
                <c:pt idx="3">
                  <c:v>549</c:v>
                </c:pt>
                <c:pt idx="4">
                  <c:v>551</c:v>
                </c:pt>
                <c:pt idx="5">
                  <c:v>543</c:v>
                </c:pt>
                <c:pt idx="6">
                  <c:v>557</c:v>
                </c:pt>
                <c:pt idx="7">
                  <c:v>542</c:v>
                </c:pt>
                <c:pt idx="8">
                  <c:v>541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722944"/>
        <c:axId val="285096128"/>
      </c:barChart>
      <c:catAx>
        <c:axId val="480722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096128"/>
        <c:crosses val="autoZero"/>
        <c:auto val="1"/>
        <c:lblAlgn val="ctr"/>
        <c:lblOffset val="100"/>
        <c:noMultiLvlLbl val="0"/>
      </c:catAx>
      <c:valAx>
        <c:axId val="285096128"/>
        <c:scaling>
          <c:orientation val="minMax"/>
        </c:scaling>
        <c:delete val="1"/>
        <c:axPos val="l"/>
        <c:numFmt formatCode="0" sourceLinked="1"/>
        <c:majorTickMark val="out"/>
        <c:minorTickMark val="none"/>
        <c:tickLblPos val="nextTo"/>
        <c:crossAx val="480722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372</c:v>
                </c:pt>
                <c:pt idx="1">
                  <c:v>373</c:v>
                </c:pt>
                <c:pt idx="2">
                  <c:v>348</c:v>
                </c:pt>
                <c:pt idx="3">
                  <c:v>384</c:v>
                </c:pt>
                <c:pt idx="4">
                  <c:v>415</c:v>
                </c:pt>
                <c:pt idx="5">
                  <c:v>361</c:v>
                </c:pt>
                <c:pt idx="6">
                  <c:v>368</c:v>
                </c:pt>
                <c:pt idx="7">
                  <c:v>368</c:v>
                </c:pt>
                <c:pt idx="8">
                  <c:v>376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914944"/>
        <c:axId val="285180480"/>
      </c:barChart>
      <c:catAx>
        <c:axId val="48091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180480"/>
        <c:crosses val="autoZero"/>
        <c:auto val="1"/>
        <c:lblAlgn val="ctr"/>
        <c:lblOffset val="100"/>
        <c:noMultiLvlLbl val="0"/>
      </c:catAx>
      <c:valAx>
        <c:axId val="28518048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80914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134</c:v>
                </c:pt>
                <c:pt idx="1">
                  <c:v>136</c:v>
                </c:pt>
                <c:pt idx="2">
                  <c:v>150</c:v>
                </c:pt>
                <c:pt idx="3">
                  <c:v>125</c:v>
                </c:pt>
                <c:pt idx="4">
                  <c:v>93</c:v>
                </c:pt>
                <c:pt idx="5">
                  <c:v>142</c:v>
                </c:pt>
                <c:pt idx="6">
                  <c:v>144</c:v>
                </c:pt>
                <c:pt idx="7">
                  <c:v>140</c:v>
                </c:pt>
                <c:pt idx="8">
                  <c:v>123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929792"/>
        <c:axId val="285179904"/>
      </c:barChart>
      <c:catAx>
        <c:axId val="480929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179904"/>
        <c:crosses val="autoZero"/>
        <c:auto val="1"/>
        <c:lblAlgn val="ctr"/>
        <c:lblOffset val="100"/>
        <c:noMultiLvlLbl val="0"/>
      </c:catAx>
      <c:valAx>
        <c:axId val="285179904"/>
        <c:scaling>
          <c:orientation val="minMax"/>
        </c:scaling>
        <c:delete val="1"/>
        <c:axPos val="l"/>
        <c:numFmt formatCode="0" sourceLinked="1"/>
        <c:majorTickMark val="out"/>
        <c:minorTickMark val="none"/>
        <c:tickLblPos val="nextTo"/>
        <c:crossAx val="480929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2.27</c:v>
                </c:pt>
                <c:pt idx="1">
                  <c:v>2.3199999999999998</c:v>
                </c:pt>
                <c:pt idx="2">
                  <c:v>2.4700000000000002</c:v>
                </c:pt>
                <c:pt idx="3">
                  <c:v>2.2599999999999998</c:v>
                </c:pt>
                <c:pt idx="4">
                  <c:v>1.83</c:v>
                </c:pt>
                <c:pt idx="5">
                  <c:v>2.48</c:v>
                </c:pt>
                <c:pt idx="6">
                  <c:v>2.41</c:v>
                </c:pt>
                <c:pt idx="7">
                  <c:v>2.41</c:v>
                </c:pt>
                <c:pt idx="8">
                  <c:v>2.29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931328"/>
        <c:axId val="285183936"/>
      </c:barChart>
      <c:catAx>
        <c:axId val="48093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183936"/>
        <c:crosses val="autoZero"/>
        <c:auto val="1"/>
        <c:lblAlgn val="ctr"/>
        <c:lblOffset val="100"/>
        <c:noMultiLvlLbl val="0"/>
      </c:catAx>
      <c:valAx>
        <c:axId val="285183936"/>
        <c:scaling>
          <c:orientation val="minMax"/>
          <c:min val="1.5"/>
        </c:scaling>
        <c:delete val="1"/>
        <c:axPos val="l"/>
        <c:numFmt formatCode="0.00" sourceLinked="1"/>
        <c:majorTickMark val="out"/>
        <c:minorTickMark val="none"/>
        <c:tickLblPos val="nextTo"/>
        <c:crossAx val="48093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6.16</c:v>
                </c:pt>
                <c:pt idx="1">
                  <c:v>6.09</c:v>
                </c:pt>
                <c:pt idx="2">
                  <c:v>5.89</c:v>
                </c:pt>
                <c:pt idx="3">
                  <c:v>6.11</c:v>
                </c:pt>
                <c:pt idx="4">
                  <c:v>7.32</c:v>
                </c:pt>
                <c:pt idx="5">
                  <c:v>6.02</c:v>
                </c:pt>
                <c:pt idx="6">
                  <c:v>6.09</c:v>
                </c:pt>
                <c:pt idx="7">
                  <c:v>5.97</c:v>
                </c:pt>
                <c:pt idx="8">
                  <c:v>6.14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1403904"/>
        <c:axId val="285185664"/>
      </c:barChart>
      <c:catAx>
        <c:axId val="48140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185664"/>
        <c:crosses val="autoZero"/>
        <c:auto val="1"/>
        <c:lblAlgn val="ctr"/>
        <c:lblOffset val="100"/>
        <c:noMultiLvlLbl val="0"/>
      </c:catAx>
      <c:valAx>
        <c:axId val="285185664"/>
        <c:scaling>
          <c:orientation val="minMax"/>
          <c:min val="5.5"/>
        </c:scaling>
        <c:delete val="1"/>
        <c:axPos val="l"/>
        <c:numFmt formatCode="0.00" sourceLinked="1"/>
        <c:majorTickMark val="out"/>
        <c:minorTickMark val="none"/>
        <c:tickLblPos val="nextTo"/>
        <c:crossAx val="48140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Sheet1!$B$2:$B$12</c:f>
              <c:numCache>
                <c:formatCode>#,##0.00</c:formatCode>
                <c:ptCount val="8"/>
                <c:pt idx="0">
                  <c:v>2.36</c:v>
                </c:pt>
                <c:pt idx="1">
                  <c:v>2.41</c:v>
                </c:pt>
                <c:pt idx="2">
                  <c:v>2.27</c:v>
                </c:pt>
                <c:pt idx="3" formatCode="General">
                  <c:v>2.62</c:v>
                </c:pt>
                <c:pt idx="4">
                  <c:v>2.98</c:v>
                </c:pt>
                <c:pt idx="5">
                  <c:v>2.59</c:v>
                </c:pt>
                <c:pt idx="6">
                  <c:v>2.65</c:v>
                </c:pt>
                <c:pt idx="7">
                  <c:v>2.58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1405440"/>
        <c:axId val="285187392"/>
      </c:barChart>
      <c:catAx>
        <c:axId val="48140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 b="1"/>
            </a:pPr>
            <a:endParaRPr lang="en-US"/>
          </a:p>
        </c:txPr>
        <c:crossAx val="285187392"/>
        <c:crosses val="autoZero"/>
        <c:auto val="1"/>
        <c:lblAlgn val="ctr"/>
        <c:lblOffset val="100"/>
        <c:noMultiLvlLbl val="0"/>
      </c:catAx>
      <c:valAx>
        <c:axId val="285187392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481405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68655576183495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546</c:v>
                </c:pt>
                <c:pt idx="1">
                  <c:v>543</c:v>
                </c:pt>
                <c:pt idx="2">
                  <c:v>525</c:v>
                </c:pt>
                <c:pt idx="3">
                  <c:v>540</c:v>
                </c:pt>
                <c:pt idx="4">
                  <c:v>542</c:v>
                </c:pt>
                <c:pt idx="5">
                  <c:v>538</c:v>
                </c:pt>
                <c:pt idx="6">
                  <c:v>549</c:v>
                </c:pt>
                <c:pt idx="7">
                  <c:v>543</c:v>
                </c:pt>
                <c:pt idx="8">
                  <c:v>540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1931264"/>
        <c:axId val="285222592"/>
      </c:barChart>
      <c:catAx>
        <c:axId val="481931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222592"/>
        <c:crosses val="autoZero"/>
        <c:auto val="1"/>
        <c:lblAlgn val="ctr"/>
        <c:lblOffset val="100"/>
        <c:noMultiLvlLbl val="0"/>
      </c:catAx>
      <c:valAx>
        <c:axId val="2852225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81931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="" xmlns:a16="http://schemas.microsoft.com/office/drawing/2014/main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="" xmlns:a16="http://schemas.microsoft.com/office/drawing/2014/main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="" xmlns:a16="http://schemas.microsoft.com/office/drawing/2014/main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DEC2A-C73C-4167-8E30-C5CAF41C37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F7748-ACC8-421A-9F40-98B69628E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546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FCFF5-7B44-47E4-A9FD-1A6777CE32E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DDA27-7E7B-4423-86F2-26A07C761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1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28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44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69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785F519-697F-F6C7-E4CD-9C51F108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7D47B4B8-2C28-C457-DB91-EBF8B547A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C0C2C6F0-6E65-F9EF-0A4A-CC67ABE4E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6B2CA70-0F37-313D-3A84-05EE0E9B9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49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7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9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11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13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14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15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16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17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25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26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27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28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29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30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7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0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6" indent="0">
              <a:buNone/>
              <a:defRPr sz="2000" b="1"/>
            </a:lvl2pPr>
            <a:lvl3pPr marL="914220" indent="0">
              <a:buNone/>
              <a:defRPr sz="1800" b="1"/>
            </a:lvl3pPr>
            <a:lvl4pPr marL="1371328" indent="0">
              <a:buNone/>
              <a:defRPr sz="1600" b="1"/>
            </a:lvl4pPr>
            <a:lvl5pPr marL="1828439" indent="0">
              <a:buNone/>
              <a:defRPr sz="1600" b="1"/>
            </a:lvl5pPr>
            <a:lvl6pPr marL="2285544" indent="0">
              <a:buNone/>
              <a:defRPr sz="1600" b="1"/>
            </a:lvl6pPr>
            <a:lvl7pPr marL="2742650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6" indent="0">
              <a:buNone/>
              <a:defRPr sz="2000" b="1"/>
            </a:lvl2pPr>
            <a:lvl3pPr marL="914220" indent="0">
              <a:buNone/>
              <a:defRPr sz="1800" b="1"/>
            </a:lvl3pPr>
            <a:lvl4pPr marL="1371328" indent="0">
              <a:buNone/>
              <a:defRPr sz="1600" b="1"/>
            </a:lvl4pPr>
            <a:lvl5pPr marL="1828439" indent="0">
              <a:buNone/>
              <a:defRPr sz="1600" b="1"/>
            </a:lvl5pPr>
            <a:lvl6pPr marL="2285544" indent="0">
              <a:buNone/>
              <a:defRPr sz="1600" b="1"/>
            </a:lvl6pPr>
            <a:lvl7pPr marL="2742650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6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06" indent="0">
              <a:buNone/>
              <a:defRPr sz="1200"/>
            </a:lvl2pPr>
            <a:lvl3pPr marL="914220" indent="0">
              <a:buNone/>
              <a:defRPr sz="1000"/>
            </a:lvl3pPr>
            <a:lvl4pPr marL="1371328" indent="0">
              <a:buNone/>
              <a:defRPr sz="900"/>
            </a:lvl4pPr>
            <a:lvl5pPr marL="1828439" indent="0">
              <a:buNone/>
              <a:defRPr sz="900"/>
            </a:lvl5pPr>
            <a:lvl6pPr marL="2285544" indent="0">
              <a:buNone/>
              <a:defRPr sz="900"/>
            </a:lvl6pPr>
            <a:lvl7pPr marL="2742650" indent="0">
              <a:buNone/>
              <a:defRPr sz="900"/>
            </a:lvl7pPr>
            <a:lvl8pPr marL="3199760" indent="0">
              <a:buNone/>
              <a:defRPr sz="900"/>
            </a:lvl8pPr>
            <a:lvl9pPr marL="365686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06" indent="0">
              <a:buNone/>
              <a:defRPr sz="2800"/>
            </a:lvl2pPr>
            <a:lvl3pPr marL="914220" indent="0">
              <a:buNone/>
              <a:defRPr sz="2400"/>
            </a:lvl3pPr>
            <a:lvl4pPr marL="1371328" indent="0">
              <a:buNone/>
              <a:defRPr sz="2000"/>
            </a:lvl4pPr>
            <a:lvl5pPr marL="1828439" indent="0">
              <a:buNone/>
              <a:defRPr sz="2000"/>
            </a:lvl5pPr>
            <a:lvl6pPr marL="2285544" indent="0">
              <a:buNone/>
              <a:defRPr sz="2000"/>
            </a:lvl6pPr>
            <a:lvl7pPr marL="2742650" indent="0">
              <a:buNone/>
              <a:defRPr sz="2000"/>
            </a:lvl7pPr>
            <a:lvl8pPr marL="3199760" indent="0">
              <a:buNone/>
              <a:defRPr sz="2000"/>
            </a:lvl8pPr>
            <a:lvl9pPr marL="365686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11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06" indent="0">
              <a:buNone/>
              <a:defRPr sz="1200"/>
            </a:lvl2pPr>
            <a:lvl3pPr marL="914220" indent="0">
              <a:buNone/>
              <a:defRPr sz="1000"/>
            </a:lvl3pPr>
            <a:lvl4pPr marL="1371328" indent="0">
              <a:buNone/>
              <a:defRPr sz="900"/>
            </a:lvl4pPr>
            <a:lvl5pPr marL="1828439" indent="0">
              <a:buNone/>
              <a:defRPr sz="900"/>
            </a:lvl5pPr>
            <a:lvl6pPr marL="2285544" indent="0">
              <a:buNone/>
              <a:defRPr sz="900"/>
            </a:lvl6pPr>
            <a:lvl7pPr marL="2742650" indent="0">
              <a:buNone/>
              <a:defRPr sz="900"/>
            </a:lvl7pPr>
            <a:lvl8pPr marL="3199760" indent="0">
              <a:buNone/>
              <a:defRPr sz="900"/>
            </a:lvl8pPr>
            <a:lvl9pPr marL="365686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3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4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106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317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7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2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30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4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5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51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643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73" indent="0">
              <a:buNone/>
              <a:defRPr sz="2000" b="1"/>
            </a:lvl2pPr>
            <a:lvl3pPr marL="914151" indent="0">
              <a:buNone/>
              <a:defRPr sz="1800" b="1"/>
            </a:lvl3pPr>
            <a:lvl4pPr marL="1371226" indent="0">
              <a:buNone/>
              <a:defRPr sz="1600" b="1"/>
            </a:lvl4pPr>
            <a:lvl5pPr marL="1828301" indent="0">
              <a:buNone/>
              <a:defRPr sz="1600" b="1"/>
            </a:lvl5pPr>
            <a:lvl6pPr marL="2285373" indent="0">
              <a:buNone/>
              <a:defRPr sz="1600" b="1"/>
            </a:lvl6pPr>
            <a:lvl7pPr marL="2742443" indent="0">
              <a:buNone/>
              <a:defRPr sz="1600" b="1"/>
            </a:lvl7pPr>
            <a:lvl8pPr marL="3199520" indent="0">
              <a:buNone/>
              <a:defRPr sz="1600" b="1"/>
            </a:lvl8pPr>
            <a:lvl9pPr marL="365659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73" indent="0">
              <a:buNone/>
              <a:defRPr sz="2000" b="1"/>
            </a:lvl2pPr>
            <a:lvl3pPr marL="914151" indent="0">
              <a:buNone/>
              <a:defRPr sz="1800" b="1"/>
            </a:lvl3pPr>
            <a:lvl4pPr marL="1371226" indent="0">
              <a:buNone/>
              <a:defRPr sz="1600" b="1"/>
            </a:lvl4pPr>
            <a:lvl5pPr marL="1828301" indent="0">
              <a:buNone/>
              <a:defRPr sz="1600" b="1"/>
            </a:lvl5pPr>
            <a:lvl6pPr marL="2285373" indent="0">
              <a:buNone/>
              <a:defRPr sz="1600" b="1"/>
            </a:lvl6pPr>
            <a:lvl7pPr marL="2742443" indent="0">
              <a:buNone/>
              <a:defRPr sz="1600" b="1"/>
            </a:lvl7pPr>
            <a:lvl8pPr marL="3199520" indent="0">
              <a:buNone/>
              <a:defRPr sz="1600" b="1"/>
            </a:lvl8pPr>
            <a:lvl9pPr marL="365659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77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683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058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73" indent="0">
              <a:buNone/>
              <a:defRPr sz="1200"/>
            </a:lvl2pPr>
            <a:lvl3pPr marL="914151" indent="0">
              <a:buNone/>
              <a:defRPr sz="1000"/>
            </a:lvl3pPr>
            <a:lvl4pPr marL="1371226" indent="0">
              <a:buNone/>
              <a:defRPr sz="900"/>
            </a:lvl4pPr>
            <a:lvl5pPr marL="1828301" indent="0">
              <a:buNone/>
              <a:defRPr sz="900"/>
            </a:lvl5pPr>
            <a:lvl6pPr marL="2285373" indent="0">
              <a:buNone/>
              <a:defRPr sz="900"/>
            </a:lvl6pPr>
            <a:lvl7pPr marL="2742443" indent="0">
              <a:buNone/>
              <a:defRPr sz="900"/>
            </a:lvl7pPr>
            <a:lvl8pPr marL="3199520" indent="0">
              <a:buNone/>
              <a:defRPr sz="900"/>
            </a:lvl8pPr>
            <a:lvl9pPr marL="365659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0287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73" indent="0">
              <a:buNone/>
              <a:defRPr sz="2800"/>
            </a:lvl2pPr>
            <a:lvl3pPr marL="914151" indent="0">
              <a:buNone/>
              <a:defRPr sz="2400"/>
            </a:lvl3pPr>
            <a:lvl4pPr marL="1371226" indent="0">
              <a:buNone/>
              <a:defRPr sz="2000"/>
            </a:lvl4pPr>
            <a:lvl5pPr marL="1828301" indent="0">
              <a:buNone/>
              <a:defRPr sz="2000"/>
            </a:lvl5pPr>
            <a:lvl6pPr marL="2285373" indent="0">
              <a:buNone/>
              <a:defRPr sz="2000"/>
            </a:lvl6pPr>
            <a:lvl7pPr marL="2742443" indent="0">
              <a:buNone/>
              <a:defRPr sz="2000"/>
            </a:lvl7pPr>
            <a:lvl8pPr marL="3199520" indent="0">
              <a:buNone/>
              <a:defRPr sz="2000"/>
            </a:lvl8pPr>
            <a:lvl9pPr marL="365659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1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73" indent="0">
              <a:buNone/>
              <a:defRPr sz="1200"/>
            </a:lvl2pPr>
            <a:lvl3pPr marL="914151" indent="0">
              <a:buNone/>
              <a:defRPr sz="1000"/>
            </a:lvl3pPr>
            <a:lvl4pPr marL="1371226" indent="0">
              <a:buNone/>
              <a:defRPr sz="900"/>
            </a:lvl4pPr>
            <a:lvl5pPr marL="1828301" indent="0">
              <a:buNone/>
              <a:defRPr sz="900"/>
            </a:lvl5pPr>
            <a:lvl6pPr marL="2285373" indent="0">
              <a:buNone/>
              <a:defRPr sz="900"/>
            </a:lvl6pPr>
            <a:lvl7pPr marL="2742443" indent="0">
              <a:buNone/>
              <a:defRPr sz="900"/>
            </a:lvl7pPr>
            <a:lvl8pPr marL="3199520" indent="0">
              <a:buNone/>
              <a:defRPr sz="900"/>
            </a:lvl8pPr>
            <a:lvl9pPr marL="365659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037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315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0625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464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6041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9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7114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2120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2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3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2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3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24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716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6136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67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2" indent="0">
              <a:buNone/>
              <a:defRPr sz="900"/>
            </a:lvl5pPr>
            <a:lvl6pPr marL="2285829" indent="0">
              <a:buNone/>
              <a:defRPr sz="900"/>
            </a:lvl6pPr>
            <a:lvl7pPr marL="2742993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0025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2" indent="0">
              <a:buNone/>
              <a:defRPr sz="2000"/>
            </a:lvl5pPr>
            <a:lvl6pPr marL="2285829" indent="0">
              <a:buNone/>
              <a:defRPr sz="2000"/>
            </a:lvl6pPr>
            <a:lvl7pPr marL="2742993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67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2" indent="0">
              <a:buNone/>
              <a:defRPr sz="900"/>
            </a:lvl5pPr>
            <a:lvl6pPr marL="2285829" indent="0">
              <a:buNone/>
              <a:defRPr sz="900"/>
            </a:lvl6pPr>
            <a:lvl7pPr marL="2742993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9467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2663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2653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376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7969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8778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7925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127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3817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977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6883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0842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71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24" tIns="45712" rIns="91424" bIns="4571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22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0" indent="-342830" algn="l" defTabSz="91422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05" indent="-285694" algn="l" defTabSz="91422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3" indent="-228552" algn="l" defTabSz="91422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2" algn="l" defTabSz="91422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91" indent="-228552" algn="l" defTabSz="91422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6" indent="-228552" algn="l" defTabSz="9142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8" indent="-228552" algn="l" defTabSz="9142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6" indent="-228552" algn="l" defTabSz="9142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4" indent="-228552" algn="l" defTabSz="9142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6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20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8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9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4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0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8" tIns="45709" rIns="91418" bIns="4570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18" tIns="45709" rIns="91418" bIns="4570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18" tIns="45709" rIns="91418" bIns="4570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51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151"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18" tIns="45709" rIns="91418" bIns="4570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51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18" tIns="45709" rIns="91418" bIns="4570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51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151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81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151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03" indent="-342803" algn="l" defTabSz="91415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51" indent="-285673" algn="l" defTabSz="91415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87" indent="-228534" algn="l" defTabSz="91415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60" indent="-228534" algn="l" defTabSz="91415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38" indent="-228534" algn="l" defTabSz="91415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07" indent="-228534" algn="l" defTabSz="9141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34" algn="l" defTabSz="9141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58" indent="-228534" algn="l" defTabSz="9141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33" indent="-228534" algn="l" defTabSz="9141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73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51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73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43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4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34" tIns="45717" rIns="91434" bIns="4571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34" tIns="45717" rIns="91434" bIns="4571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34" tIns="45717" rIns="91434" bIns="4571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31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331"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34" tIns="45717" rIns="91434" bIns="4571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31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34" tIns="45717" rIns="91434" bIns="4571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31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331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70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</p:sldLayoutIdLst>
  <p:txStyles>
    <p:titleStyle>
      <a:lvl1pPr algn="ctr" defTabSz="914331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73" indent="-342873" algn="l" defTabSz="91433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95" indent="-285729" algn="l" defTabSz="91433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5" indent="-228582" algn="l" defTabSz="91433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2" algn="l" defTabSz="91433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2" algn="l" defTabSz="91433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1" indent="-228582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2" indent="-228582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2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3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Relationship Id="rId9" Type="http://schemas.openxmlformats.org/officeDocument/2006/relationships/chart" Target="../charts/char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13.xml"/><Relationship Id="rId7" Type="http://schemas.openxmlformats.org/officeDocument/2006/relationships/chart" Target="../charts/chart1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Relationship Id="rId9" Type="http://schemas.openxmlformats.org/officeDocument/2006/relationships/chart" Target="../charts/char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19.xml"/><Relationship Id="rId7" Type="http://schemas.openxmlformats.org/officeDocument/2006/relationships/chart" Target="../charts/chart2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Relationship Id="rId6" Type="http://schemas.openxmlformats.org/officeDocument/2006/relationships/chart" Target="../charts/chart22.xml"/><Relationship Id="rId5" Type="http://schemas.openxmlformats.org/officeDocument/2006/relationships/chart" Target="../charts/chart21.xml"/><Relationship Id="rId4" Type="http://schemas.openxmlformats.org/officeDocument/2006/relationships/chart" Target="../charts/chart20.xml"/><Relationship Id="rId9" Type="http://schemas.openxmlformats.org/officeDocument/2006/relationships/chart" Target="../charts/char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25.xml"/><Relationship Id="rId7" Type="http://schemas.openxmlformats.org/officeDocument/2006/relationships/chart" Target="../charts/chart2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2.xml"/><Relationship Id="rId6" Type="http://schemas.openxmlformats.org/officeDocument/2006/relationships/chart" Target="../charts/chart28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Relationship Id="rId9" Type="http://schemas.openxmlformats.org/officeDocument/2006/relationships/chart" Target="../charts/char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31.xml"/><Relationship Id="rId7" Type="http://schemas.openxmlformats.org/officeDocument/2006/relationships/chart" Target="../charts/chart3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3.xml"/><Relationship Id="rId6" Type="http://schemas.openxmlformats.org/officeDocument/2006/relationships/chart" Target="../charts/chart34.xml"/><Relationship Id="rId5" Type="http://schemas.openxmlformats.org/officeDocument/2006/relationships/chart" Target="../charts/chart33.xml"/><Relationship Id="rId4" Type="http://schemas.openxmlformats.org/officeDocument/2006/relationships/chart" Target="../charts/chart32.xml"/><Relationship Id="rId9" Type="http://schemas.openxmlformats.org/officeDocument/2006/relationships/chart" Target="../charts/chart3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37.xml"/><Relationship Id="rId7" Type="http://schemas.openxmlformats.org/officeDocument/2006/relationships/chart" Target="../charts/chart4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6" Type="http://schemas.openxmlformats.org/officeDocument/2006/relationships/chart" Target="../charts/chart40.xml"/><Relationship Id="rId5" Type="http://schemas.openxmlformats.org/officeDocument/2006/relationships/chart" Target="../charts/chart39.xml"/><Relationship Id="rId4" Type="http://schemas.openxmlformats.org/officeDocument/2006/relationships/chart" Target="../charts/chart38.xml"/><Relationship Id="rId9" Type="http://schemas.openxmlformats.org/officeDocument/2006/relationships/chart" Target="../charts/chart4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43.xml"/><Relationship Id="rId7" Type="http://schemas.openxmlformats.org/officeDocument/2006/relationships/chart" Target="../charts/chart4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Relationship Id="rId6" Type="http://schemas.openxmlformats.org/officeDocument/2006/relationships/chart" Target="../charts/chart46.xml"/><Relationship Id="rId5" Type="http://schemas.openxmlformats.org/officeDocument/2006/relationships/chart" Target="../charts/chart45.xml"/><Relationship Id="rId4" Type="http://schemas.openxmlformats.org/officeDocument/2006/relationships/chart" Target="../charts/chart44.xml"/><Relationship Id="rId9" Type="http://schemas.openxmlformats.org/officeDocument/2006/relationships/chart" Target="../charts/chart4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49.xml"/><Relationship Id="rId7" Type="http://schemas.openxmlformats.org/officeDocument/2006/relationships/chart" Target="../charts/chart5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6" Type="http://schemas.openxmlformats.org/officeDocument/2006/relationships/chart" Target="../charts/chart52.xml"/><Relationship Id="rId5" Type="http://schemas.openxmlformats.org/officeDocument/2006/relationships/chart" Target="../charts/chart51.xml"/><Relationship Id="rId4" Type="http://schemas.openxmlformats.org/officeDocument/2006/relationships/chart" Target="../charts/chart50.xml"/><Relationship Id="rId9" Type="http://schemas.openxmlformats.org/officeDocument/2006/relationships/chart" Target="../charts/chart5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55.xml"/><Relationship Id="rId7" Type="http://schemas.openxmlformats.org/officeDocument/2006/relationships/chart" Target="../charts/chart5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Relationship Id="rId6" Type="http://schemas.openxmlformats.org/officeDocument/2006/relationships/chart" Target="../charts/chart58.xml"/><Relationship Id="rId5" Type="http://schemas.openxmlformats.org/officeDocument/2006/relationships/chart" Target="../charts/chart57.xml"/><Relationship Id="rId4" Type="http://schemas.openxmlformats.org/officeDocument/2006/relationships/chart" Target="../charts/chart56.xml"/><Relationship Id="rId9" Type="http://schemas.openxmlformats.org/officeDocument/2006/relationships/chart" Target="../charts/chart6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61.xml"/><Relationship Id="rId7" Type="http://schemas.openxmlformats.org/officeDocument/2006/relationships/chart" Target="../charts/chart6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Relationship Id="rId6" Type="http://schemas.openxmlformats.org/officeDocument/2006/relationships/chart" Target="../charts/chart64.xml"/><Relationship Id="rId5" Type="http://schemas.openxmlformats.org/officeDocument/2006/relationships/chart" Target="../charts/chart63.xml"/><Relationship Id="rId4" Type="http://schemas.openxmlformats.org/officeDocument/2006/relationships/chart" Target="../charts/chart62.xml"/><Relationship Id="rId9" Type="http://schemas.openxmlformats.org/officeDocument/2006/relationships/chart" Target="../charts/chart6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67.xml"/><Relationship Id="rId7" Type="http://schemas.openxmlformats.org/officeDocument/2006/relationships/chart" Target="../charts/chart7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Relationship Id="rId6" Type="http://schemas.openxmlformats.org/officeDocument/2006/relationships/chart" Target="../charts/chart70.xml"/><Relationship Id="rId5" Type="http://schemas.openxmlformats.org/officeDocument/2006/relationships/chart" Target="../charts/chart69.xml"/><Relationship Id="rId4" Type="http://schemas.openxmlformats.org/officeDocument/2006/relationships/chart" Target="../charts/chart68.xml"/><Relationship Id="rId9" Type="http://schemas.openxmlformats.org/officeDocument/2006/relationships/chart" Target="../charts/chart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DB659A3-3DB8-49AA-8C34-C5155BF0C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" y="24"/>
            <a:ext cx="5334001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57800" y="1581243"/>
            <a:ext cx="3962400" cy="1753654"/>
          </a:xfrm>
          <a:prstGeom prst="rect">
            <a:avLst/>
          </a:prstGeom>
          <a:noFill/>
        </p:spPr>
        <p:txBody>
          <a:bodyPr wrap="square" lIns="90752" tIns="45376" rIns="90752" bIns="45376">
            <a:spAutoFit/>
          </a:bodyPr>
          <a:lstStyle/>
          <a:p>
            <a:pPr algn="ctr" defTabSz="906548"/>
            <a:r>
              <a:rPr lang="en-US" sz="3600" b="1" dirty="0">
                <a:ln w="10541" cmpd="sng">
                  <a:solidFill>
                    <a:srgbClr val="0091DA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0091DA">
                        <a:tint val="40000"/>
                        <a:satMod val="250000"/>
                      </a:srgbClr>
                    </a:gs>
                    <a:gs pos="9000">
                      <a:srgbClr val="0091DA">
                        <a:tint val="52000"/>
                        <a:satMod val="300000"/>
                      </a:srgbClr>
                    </a:gs>
                    <a:gs pos="50000">
                      <a:srgbClr val="0091DA">
                        <a:shade val="20000"/>
                        <a:satMod val="300000"/>
                      </a:srgbClr>
                    </a:gs>
                    <a:gs pos="79000">
                      <a:srgbClr val="0091DA">
                        <a:tint val="52000"/>
                        <a:satMod val="300000"/>
                      </a:srgbClr>
                    </a:gs>
                    <a:gs pos="100000">
                      <a:srgbClr val="0091DA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SAIL PERFORMANCE OVERVIEW</a:t>
            </a:r>
          </a:p>
        </p:txBody>
      </p:sp>
      <p:pic>
        <p:nvPicPr>
          <p:cNvPr id="6" name="Picture 4" descr="File:SAIL Logo.sv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250" y="4552994"/>
            <a:ext cx="533740" cy="56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41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smtClean="0"/>
              <a:t>SAIL </a:t>
            </a:r>
            <a:r>
              <a:rPr lang="en-US" sz="2900" b="1"/>
              <a:t>Performance : Sep’26 &amp; Apr-Sep’26</a:t>
            </a:r>
            <a:endParaRPr lang="en-IN" sz="29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192406"/>
              </p:ext>
            </p:extLst>
          </p:nvPr>
        </p:nvGraphicFramePr>
        <p:xfrm>
          <a:off x="609615" y="971550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Sep’25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21113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1945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1594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11286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19946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1896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1492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10967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9605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17500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1546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1328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9230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8156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19190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1762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1495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10343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9406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763803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807632"/>
              </p:ext>
            </p:extLst>
          </p:nvPr>
        </p:nvGraphicFramePr>
        <p:xfrm>
          <a:off x="143092" y="3867150"/>
          <a:ext cx="8619908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98"/>
                <a:gridCol w="7411510"/>
              </a:tblGrid>
              <a:tr h="1021080">
                <a:tc>
                  <a:txBody>
                    <a:bodyPr/>
                    <a:lstStyle/>
                    <a:p>
                      <a:pPr marL="0" marR="0" indent="0" algn="ctr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smtClean="0">
                          <a:solidFill>
                            <a:srgbClr val="0000FF"/>
                          </a:solidFill>
                        </a:rPr>
                        <a:t>H-1 Highlights</a:t>
                      </a:r>
                      <a:endParaRPr lang="en-IN" sz="1400" smtClean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SAIL achieved best </a:t>
                      </a:r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 H1 </a:t>
                      </a:r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(Apr-Sep) 2026-27 production for following:-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Hot Metal    10.203 MT (Previous best 10.135 MT in H1 2023-24)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Crude Steel    9.605 MT (Previous best 9.505 MT in H1 2025-26)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Finished Steel    8.389 MT (Previous best 8.301 MT in H1 2025-26)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4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dirty="0"/>
              <a:t>SAIL Plant-wise Performance </a:t>
            </a:r>
            <a:r>
              <a:rPr lang="en-US" sz="2900" b="1"/>
              <a:t>: </a:t>
            </a:r>
            <a:r>
              <a:rPr lang="en-US" sz="2900" b="1" smtClean="0"/>
              <a:t>Sep’26 </a:t>
            </a:r>
            <a:r>
              <a:rPr lang="en-US" sz="2900" b="1"/>
              <a:t>&amp; </a:t>
            </a:r>
            <a:r>
              <a:rPr lang="en-US" sz="2900" b="1" smtClean="0"/>
              <a:t>Apr-Sep’26</a:t>
            </a:r>
            <a:endParaRPr lang="en-IN" sz="29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88130"/>
              </p:ext>
            </p:extLst>
          </p:nvPr>
        </p:nvGraphicFramePr>
        <p:xfrm>
          <a:off x="1143000" y="762939"/>
          <a:ext cx="6934198" cy="4255875"/>
        </p:xfrm>
        <a:graphic>
          <a:graphicData uri="http://schemas.openxmlformats.org/drawingml/2006/table">
            <a:tbl>
              <a:tblPr/>
              <a:tblGrid>
                <a:gridCol w="460648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536848"/>
                <a:gridCol w="6593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33281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985107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03647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63328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33282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914741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74011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235744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23000002"/>
                  </a:ext>
                </a:extLst>
              </a:tr>
              <a:tr h="19346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Plant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Sep'26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Apr-Sep'26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201454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r>
                        <a:rPr lang="en-IN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Sep’25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CPLY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92703031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21113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1945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11286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80842528"/>
                  </a:ext>
                </a:extLst>
              </a:tr>
              <a:tr h="154690">
                <a:tc gridSpan="10">
                  <a:txBody>
                    <a:bodyPr/>
                    <a:lstStyle/>
                    <a:p>
                      <a:pPr algn="ctr" fontAlgn="b"/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26733038"/>
                  </a:ext>
                </a:extLst>
              </a:tr>
              <a:tr h="192405">
                <a:tc gridSpan="10">
                  <a:txBody>
                    <a:bodyPr/>
                    <a:lstStyle/>
                    <a:p>
                      <a:pPr marL="0" algn="ctr" defTabSz="914331" rtl="0" eaLnBrk="1" fontAlgn="b" latinLnBrk="0" hangingPunct="1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Crude Steel</a:t>
                      </a:r>
                      <a:endParaRPr lang="en-I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="" xmlns:a16="http://schemas.microsoft.com/office/drawing/2014/main" val="255419437"/>
                  </a:ext>
                </a:extLst>
              </a:tr>
              <a:tr h="19240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Plant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3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marL="0" marR="0" indent="0" algn="ctr" defTabSz="9143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78041284"/>
                  </a:ext>
                </a:extLst>
              </a:tr>
              <a:tr h="192405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Sep’25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CPLY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2098538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5961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94017978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8369968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464141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3431802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22683729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SSPs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7661921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19946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10967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323146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659066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19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IN" sz="2400" b="1">
                <a:solidFill>
                  <a:srgbClr val="0000FF"/>
                </a:solidFill>
              </a:rPr>
              <a:t>Major Breakdowns/Delays </a:t>
            </a:r>
            <a:r>
              <a:rPr lang="en-IN" sz="2400" b="1">
                <a:solidFill>
                  <a:srgbClr val="0000FF"/>
                </a:solidFill>
              </a:rPr>
              <a:t>during </a:t>
            </a:r>
            <a:r>
              <a:rPr lang="en-IN" sz="2400" b="1" smtClean="0">
                <a:solidFill>
                  <a:srgbClr val="0000FF"/>
                </a:solidFill>
              </a:rPr>
              <a:t>Sep’26 &amp; Apr-Sep’26</a:t>
            </a:r>
            <a:endParaRPr lang="en-IN" sz="2400" b="1" dirty="0"/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916100"/>
              </p:ext>
            </p:extLst>
          </p:nvPr>
        </p:nvGraphicFramePr>
        <p:xfrm>
          <a:off x="25020" y="819150"/>
          <a:ext cx="9042779" cy="43408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72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69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8642">
                <a:tc>
                  <a:txBody>
                    <a:bodyPr/>
                    <a:lstStyle/>
                    <a:p>
                      <a:pPr algn="ctr"/>
                      <a:r>
                        <a:rPr lang="en-IN" b="1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HM </a:t>
                      </a:r>
                    </a:p>
                    <a:p>
                      <a:pPr algn="ctr"/>
                      <a:r>
                        <a:rPr lang="en-IN" b="1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&amp; </a:t>
                      </a:r>
                    </a:p>
                    <a:p>
                      <a:pPr algn="ctr"/>
                      <a:r>
                        <a:rPr lang="en-IN" b="1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CS</a:t>
                      </a:r>
                      <a:endParaRPr lang="en-IN" b="1">
                        <a:solidFill>
                          <a:srgbClr val="C00000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BSP (Sep’26):</a:t>
                      </a:r>
                    </a:p>
                    <a:p>
                      <a:pPr marL="0" marR="0" lvl="0" indent="0" algn="l" defTabSz="914331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1800" b="1" kern="1200" baseline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BF#4: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BLT chute changing &amp; revival-15 days</a:t>
                      </a:r>
                    </a:p>
                    <a:p>
                      <a:pPr marL="0" marR="0" lvl="0" indent="0" algn="l" defTabSz="914331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 </a:t>
                      </a:r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BF#7: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Multiple slipping &amp; revival- 3  days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 BF#8: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HBV of  Stove#2 &amp; BLT chute changing  (5+3 days)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DSP(Apr-Sep’26):</a:t>
                      </a:r>
                    </a:p>
                    <a:p>
                      <a:pPr marL="9144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BF-2:</a:t>
                      </a:r>
                      <a:r>
                        <a:rPr lang="en-US" sz="1600" b="1" spc="-4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Extended CR (Took 14 days more than Plan of 45 days, Apr-Jun’26)          </a:t>
                      </a:r>
                    </a:p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         &amp;</a:t>
                      </a:r>
                      <a:r>
                        <a:rPr lang="en-IN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Extended stabilisation after CR (Took 10 days) </a:t>
                      </a:r>
                    </a:p>
                    <a:p>
                      <a:pPr marL="85725" indent="0" algn="l"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BF-3, 4</a:t>
                      </a:r>
                      <a:r>
                        <a:rPr lang="en-US" sz="1600" b="1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600" b="1" spc="-15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Shutdown in view of SMS Flare stack repair job (48 Hrs each, Apr’26)</a:t>
                      </a:r>
                      <a:endParaRPr lang="en-IN" sz="1600" b="1" kern="1200" baseline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ISP(Sep’26):</a:t>
                      </a:r>
                      <a:endParaRPr lang="en-US" sz="2000" b="1" kern="1200" spc="-25" smtClean="0">
                        <a:solidFill>
                          <a:srgbClr val="0000FF"/>
                        </a:solidFill>
                        <a:effectLst/>
                        <a:latin typeface="+mn-lt"/>
                        <a:ea typeface="Arial MT"/>
                        <a:cs typeface="Times New Roman" panose="02020603050405020304" pitchFamily="18" charset="0"/>
                      </a:endParaRPr>
                    </a:p>
                    <a:p>
                      <a:pPr marL="9144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Restricted sinter production due to wet &amp; sticky Raw Materails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25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ISP (Apr-Sep’26):</a:t>
                      </a:r>
                    </a:p>
                    <a:p>
                      <a:pPr marL="91440" algn="l" defTabSz="914331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Extended CR of BF-5 (Plan: 10 days, Actual: 13 days, May’26)</a:t>
                      </a:r>
                    </a:p>
                    <a:p>
                      <a:pPr marL="0" indent="0" algn="l" defTabSz="914331" rtl="0" eaLnBrk="1" latinLnBrk="0" hangingPunct="1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IN" sz="1800" b="1" kern="1200" spc="-25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ASP: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smtClean="0">
                          <a:solidFill>
                            <a:srgbClr val="C00000"/>
                          </a:solidFill>
                        </a:rPr>
                        <a:t>EAF-3:</a:t>
                      </a:r>
                      <a:r>
                        <a:rPr lang="en-IN" sz="1600" b="1" baseline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1600" b="1" smtClean="0">
                          <a:solidFill>
                            <a:schemeClr val="tx1"/>
                          </a:solidFill>
                        </a:rPr>
                        <a:t>Transformer oil leakage (25 days, Apr-May’26), Foundation breakdown in</a:t>
                      </a:r>
                      <a:r>
                        <a:rPr lang="en-IN" sz="1600" b="1" baseline="0" smtClean="0">
                          <a:solidFill>
                            <a:schemeClr val="tx1"/>
                          </a:solidFill>
                        </a:rPr>
                        <a:t> tapping car (52 days, Jun-Jul’26)</a:t>
                      </a:r>
                    </a:p>
                    <a:p>
                      <a:pPr marL="0" algn="l" defTabSz="914331" rtl="0" eaLnBrk="1" latinLnBrk="0" hangingPunct="1"/>
                      <a:r>
                        <a:rPr lang="en-IN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EAF-2: </a:t>
                      </a:r>
                      <a:r>
                        <a:rPr lang="en-IN" sz="16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Foundation work of tapping Car from 07.8.26- cont.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19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8DE7051-C3CA-BC01-F002-7373734C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383360-41E3-AA5A-11F6-492B9D2D7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dirty="0"/>
              <a:t>SAIL Plant-wise Performance </a:t>
            </a:r>
            <a:r>
              <a:rPr lang="en-US" sz="2900" b="1"/>
              <a:t>: </a:t>
            </a:r>
            <a:r>
              <a:rPr lang="en-US" sz="2900" b="1" smtClean="0"/>
              <a:t>Sep’26 </a:t>
            </a:r>
            <a:r>
              <a:rPr lang="en-US" sz="2900" b="1"/>
              <a:t>&amp; </a:t>
            </a:r>
            <a:r>
              <a:rPr lang="en-US" sz="2900" b="1" smtClean="0"/>
              <a:t>Apr-Sep’26</a:t>
            </a:r>
            <a:endParaRPr lang="en-IN" sz="29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2E38A845-0E62-27ED-9953-B0CA67B7B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403114"/>
              </p:ext>
            </p:extLst>
          </p:nvPr>
        </p:nvGraphicFramePr>
        <p:xfrm>
          <a:off x="914401" y="742950"/>
          <a:ext cx="7010398" cy="4355411"/>
        </p:xfrm>
        <a:graphic>
          <a:graphicData uri="http://schemas.openxmlformats.org/drawingml/2006/table">
            <a:tbl>
              <a:tblPr/>
              <a:tblGrid>
                <a:gridCol w="536848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536848"/>
                <a:gridCol w="6593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33281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985107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03647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63328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33282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914741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74011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235744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 Steel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23000002"/>
                  </a:ext>
                </a:extLst>
              </a:tr>
              <a:tr h="19346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Plant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Sep'26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Apr-Sep'26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201454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Sep’25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CPLY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BSL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92703031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marL="0" marR="0" lvl="0" indent="0" algn="ctr" defTabSz="9143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SSPs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6141085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19190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1762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10343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80842528"/>
                  </a:ext>
                </a:extLst>
              </a:tr>
              <a:tr h="97155">
                <a:tc gridSpan="10">
                  <a:txBody>
                    <a:bodyPr/>
                    <a:lstStyle/>
                    <a:p>
                      <a:pPr algn="l" fontAlgn="b"/>
                      <a:endParaRPr lang="en-IN" sz="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26733038"/>
                  </a:ext>
                </a:extLst>
              </a:tr>
              <a:tr h="192405">
                <a:tc gridSpan="10">
                  <a:txBody>
                    <a:bodyPr/>
                    <a:lstStyle/>
                    <a:p>
                      <a:pPr marL="0" algn="ctr" defTabSz="914331" rtl="0" eaLnBrk="1" fontAlgn="b" latinLnBrk="0" hangingPunct="1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Finished Steel</a:t>
                      </a:r>
                      <a:endParaRPr lang="en-I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="" xmlns:a16="http://schemas.microsoft.com/office/drawing/2014/main" val="255419437"/>
                  </a:ext>
                </a:extLst>
              </a:tr>
              <a:tr h="19240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Plant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Sep'26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Apr-Sep'26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78041284"/>
                  </a:ext>
                </a:extLst>
              </a:tr>
              <a:tr h="192405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Sep’25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CPLY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2098538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94017978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8369968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464141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BSL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3431802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22683729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SSPs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7661921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17500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1376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9230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8389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323146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717CDE1-DA80-8E26-1330-5F031B68FAF4}"/>
              </a:ext>
            </a:extLst>
          </p:cNvPr>
          <p:cNvSpPr txBox="1"/>
          <p:nvPr/>
        </p:nvSpPr>
        <p:spPr>
          <a:xfrm>
            <a:off x="7898958" y="742977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183E9BD7-F7AB-9339-91FC-4C843226E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30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IN" sz="2400" b="1">
                <a:solidFill>
                  <a:srgbClr val="0000FF"/>
                </a:solidFill>
              </a:rPr>
              <a:t>Major Breakdowns/Delays </a:t>
            </a:r>
            <a:r>
              <a:rPr lang="en-IN" sz="2400" b="1">
                <a:solidFill>
                  <a:srgbClr val="0000FF"/>
                </a:solidFill>
              </a:rPr>
              <a:t>during </a:t>
            </a:r>
            <a:r>
              <a:rPr lang="en-IN" sz="2400" b="1" smtClean="0">
                <a:solidFill>
                  <a:srgbClr val="0000FF"/>
                </a:solidFill>
              </a:rPr>
              <a:t>Sep’26 &amp; Apr-Sep’26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659066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58069"/>
              </p:ext>
            </p:extLst>
          </p:nvPr>
        </p:nvGraphicFramePr>
        <p:xfrm>
          <a:off x="25020" y="1047750"/>
          <a:ext cx="9042779" cy="3799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72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69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8642">
                <a:tc>
                  <a:txBody>
                    <a:bodyPr/>
                    <a:lstStyle/>
                    <a:p>
                      <a:pPr algn="ctr"/>
                      <a:r>
                        <a:rPr lang="en-IN" sz="1600" b="1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FS</a:t>
                      </a:r>
                      <a:endParaRPr lang="en-IN" sz="1600" b="1">
                        <a:solidFill>
                          <a:srgbClr val="C00000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BSP (Sep’26):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600" b="1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RSM: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CR from 19th Sept26- Contd</a:t>
                      </a:r>
                      <a:endParaRPr lang="en-IN" sz="1600" baseline="0" smtClean="0">
                        <a:latin typeface="+mn-lt"/>
                        <a:cs typeface="Arial" pitchFamily="34" charset="0"/>
                      </a:endParaRPr>
                    </a:p>
                    <a:p>
                      <a:r>
                        <a:rPr lang="en-IN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MM, WRM, BRM : </a:t>
                      </a:r>
                      <a:r>
                        <a:rPr lang="en-IN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Input Billet / BF Gas constraints</a:t>
                      </a:r>
                      <a:endParaRPr lang="en-IN" sz="1600" baseline="0" smtClean="0">
                        <a:latin typeface="+mn-lt"/>
                        <a:cs typeface="Arial" pitchFamily="34" charset="0"/>
                      </a:endParaRPr>
                    </a:p>
                    <a:p>
                      <a:pPr marL="0" marR="0" lvl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baseline="0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Plate Mill: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2 RHFs operation for 11 days (Repair of RHF-1&amp;3)</a:t>
                      </a:r>
                      <a:endParaRPr lang="en-US" sz="1600" b="1" kern="1200" smtClean="0">
                        <a:solidFill>
                          <a:srgbClr val="0000FF"/>
                        </a:solidFill>
                        <a:latin typeface="+mn-lt"/>
                        <a:ea typeface="+mn-ea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DSP(Apr-Sep’26):</a:t>
                      </a:r>
                    </a:p>
                    <a:p>
                      <a:pPr marL="0" indent="0" algn="l"/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MSM:</a:t>
                      </a: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Extended CR (Plan: 6 days, Actual: 8 days, Apr’26) </a:t>
                      </a:r>
                    </a:p>
                    <a:p>
                      <a:pPr algn="l"/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M Mill: </a:t>
                      </a: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Extended CR (Plan: 10 days, Actual: 13 days, Apr-May’26)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RSP(Sep’26):</a:t>
                      </a:r>
                      <a:endParaRPr lang="en-US" sz="1600" b="1" kern="1200" spc="-25" smtClean="0">
                        <a:solidFill>
                          <a:srgbClr val="0000FF"/>
                        </a:solidFill>
                        <a:effectLst/>
                        <a:latin typeface="+mn-lt"/>
                        <a:ea typeface="Arial MT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HSM-2 : </a:t>
                      </a:r>
                      <a:r>
                        <a:rPr lang="en-IN" sz="1600" b="1" baseline="0" smtClean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Single RHF operation for 6.5 days (roof brick fallen) 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pc="-25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ISP (Apr-Sep’26):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WRM: </a:t>
                      </a: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CR (Plan: 10 days, Actual: 13 days in May’26)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 Mill: </a:t>
                      </a: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CR (Plan: 11 days, Actual: 17 days in May’26)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USM: </a:t>
                      </a: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CR (Plan: 11 days, Actual: 22 days in May’26)</a:t>
                      </a:r>
                    </a:p>
                    <a:p>
                      <a:r>
                        <a:rPr lang="en-US" sz="1600" b="1" kern="1200" spc="-25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VISL: </a:t>
                      </a:r>
                      <a:r>
                        <a:rPr lang="en-IN" sz="16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Roof sheeting job (15 days, Apr-May’26) &amp; RHF down for arch &amp; roof bricks fallen (44 days, May-Jun’26)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47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11" y="104491"/>
            <a:ext cx="8534391" cy="583112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34" tIns="45717" rIns="91434" bIns="45717" rtlCol="0" anchor="ctr">
            <a:no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SAIL </a:t>
            </a:r>
            <a:r>
              <a:rPr lang="en-US" sz="2800" b="1">
                <a:solidFill>
                  <a:srgbClr val="0000FF"/>
                </a:solidFill>
              </a:rPr>
              <a:t>Techno  Performance (Apr-Sep’26)</a:t>
            </a:r>
            <a:endParaRPr lang="en-I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5761319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8727828"/>
              </p:ext>
            </p:extLst>
          </p:nvPr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398791"/>
              </p:ext>
            </p:extLst>
          </p:nvPr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230431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6599456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5115515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75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/>
              <a:t>BSP Performance : Sep’26 &amp; Apr-Sep’26</a:t>
            </a:r>
            <a:endParaRPr lang="en-IN" sz="29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38009"/>
              </p:ext>
            </p:extLst>
          </p:nvPr>
        </p:nvGraphicFramePr>
        <p:xfrm>
          <a:off x="609615" y="971550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Sep’25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6275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542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72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3287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2997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5961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530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355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72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3212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2866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4900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2718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2401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5560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384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-13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84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2926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2687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763803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40741"/>
              </p:ext>
            </p:extLst>
          </p:nvPr>
        </p:nvGraphicFramePr>
        <p:xfrm>
          <a:off x="143092" y="3867150"/>
          <a:ext cx="8619908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98"/>
                <a:gridCol w="7411510"/>
              </a:tblGrid>
              <a:tr h="1021080">
                <a:tc>
                  <a:txBody>
                    <a:bodyPr/>
                    <a:lstStyle/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Highlights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BSP achieved best H1 (Apr-Sep) 2026-27 production for following:-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Hot Metal    2.997 MT (Previous best 2.983 MT in H1 2023-24)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Crude Steel    2.866 MT (Previous best 2.833 MT in H1 2025-26)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Finished Steel    2.401 MT (Previous best 2.327 MT in H1 2025-26)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40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  <a:latin typeface="Arial Narrow" pitchFamily="34" charset="0"/>
              </a:rPr>
              <a:t>BSP </a:t>
            </a:r>
            <a:r>
              <a:rPr lang="en-US" b="1" dirty="0">
                <a:solidFill>
                  <a:srgbClr val="0000FF"/>
                </a:solidFill>
                <a:latin typeface="Arial Narrow" pitchFamily="34" charset="0"/>
              </a:rPr>
              <a:t>Techno  Performance</a:t>
            </a:r>
            <a:endParaRPr lang="en-IN" b="1" dirty="0">
              <a:solidFill>
                <a:srgbClr val="0000FF"/>
              </a:solidFill>
              <a:latin typeface="Arial Narrow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1397629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/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/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/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7588393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9428164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37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smtClean="0"/>
              <a:t>DSP </a:t>
            </a:r>
            <a:r>
              <a:rPr lang="en-US" sz="2900" b="1"/>
              <a:t>Performance : Sep’26 &amp; Apr-Sep’26</a:t>
            </a:r>
            <a:endParaRPr lang="en-IN" sz="29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396351"/>
              </p:ext>
            </p:extLst>
          </p:nvPr>
        </p:nvGraphicFramePr>
        <p:xfrm>
          <a:off x="609615" y="971550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Sep’25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2450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229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1255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1146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2200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182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1158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1392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84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73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680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539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77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2120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1108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763803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09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04492"/>
            <a:ext cx="7620000" cy="409859"/>
          </a:xfrm>
        </p:spPr>
        <p:txBody>
          <a:bodyPr/>
          <a:lstStyle/>
          <a:p>
            <a:r>
              <a:rPr lang="en-US" b="1">
                <a:solidFill>
                  <a:srgbClr val="0000FF"/>
                </a:solidFill>
                <a:latin typeface="Arial Narrow" pitchFamily="34" charset="0"/>
              </a:rPr>
              <a:t>DSP Techno  Performance</a:t>
            </a:r>
            <a:endParaRPr lang="en-IN">
              <a:solidFill>
                <a:srgbClr val="0000FF"/>
              </a:solidFill>
              <a:latin typeface="Arial Narrow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0412677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5007160"/>
              </p:ext>
            </p:extLst>
          </p:nvPr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2988519"/>
              </p:ext>
            </p:extLst>
          </p:nvPr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5488872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9075329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4808117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05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smtClean="0"/>
              <a:t>RSP </a:t>
            </a:r>
            <a:r>
              <a:rPr lang="en-US" sz="2900" b="1"/>
              <a:t>Performance : Sep’26 &amp; Apr-Sep’26</a:t>
            </a:r>
            <a:endParaRPr lang="en-IN" sz="29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893863"/>
              </p:ext>
            </p:extLst>
          </p:nvPr>
        </p:nvGraphicFramePr>
        <p:xfrm>
          <a:off x="609615" y="1194738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Sep’25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4438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453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2556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2154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4216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435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342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2441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4306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333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2334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2086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4306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333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2334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2086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659066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71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04492"/>
            <a:ext cx="8229600" cy="409859"/>
          </a:xfrm>
        </p:spPr>
        <p:txBody>
          <a:bodyPr/>
          <a:lstStyle/>
          <a:p>
            <a:r>
              <a:rPr lang="en-US" b="1">
                <a:solidFill>
                  <a:srgbClr val="0000FF"/>
                </a:solidFill>
                <a:latin typeface="Arial Narrow" pitchFamily="34" charset="0"/>
              </a:rPr>
              <a:t>RSP Techno  Performance</a:t>
            </a:r>
            <a:endParaRPr lang="en-IN">
              <a:solidFill>
                <a:srgbClr val="0000FF"/>
              </a:solidFill>
              <a:latin typeface="Arial Narrow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152117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8932233"/>
              </p:ext>
            </p:extLst>
          </p:nvPr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905870"/>
              </p:ext>
            </p:extLst>
          </p:nvPr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1954571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6998925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3612519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63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smtClean="0"/>
              <a:t>BSL </a:t>
            </a:r>
            <a:r>
              <a:rPr lang="en-US" sz="2900" b="1"/>
              <a:t>Performance : Sep’26 &amp; Apr-Sep’26</a:t>
            </a:r>
            <a:endParaRPr lang="en-IN" sz="29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50410"/>
              </p:ext>
            </p:extLst>
          </p:nvPr>
        </p:nvGraphicFramePr>
        <p:xfrm>
          <a:off x="609615" y="971550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Sep’25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5250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465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411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2756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2539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4655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447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2636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2302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4200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347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2160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2069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4240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416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355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2423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2257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763803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305964"/>
              </p:ext>
            </p:extLst>
          </p:nvPr>
        </p:nvGraphicFramePr>
        <p:xfrm>
          <a:off x="143092" y="3867150"/>
          <a:ext cx="861990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98"/>
                <a:gridCol w="7411510"/>
              </a:tblGrid>
              <a:tr h="1021080">
                <a:tc>
                  <a:txBody>
                    <a:bodyPr/>
                    <a:lstStyle/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Highlights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BSL achieved best H1 (Apr-Sep) 2026-27 production for following:-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Hot Metal    2.539 MT (Previous best 2.477 MT in H1 2024-25)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Crude Steel    2.302 MT (Previous best 2.213 MT in H1 2024-25)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Saleable Steel    2.257 MT (Previous best 2.244 MT in H1 2025-26)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Finished Steel    2.069 MT (Previous best 1.996 MT in H1 2025-26)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18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04492"/>
            <a:ext cx="8001000" cy="409859"/>
          </a:xfrm>
        </p:spPr>
        <p:txBody>
          <a:bodyPr/>
          <a:lstStyle/>
          <a:p>
            <a:r>
              <a:rPr lang="en-US" b="1">
                <a:solidFill>
                  <a:srgbClr val="0000FF"/>
                </a:solidFill>
                <a:latin typeface="Arial Narrow" pitchFamily="34" charset="0"/>
              </a:rPr>
              <a:t>BSL Techno  Performance</a:t>
            </a:r>
            <a:endParaRPr lang="en-IN">
              <a:solidFill>
                <a:srgbClr val="0000FF"/>
              </a:solidFill>
              <a:latin typeface="Arial Narrow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0942361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0932780"/>
              </p:ext>
            </p:extLst>
          </p:nvPr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0386772"/>
              </p:ext>
            </p:extLst>
          </p:nvPr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3063461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372613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8023529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62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smtClean="0"/>
              <a:t>ISP </a:t>
            </a:r>
            <a:r>
              <a:rPr lang="en-US" sz="2900" b="1"/>
              <a:t>Performance : Sep’26 &amp; Apr-Sep’26</a:t>
            </a:r>
            <a:endParaRPr lang="en-IN" sz="29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489870"/>
              </p:ext>
            </p:extLst>
          </p:nvPr>
        </p:nvGraphicFramePr>
        <p:xfrm>
          <a:off x="609615" y="1047750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Apr-Sep'26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Sep’25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2700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256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237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1432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1366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2500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241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1341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1281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2300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1144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946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82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2390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232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1290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1229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763803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91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04492"/>
            <a:ext cx="8001000" cy="409859"/>
          </a:xfrm>
        </p:spPr>
        <p:txBody>
          <a:bodyPr/>
          <a:lstStyle/>
          <a:p>
            <a:r>
              <a:rPr lang="en-US" b="1">
                <a:solidFill>
                  <a:srgbClr val="0000FF"/>
                </a:solidFill>
                <a:latin typeface="Arial Narrow" pitchFamily="34" charset="0"/>
              </a:rPr>
              <a:t>ISP Techno  Performance</a:t>
            </a:r>
            <a:endParaRPr lang="en-IN">
              <a:solidFill>
                <a:srgbClr val="0000FF"/>
              </a:solidFill>
              <a:latin typeface="Arial Narrow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5271872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667139"/>
              </p:ext>
            </p:extLst>
          </p:nvPr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2248847"/>
              </p:ext>
            </p:extLst>
          </p:nvPr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1656077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2584583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0702921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637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 descr="Thank You Message For Card Presentation Business Expressing Gratitude  Acknowledgment And Appreciation Minimalist Abstract Design With White Cut  Out Paper On Blue Background Stock Photo - Download Image Now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3"/>
            <a:ext cx="9144000" cy="51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ile:SAIL Logo.sv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357" y="3924955"/>
            <a:ext cx="1043429" cy="109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53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BE33-A8E2-4658-A9F5-C218009337E2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144013"/>
              </p:ext>
            </p:extLst>
          </p:nvPr>
        </p:nvGraphicFramePr>
        <p:xfrm>
          <a:off x="1415005" y="750384"/>
          <a:ext cx="7500395" cy="42336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595"/>
                <a:gridCol w="2819400"/>
                <a:gridCol w="3581400"/>
              </a:tblGrid>
              <a:tr h="230067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Plant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smtClean="0">
                          <a:solidFill>
                            <a:srgbClr val="C00000"/>
                          </a:solidFill>
                          <a:effectLst/>
                        </a:rPr>
                        <a:t>Apr-Sep’26</a:t>
                      </a:r>
                      <a:endParaRPr lang="en-IN" sz="1400" b="1" u="none" strike="noStrike" smtClean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ctr" rtl="0" fontAlgn="t"/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smtClean="0">
                          <a:solidFill>
                            <a:srgbClr val="C00000"/>
                          </a:solidFill>
                          <a:effectLst/>
                        </a:rPr>
                        <a:t>Apr-Sep’25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603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BSP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8000" lvl="1" algn="just" rtl="0" fontAlgn="t"/>
                      <a:r>
                        <a:rPr lang="en-US" sz="1200" u="none" strike="noStrike" dirty="0">
                          <a:effectLst/>
                        </a:rPr>
                        <a:t>SMS2 Conv </a:t>
                      </a:r>
                      <a:r>
                        <a:rPr lang="en-US" sz="1200" u="none" strike="noStrike">
                          <a:effectLst/>
                        </a:rPr>
                        <a:t>A </a:t>
                      </a:r>
                      <a:r>
                        <a:rPr lang="en-US" sz="1200" u="none" strike="noStrike" smtClean="0">
                          <a:effectLst/>
                        </a:rPr>
                        <a:t>(62 days in Jun-Aug’26)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468000" lvl="1" algn="just" rtl="0" fontAlgn="ctr"/>
                      <a:r>
                        <a:rPr lang="en-US" sz="1200" u="none" strike="noStrike" dirty="0">
                          <a:effectLst/>
                        </a:rPr>
                        <a:t>SMS2 Conv B (14 days in June'26)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468000" lvl="1" algn="just" rtl="0" fontAlgn="ctr"/>
                      <a:r>
                        <a:rPr lang="en-IN" sz="1200" u="none" strike="noStrike" dirty="0">
                          <a:effectLst/>
                        </a:rPr>
                        <a:t>SMS-2 </a:t>
                      </a:r>
                      <a:r>
                        <a:rPr lang="en-IN" sz="1200" u="none" strike="noStrike" dirty="0" err="1">
                          <a:effectLst/>
                        </a:rPr>
                        <a:t>Conv.C</a:t>
                      </a:r>
                      <a:r>
                        <a:rPr lang="en-IN" sz="1200" u="none" strike="noStrike" dirty="0">
                          <a:effectLst/>
                        </a:rPr>
                        <a:t> (</a:t>
                      </a:r>
                      <a:r>
                        <a:rPr lang="en-IN" sz="1200" u="none" strike="noStrike">
                          <a:effectLst/>
                        </a:rPr>
                        <a:t>11 </a:t>
                      </a:r>
                      <a:r>
                        <a:rPr lang="en-IN" sz="1200" u="none" strike="noStrike" smtClean="0">
                          <a:effectLst/>
                        </a:rPr>
                        <a:t>days in Apr’26) </a:t>
                      </a:r>
                    </a:p>
                    <a:p>
                      <a:pPr marL="468000" marR="0" lvl="1" indent="0" algn="just" defTabSz="9143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smtClean="0">
                          <a:effectLst/>
                        </a:rPr>
                        <a:t>SMS-3 Conv.2 (12 days in Aug’26)</a:t>
                      </a:r>
                    </a:p>
                    <a:p>
                      <a:pPr marL="468000" lvl="1" algn="just" rtl="0" fontAlgn="t"/>
                      <a:r>
                        <a:rPr lang="en-IN" sz="1200" u="none" strike="noStrike" smtClean="0">
                          <a:effectLst/>
                        </a:rPr>
                        <a:t>SMS-3 </a:t>
                      </a:r>
                      <a:r>
                        <a:rPr lang="en-IN" sz="1200" u="none" strike="noStrike" dirty="0">
                          <a:effectLst/>
                        </a:rPr>
                        <a:t>Conv.3 (</a:t>
                      </a:r>
                      <a:r>
                        <a:rPr lang="en-IN" sz="1200" u="none" strike="noStrike">
                          <a:effectLst/>
                        </a:rPr>
                        <a:t>11 </a:t>
                      </a:r>
                      <a:r>
                        <a:rPr lang="en-IN" sz="1200" u="none" strike="noStrike" smtClean="0">
                          <a:effectLst/>
                        </a:rPr>
                        <a:t>days in </a:t>
                      </a:r>
                      <a:r>
                        <a:rPr lang="en-IN" sz="1200" u="none" strike="noStrike" smtClean="0">
                          <a:effectLst/>
                        </a:rPr>
                        <a:t> Apr’26)</a:t>
                      </a:r>
                    </a:p>
                    <a:p>
                      <a:pPr marL="468000" marR="0" lvl="1" indent="0" algn="just" defTabSz="91433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SMS-3 CK-1 ( 8 days in Apr’26)</a:t>
                      </a:r>
                    </a:p>
                    <a:p>
                      <a:pPr marL="468000" marR="0" lvl="1" indent="0" algn="just" defTabSz="91433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SMS-3 CK-2 ( 7 days in Aug’26)</a:t>
                      </a:r>
                    </a:p>
                    <a:p>
                      <a:pPr marL="468000" marR="0" lvl="1" indent="0" algn="just" defTabSz="91433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SMS-3 CV-1 ( 8 days in Sep’26)</a:t>
                      </a:r>
                    </a:p>
                    <a:p>
                      <a:pPr marL="468000" marR="0" lvl="1" indent="0" algn="just" defTabSz="91433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RSM (19.9.26-cont.)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468000" lvl="1" algn="just" rtl="0" fontAlgn="t"/>
                      <a:r>
                        <a:rPr lang="en-IN" sz="1200" u="none" strike="noStrike" dirty="0">
                          <a:effectLst/>
                        </a:rPr>
                        <a:t>URM (</a:t>
                      </a:r>
                      <a:r>
                        <a:rPr lang="en-IN" sz="1200" u="none" strike="noStrike">
                          <a:effectLst/>
                        </a:rPr>
                        <a:t>7 </a:t>
                      </a:r>
                      <a:r>
                        <a:rPr lang="en-IN" sz="1200" u="none" strike="noStrike" smtClean="0">
                          <a:effectLst/>
                        </a:rPr>
                        <a:t>days in May’26)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468000" lvl="1" algn="just" rtl="0" fontAlgn="t"/>
                      <a:r>
                        <a:rPr lang="en-IN" sz="1200" u="none" strike="noStrike" dirty="0">
                          <a:effectLst/>
                        </a:rPr>
                        <a:t>WRM (</a:t>
                      </a:r>
                      <a:r>
                        <a:rPr lang="en-IN" sz="1200" u="none" strike="noStrike">
                          <a:effectLst/>
                        </a:rPr>
                        <a:t>13 </a:t>
                      </a:r>
                      <a:r>
                        <a:rPr lang="en-IN" sz="1200" u="none" strike="noStrike" smtClean="0">
                          <a:effectLst/>
                        </a:rPr>
                        <a:t>days in Apr’26)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468000" lvl="1" algn="just" rtl="0" fontAlgn="t"/>
                      <a:r>
                        <a:rPr lang="en-IN" sz="1200" u="none" strike="noStrike" smtClean="0">
                          <a:effectLst/>
                        </a:rPr>
                        <a:t>P Mill </a:t>
                      </a:r>
                      <a:r>
                        <a:rPr lang="en-IN" sz="1200" u="none" strike="noStrike" dirty="0">
                          <a:effectLst/>
                        </a:rPr>
                        <a:t>(</a:t>
                      </a:r>
                      <a:r>
                        <a:rPr lang="en-IN" sz="1200" u="none" strike="noStrike">
                          <a:effectLst/>
                        </a:rPr>
                        <a:t>6 </a:t>
                      </a:r>
                      <a:r>
                        <a:rPr lang="en-IN" sz="1200" u="none" strike="noStrike" smtClean="0">
                          <a:effectLst/>
                        </a:rPr>
                        <a:t>days in Jun’26)</a:t>
                      </a:r>
                    </a:p>
                    <a:p>
                      <a:pPr marL="468000" lvl="1" algn="just" rtl="0" fontAlgn="t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 Mill (7 days in Jul’26)</a:t>
                      </a:r>
                    </a:p>
                    <a:p>
                      <a:pPr marL="468000" lvl="1" algn="just" rtl="0" fontAlgn="t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BRM (8</a:t>
                      </a:r>
                      <a:r>
                        <a:rPr lang="en-IN" sz="12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days in  Aug’26)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BF-8 (3 days in Jul’25)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SMS-2 </a:t>
                      </a:r>
                      <a:r>
                        <a:rPr lang="en-IN" sz="1200" u="none" strike="noStrike" dirty="0" err="1">
                          <a:effectLst/>
                        </a:rPr>
                        <a:t>Conv.C</a:t>
                      </a:r>
                      <a:r>
                        <a:rPr lang="en-IN" sz="1200" u="none" strike="noStrike" dirty="0">
                          <a:effectLst/>
                        </a:rPr>
                        <a:t> (</a:t>
                      </a:r>
                      <a:r>
                        <a:rPr lang="en-IN" sz="1200" u="none" strike="noStrike">
                          <a:effectLst/>
                        </a:rPr>
                        <a:t>18 </a:t>
                      </a:r>
                      <a:r>
                        <a:rPr lang="en-IN" sz="1200" u="none" strike="noStrike" smtClean="0">
                          <a:effectLst/>
                        </a:rPr>
                        <a:t>days in Apr-May’25 </a:t>
                      </a:r>
                      <a:r>
                        <a:rPr lang="en-IN" sz="1200" u="none" strike="noStrike" dirty="0">
                          <a:effectLst/>
                        </a:rPr>
                        <a:t>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SMS-3 Conv.1 (</a:t>
                      </a:r>
                      <a:r>
                        <a:rPr lang="en-IN" sz="1200" u="none" strike="noStrike">
                          <a:effectLst/>
                        </a:rPr>
                        <a:t>12 </a:t>
                      </a:r>
                      <a:r>
                        <a:rPr lang="en-IN" sz="1200" u="none" strike="noStrike" smtClean="0">
                          <a:effectLst/>
                        </a:rPr>
                        <a:t>days in Apr’25)</a:t>
                      </a:r>
                    </a:p>
                    <a:p>
                      <a:pPr lvl="1" algn="just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SMS-3 Conv 2 (13 days in Jul’25)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r>
                        <a:rPr lang="en-US" sz="1200" u="none" strike="noStrike" smtClean="0">
                          <a:effectLst/>
                        </a:rPr>
                        <a:t>RSM </a:t>
                      </a:r>
                      <a:r>
                        <a:rPr lang="en-US" sz="1200" u="none" strike="noStrike" dirty="0">
                          <a:effectLst/>
                        </a:rPr>
                        <a:t>(2 days in May’25 + 8 days in Jun’25)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URM  (7 days in Jul’25)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P Mill </a:t>
                      </a:r>
                      <a:r>
                        <a:rPr lang="en-IN" sz="1200" u="none" strike="noStrike" dirty="0">
                          <a:effectLst/>
                        </a:rPr>
                        <a:t>(</a:t>
                      </a:r>
                      <a:r>
                        <a:rPr lang="en-IN" sz="1200" u="none" strike="noStrike">
                          <a:effectLst/>
                        </a:rPr>
                        <a:t>13 </a:t>
                      </a:r>
                      <a:r>
                        <a:rPr lang="en-IN" sz="1200" u="none" strike="noStrike" smtClean="0">
                          <a:effectLst/>
                        </a:rPr>
                        <a:t>days in Apr-May’25)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359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DSP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 rtl="0" fontAlgn="t"/>
                      <a:r>
                        <a:rPr lang="en-IN" sz="1200" u="none" strike="noStrike" dirty="0">
                          <a:effectLst/>
                        </a:rPr>
                        <a:t>BF-2 (</a:t>
                      </a:r>
                      <a:r>
                        <a:rPr lang="en-IN" sz="1200" u="none" strike="noStrike">
                          <a:effectLst/>
                        </a:rPr>
                        <a:t>60 </a:t>
                      </a:r>
                      <a:r>
                        <a:rPr lang="en-IN" sz="1200" u="none" strike="noStrike" smtClean="0">
                          <a:effectLst/>
                        </a:rPr>
                        <a:t>days in Apr-Jun’26)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t"/>
                      <a:r>
                        <a:rPr lang="en-IN" sz="1200" u="none" strike="noStrike" dirty="0">
                          <a:effectLst/>
                        </a:rPr>
                        <a:t>SMS Conv.2 (</a:t>
                      </a:r>
                      <a:r>
                        <a:rPr lang="en-IN" sz="1200" u="none" strike="noStrike">
                          <a:effectLst/>
                        </a:rPr>
                        <a:t>23 </a:t>
                      </a:r>
                      <a:r>
                        <a:rPr lang="en-IN" sz="1200" u="none" strike="noStrike" smtClean="0">
                          <a:effectLst/>
                        </a:rPr>
                        <a:t>days  in Apr-May’26)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 Conv. 3 (</a:t>
                      </a:r>
                      <a:r>
                        <a:rPr lang="en-US" sz="1200" u="none" strike="noStrike">
                          <a:effectLst/>
                        </a:rPr>
                        <a:t>11 </a:t>
                      </a:r>
                      <a:r>
                        <a:rPr lang="en-US" sz="1200" u="none" strike="noStrike" smtClean="0">
                          <a:effectLst/>
                        </a:rPr>
                        <a:t>days in Jun’26)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t"/>
                      <a:r>
                        <a:rPr lang="en-IN" sz="1200" u="none" strike="noStrike" dirty="0">
                          <a:effectLst/>
                        </a:rPr>
                        <a:t>BRC (</a:t>
                      </a:r>
                      <a:r>
                        <a:rPr lang="en-IN" sz="1200" u="none" strike="noStrike">
                          <a:effectLst/>
                        </a:rPr>
                        <a:t>9 </a:t>
                      </a:r>
                      <a:r>
                        <a:rPr lang="en-IN" sz="1200" u="none" strike="noStrike" smtClean="0">
                          <a:effectLst/>
                        </a:rPr>
                        <a:t>days.in Apr-May’26)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t"/>
                      <a:r>
                        <a:rPr lang="en-IN" sz="1200" u="none" strike="noStrike" dirty="0">
                          <a:effectLst/>
                        </a:rPr>
                        <a:t>MM  ( </a:t>
                      </a:r>
                      <a:r>
                        <a:rPr lang="en-IN" sz="1200" u="none" strike="noStrike">
                          <a:effectLst/>
                        </a:rPr>
                        <a:t>13 </a:t>
                      </a:r>
                      <a:r>
                        <a:rPr lang="en-IN" sz="1200" u="none" strike="noStrike" smtClean="0">
                          <a:effectLst/>
                        </a:rPr>
                        <a:t>days in Apr-May’26)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t"/>
                      <a:r>
                        <a:rPr lang="en-IN" sz="1200" u="none" strike="noStrike" dirty="0">
                          <a:effectLst/>
                        </a:rPr>
                        <a:t>MSM (</a:t>
                      </a:r>
                      <a:r>
                        <a:rPr lang="en-IN" sz="1200" u="none" strike="noStrike">
                          <a:effectLst/>
                        </a:rPr>
                        <a:t>8 </a:t>
                      </a:r>
                      <a:r>
                        <a:rPr lang="en-IN" sz="1200" u="none" strike="noStrike" smtClean="0">
                          <a:effectLst/>
                        </a:rPr>
                        <a:t>days in Apr’26)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BF-4  (2 days in May’25 + 12 days in Jun’25)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 Conv. - 3 (</a:t>
                      </a:r>
                      <a:r>
                        <a:rPr lang="en-US" sz="1200" u="none" strike="noStrike">
                          <a:effectLst/>
                        </a:rPr>
                        <a:t>17 </a:t>
                      </a:r>
                      <a:r>
                        <a:rPr lang="en-US" sz="1200" u="none" strike="noStrike" smtClean="0">
                          <a:effectLst/>
                        </a:rPr>
                        <a:t>days in May’25)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l" fontAlgn="b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1" i="0" u="none" strike="noStrike" dirty="0">
                        <a:effectLst/>
                        <a:latin typeface="Times New Roman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MM (</a:t>
                      </a:r>
                      <a:r>
                        <a:rPr lang="en-IN" sz="1200" u="none" strike="noStrike">
                          <a:effectLst/>
                        </a:rPr>
                        <a:t>9 </a:t>
                      </a:r>
                      <a:r>
                        <a:rPr lang="en-IN" sz="1200" u="none" strike="noStrike" smtClean="0">
                          <a:effectLst/>
                        </a:rPr>
                        <a:t>days in Apr’25)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WAP (</a:t>
                      </a:r>
                      <a:r>
                        <a:rPr lang="en-IN" sz="1200" u="none" strike="noStrike">
                          <a:effectLst/>
                        </a:rPr>
                        <a:t>11 </a:t>
                      </a:r>
                      <a:r>
                        <a:rPr lang="en-IN" sz="1200" u="none" strike="noStrike" smtClean="0">
                          <a:effectLst/>
                        </a:rPr>
                        <a:t>days in May’25)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40755" y="411511"/>
            <a:ext cx="1415005" cy="42501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Major </a:t>
            </a:r>
            <a:r>
              <a:rPr lang="en-US" sz="3000" b="1"/>
              <a:t>Capital </a:t>
            </a:r>
            <a:r>
              <a:rPr lang="en-US" sz="3000" b="1" smtClean="0"/>
              <a:t>Repairs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72880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BE33-A8E2-4658-A9F5-C218009337E2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372321"/>
              </p:ext>
            </p:extLst>
          </p:nvPr>
        </p:nvGraphicFramePr>
        <p:xfrm>
          <a:off x="1415005" y="796905"/>
          <a:ext cx="7500395" cy="366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595"/>
                <a:gridCol w="2819400"/>
                <a:gridCol w="3581400"/>
              </a:tblGrid>
              <a:tr h="4320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Plant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smtClean="0">
                          <a:solidFill>
                            <a:srgbClr val="C00000"/>
                          </a:solidFill>
                          <a:effectLst/>
                        </a:rPr>
                        <a:t>Apr-Aug’26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smtClean="0">
                          <a:solidFill>
                            <a:srgbClr val="C00000"/>
                          </a:solidFill>
                          <a:effectLst/>
                        </a:rPr>
                        <a:t>Apr-Aug’25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1960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RSP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IN" sz="1200" u="none" strike="noStrike">
                          <a:effectLst/>
                        </a:rPr>
                        <a:t>SMS-1 </a:t>
                      </a:r>
                      <a:r>
                        <a:rPr lang="en-IN" sz="1200" u="none" strike="noStrike" smtClean="0">
                          <a:effectLst/>
                        </a:rPr>
                        <a:t>LD-P (10 days in Jun-Jul’26)</a:t>
                      </a: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SMS-1 LD-Q (6 days in Apr’26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SMS-2  </a:t>
                      </a:r>
                      <a:r>
                        <a:rPr lang="en-US" sz="1200" u="none" strike="noStrike" dirty="0" err="1">
                          <a:effectLst/>
                        </a:rPr>
                        <a:t>Conv.B</a:t>
                      </a:r>
                      <a:r>
                        <a:rPr lang="en-US" sz="1200" u="none" strike="noStrike" dirty="0">
                          <a:effectLst/>
                        </a:rPr>
                        <a:t> (17 days in May'26)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SMS-2  Caster-1 (7 days in June'26)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NPM (11 days in Jul’26)</a:t>
                      </a:r>
                    </a:p>
                    <a:p>
                      <a:pPr lvl="1" algn="just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HSM-2 (10 days in May’26)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BF-5 (5 days in Jul’25)</a:t>
                      </a: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SMS-1 </a:t>
                      </a:r>
                      <a:r>
                        <a:rPr lang="en-IN" sz="1200" u="none" strike="noStrike" dirty="0">
                          <a:effectLst/>
                        </a:rPr>
                        <a:t>LD-Q (</a:t>
                      </a:r>
                      <a:r>
                        <a:rPr lang="en-IN" sz="1200" u="none" strike="noStrike">
                          <a:effectLst/>
                        </a:rPr>
                        <a:t>14 </a:t>
                      </a:r>
                      <a:r>
                        <a:rPr lang="en-IN" sz="1200" u="none" strike="noStrike" smtClean="0">
                          <a:effectLst/>
                        </a:rPr>
                        <a:t>days in Jun’25)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SMS-2 Conv A (7 days in Jul’25)</a:t>
                      </a: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SMS-2  </a:t>
                      </a:r>
                      <a:r>
                        <a:rPr lang="en-IN" sz="1200" u="none" strike="noStrike" dirty="0" err="1">
                          <a:effectLst/>
                        </a:rPr>
                        <a:t>Conv.B</a:t>
                      </a:r>
                      <a:r>
                        <a:rPr lang="en-IN" sz="1200" u="none" strike="noStrike" dirty="0">
                          <a:effectLst/>
                        </a:rPr>
                        <a:t> (</a:t>
                      </a:r>
                      <a:r>
                        <a:rPr lang="en-IN" sz="1200" u="none" strike="noStrike">
                          <a:effectLst/>
                        </a:rPr>
                        <a:t>14 </a:t>
                      </a:r>
                      <a:r>
                        <a:rPr lang="en-IN" sz="1200" u="none" strike="noStrike" smtClean="0">
                          <a:effectLst/>
                        </a:rPr>
                        <a:t>days in May’25)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SMS-2  Caster-2 (7 days)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HSM-2</a:t>
                      </a:r>
                      <a:r>
                        <a:rPr lang="en-IN" sz="1200" u="none" strike="noStrike">
                          <a:effectLst/>
                        </a:rPr>
                        <a:t>: </a:t>
                      </a:r>
                      <a:r>
                        <a:rPr lang="en-IN" sz="1200" u="none" strike="noStrike" smtClean="0">
                          <a:effectLst/>
                        </a:rPr>
                        <a:t>6 days in Jul’25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60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BSL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BF-1 (4 days in Aug’26)</a:t>
                      </a:r>
                    </a:p>
                    <a:p>
                      <a:pPr lvl="1" algn="just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BF-4</a:t>
                      </a:r>
                      <a:r>
                        <a:rPr lang="en-IN" sz="12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(8 days in Jul’26)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SMS-1 Conv. D (</a:t>
                      </a:r>
                      <a:r>
                        <a:rPr lang="en-US" sz="1200" u="none" strike="noStrike">
                          <a:effectLst/>
                        </a:rPr>
                        <a:t>25 </a:t>
                      </a:r>
                      <a:r>
                        <a:rPr lang="en-US" sz="1200" u="none" strike="noStrike" smtClean="0">
                          <a:effectLst/>
                        </a:rPr>
                        <a:t>days in May’26) </a:t>
                      </a:r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SMS-2  </a:t>
                      </a:r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Conv2 (13 days in Jul’26)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r>
                        <a:rPr lang="en-IN" sz="1200" u="none" strike="noStrike" smtClean="0">
                          <a:effectLst/>
                        </a:rPr>
                        <a:t>HSM (8 days in May’26)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BF-1 (</a:t>
                      </a:r>
                      <a:r>
                        <a:rPr lang="en-IN" sz="1200" u="none" strike="noStrike">
                          <a:effectLst/>
                        </a:rPr>
                        <a:t>11 </a:t>
                      </a:r>
                      <a:r>
                        <a:rPr lang="en-IN" sz="1200" u="none" strike="noStrike" smtClean="0">
                          <a:effectLst/>
                        </a:rPr>
                        <a:t>days in Apr’25)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BF-4 (</a:t>
                      </a:r>
                      <a:r>
                        <a:rPr lang="en-IN" sz="1200" u="none" strike="noStrike">
                          <a:effectLst/>
                        </a:rPr>
                        <a:t>4 </a:t>
                      </a:r>
                      <a:r>
                        <a:rPr lang="en-IN" sz="1200" u="none" strike="noStrike" smtClean="0">
                          <a:effectLst/>
                        </a:rPr>
                        <a:t>days in Jun’25)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SMS-1 Conv. D (</a:t>
                      </a:r>
                      <a:r>
                        <a:rPr lang="en-US" sz="1200" u="none" strike="noStrike">
                          <a:effectLst/>
                        </a:rPr>
                        <a:t>11 </a:t>
                      </a:r>
                      <a:r>
                        <a:rPr lang="en-US" sz="1200" u="none" strike="noStrike" smtClean="0">
                          <a:effectLst/>
                        </a:rPr>
                        <a:t>days in May’25)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SMS-1 Conv. E </a:t>
                      </a:r>
                      <a:r>
                        <a:rPr lang="en-US" sz="1200" u="none" strike="noStrike">
                          <a:effectLst/>
                        </a:rPr>
                        <a:t>(</a:t>
                      </a:r>
                      <a:r>
                        <a:rPr lang="en-US" sz="1200" u="none" strike="noStrike" smtClean="0">
                          <a:effectLst/>
                        </a:rPr>
                        <a:t>17 days</a:t>
                      </a:r>
                      <a:r>
                        <a:rPr lang="en-US" sz="1200" u="none" strike="noStrike" baseline="0" smtClean="0">
                          <a:effectLst/>
                        </a:rPr>
                        <a:t> in Jun-Jul’25)</a:t>
                      </a:r>
                      <a:r>
                        <a:rPr lang="en-US" sz="1200" u="none" strike="noStrike" smtClean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65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ISP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BF-5 (13 days in May'26)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WRM (13 days in May'26)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>
                          <a:effectLst/>
                        </a:rPr>
                        <a:t>Bar </a:t>
                      </a:r>
                      <a:r>
                        <a:rPr lang="en-US" sz="1200" u="none" strike="noStrike" smtClean="0">
                          <a:effectLst/>
                        </a:rPr>
                        <a:t>Mill (</a:t>
                      </a:r>
                      <a:r>
                        <a:rPr lang="en-US" sz="1200" u="none" strike="noStrike" dirty="0">
                          <a:effectLst/>
                        </a:rPr>
                        <a:t>17 days  in May'26)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USM (22 days  in May'26)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just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r>
                        <a:rPr lang="en-IN" sz="1200" u="none" strike="noStrike" smtClean="0">
                          <a:effectLst/>
                        </a:rPr>
                        <a:t>Conv 2 (12 days in Apr-May’25)</a:t>
                      </a:r>
                      <a:endParaRPr lang="en-IN" sz="1200" b="0" i="0" u="none" strike="noStrike" dirty="0">
                        <a:effectLst/>
                        <a:latin typeface="Arial"/>
                      </a:endParaRPr>
                    </a:p>
                  </a:txBody>
                  <a:tcPr marL="5355" marR="5355" marT="535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40755" y="411511"/>
            <a:ext cx="1415005" cy="42501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Major </a:t>
            </a:r>
            <a:r>
              <a:rPr lang="en-US" sz="3000" b="1"/>
              <a:t>Capital </a:t>
            </a:r>
            <a:r>
              <a:rPr lang="en-US" sz="3000" b="1" smtClean="0"/>
              <a:t>Repairs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115471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04491"/>
            <a:ext cx="8077200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34" tIns="45717" rIns="91434" bIns="45717" rtlCol="0" anchor="ctr">
            <a:noAutofit/>
          </a:bodyPr>
          <a:lstStyle/>
          <a:p>
            <a:r>
              <a:rPr lang="en-IN" sz="2800" b="1">
                <a:solidFill>
                  <a:srgbClr val="0000FF"/>
                </a:solidFill>
              </a:rPr>
              <a:t>BSP: Major Breakdowns/Delays during </a:t>
            </a:r>
            <a:r>
              <a:rPr lang="en-IN" sz="2800" b="1" smtClean="0">
                <a:solidFill>
                  <a:srgbClr val="0000FF"/>
                </a:solidFill>
              </a:rPr>
              <a:t>Sep’26</a:t>
            </a:r>
            <a:endParaRPr lang="en-IN" sz="2800" b="1">
              <a:solidFill>
                <a:srgbClr val="0000FF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032110"/>
              </p:ext>
            </p:extLst>
          </p:nvPr>
        </p:nvGraphicFramePr>
        <p:xfrm>
          <a:off x="25020" y="1122108"/>
          <a:ext cx="9042779" cy="34747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72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69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8642">
                <a:tc>
                  <a:txBody>
                    <a:bodyPr/>
                    <a:lstStyle/>
                    <a:p>
                      <a:pPr algn="ctr"/>
                      <a:r>
                        <a:rPr lang="en-IN" b="1" smtClean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BFs</a:t>
                      </a:r>
                      <a:endParaRPr lang="en-IN" b="1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BF#4: </a:t>
                      </a:r>
                      <a:r>
                        <a:rPr lang="en-US" sz="1800" kern="1200" baseline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BLT chute changing &amp; revival-15 days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18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BF#7: </a:t>
                      </a:r>
                      <a:r>
                        <a:rPr lang="en-US" sz="1800" b="1" kern="1200" baseline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Multiple slipping &amp; revival- 3  days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8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BF#8: </a:t>
                      </a:r>
                      <a:r>
                        <a:rPr lang="en-US" sz="1800" b="1" kern="1200" baseline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HBV of  Stove#2 &amp; BLT chute changing  (5+3 days)</a:t>
                      </a:r>
                    </a:p>
                    <a:p>
                      <a:endParaRPr lang="en-IN" baseline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68642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Mills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b="1" smtClean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RSM</a:t>
                      </a:r>
                      <a:r>
                        <a:rPr lang="en-IN" b="1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: </a:t>
                      </a:r>
                      <a:r>
                        <a:rPr lang="en-US" sz="1800" b="1" kern="1200" baseline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CR from 19th Sept26- Contd</a:t>
                      </a:r>
                    </a:p>
                    <a:p>
                      <a:endParaRPr lang="en-IN" baseline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r>
                        <a:rPr lang="en-IN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MM, WRM, BRM : </a:t>
                      </a:r>
                      <a:r>
                        <a:rPr lang="en-IN" sz="1800" b="1" kern="1200" baseline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Input Billet / BF Gas constraints</a:t>
                      </a:r>
                    </a:p>
                    <a:p>
                      <a:endParaRPr lang="en-IN" baseline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lvl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baseline="0" smtClean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Plate Mill: </a:t>
                      </a:r>
                      <a:r>
                        <a:rPr lang="en-US" sz="1800" b="1" kern="1200" baseline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 RHFs operation for 11 days (Repair of RHF-1&amp;3</a:t>
                      </a:r>
                    </a:p>
                    <a:p>
                      <a:r>
                        <a:rPr lang="en-IN" baseline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en-IN" baseline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11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04491"/>
            <a:ext cx="8839200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34" tIns="45717" rIns="91434" bIns="45717" rtlCol="0" anchor="ctr">
            <a:noAutofit/>
          </a:bodyPr>
          <a:lstStyle/>
          <a:p>
            <a:r>
              <a:rPr lang="en-IN" sz="2700" b="1">
                <a:solidFill>
                  <a:srgbClr val="0000FF"/>
                </a:solidFill>
              </a:rPr>
              <a:t>DSP: Major Breakdowns/Delays during </a:t>
            </a:r>
            <a:r>
              <a:rPr lang="en-IN" sz="2700" b="1" smtClean="0">
                <a:solidFill>
                  <a:srgbClr val="0000FF"/>
                </a:solidFill>
              </a:rPr>
              <a:t>Apr-26 &amp; Apr-Sep’26</a:t>
            </a:r>
            <a:endParaRPr lang="en-IN" sz="2700" b="1">
              <a:solidFill>
                <a:srgbClr val="0000FF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201805"/>
              </p:ext>
            </p:extLst>
          </p:nvPr>
        </p:nvGraphicFramePr>
        <p:xfrm>
          <a:off x="25020" y="941070"/>
          <a:ext cx="9042779" cy="35814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72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69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  <a:p>
                      <a:pPr marL="13335" marR="635"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5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BFs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smtClean="0">
                          <a:solidFill>
                            <a:srgbClr val="0000FF"/>
                          </a:solidFill>
                          <a:latin typeface="+mj-lt"/>
                          <a:ea typeface="+mj-ea"/>
                          <a:cs typeface="+mj-cs"/>
                        </a:rPr>
                        <a:t>Sep’26:</a:t>
                      </a:r>
                    </a:p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MSM: </a:t>
                      </a:r>
                      <a:r>
                        <a:rPr lang="en-US" sz="2000" b="0" kern="120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Regular</a:t>
                      </a:r>
                      <a:r>
                        <a:rPr lang="en-US" sz="2000" b="0" kern="1200" baseline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Operational &amp; </a:t>
                      </a:r>
                      <a:r>
                        <a:rPr lang="en-US" sz="2000" b="0" kern="120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Mechanical Issues</a:t>
                      </a:r>
                    </a:p>
                    <a:p>
                      <a:pPr marL="91440" algn="l" defTabSz="914331" rtl="0" eaLnBrk="1" latinLnBrk="0" hangingPunct="1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smtClean="0">
                          <a:solidFill>
                            <a:srgbClr val="0000FF"/>
                          </a:solidFill>
                          <a:latin typeface="+mj-lt"/>
                          <a:ea typeface="+mj-ea"/>
                          <a:cs typeface="+mj-cs"/>
                        </a:rPr>
                        <a:t>Apr-Sep’26:</a:t>
                      </a:r>
                    </a:p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BF-2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2000" b="1" spc="-4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Extended</a:t>
                      </a:r>
                      <a:r>
                        <a:rPr lang="en-US" sz="20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CR</a:t>
                      </a:r>
                      <a:r>
                        <a:rPr lang="en-US" sz="2000" b="0" spc="17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(Took</a:t>
                      </a:r>
                      <a:r>
                        <a:rPr lang="en-US" sz="2000" b="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en-US" sz="2000" b="0" spc="-3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days</a:t>
                      </a:r>
                      <a:r>
                        <a:rPr lang="en-US" sz="2000" b="0" spc="-2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more</a:t>
                      </a:r>
                      <a:r>
                        <a:rPr lang="en-US" sz="2000" b="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than</a:t>
                      </a:r>
                      <a:r>
                        <a:rPr lang="en-US" sz="2000" b="0" spc="-3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Plan</a:t>
                      </a:r>
                      <a:r>
                        <a:rPr lang="en-US" sz="2000" b="0" spc="-4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2000" b="0" spc="-4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lang="en-US" sz="2000" b="0" spc="-3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days,</a:t>
                      </a:r>
                      <a:r>
                        <a:rPr lang="en-US" sz="2000" b="0" spc="-10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Apr-Jun’26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20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spc="-15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000" b="0" spc="-15" baseline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      </a:t>
                      </a:r>
                    </a:p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-15" baseline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US" sz="2000" b="0" spc="-5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lang="en-IN" sz="2000" b="0" spc="0" baseline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Extended</a:t>
                      </a:r>
                      <a:r>
                        <a:rPr lang="en-US" sz="2000" b="0" spc="-5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stabilisation</a:t>
                      </a:r>
                      <a:r>
                        <a:rPr lang="en-US" sz="2000" b="0" spc="-4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after</a:t>
                      </a:r>
                      <a:r>
                        <a:rPr lang="en-US" sz="2000" b="0" spc="-8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CR</a:t>
                      </a:r>
                      <a:r>
                        <a:rPr lang="en-US" sz="2000" b="0" spc="-5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(Took</a:t>
                      </a:r>
                      <a:r>
                        <a:rPr lang="en-US" sz="2000" b="0" spc="-7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sz="2000" b="0" spc="-7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days</a:t>
                      </a:r>
                      <a:r>
                        <a:rPr lang="en-US" sz="2000" b="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) </a:t>
                      </a:r>
                      <a:endParaRPr lang="en-US" sz="2000" b="0" spc="-1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  <a:p>
                      <a:pPr marL="85725" indent="0" algn="l"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2000" b="1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BF-3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 b="1" spc="-25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4:</a:t>
                      </a:r>
                      <a:r>
                        <a:rPr lang="en-US" sz="2000" b="1" spc="-15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Shutdown</a:t>
                      </a:r>
                      <a:r>
                        <a:rPr lang="en-US" sz="2000" b="0" spc="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sz="20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view</a:t>
                      </a:r>
                      <a:r>
                        <a:rPr lang="en-US" sz="2000" b="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2000" b="0" spc="-1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SMS</a:t>
                      </a:r>
                      <a:r>
                        <a:rPr lang="en-US" sz="20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Flare</a:t>
                      </a:r>
                      <a:r>
                        <a:rPr lang="en-US" sz="2000" b="0" spc="-1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lang="en-US" sz="20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repair</a:t>
                      </a:r>
                      <a:r>
                        <a:rPr lang="en-US" sz="2000" b="0" spc="-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job</a:t>
                      </a:r>
                      <a:r>
                        <a:rPr lang="en-US" sz="2000" b="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(48</a:t>
                      </a:r>
                      <a:r>
                        <a:rPr lang="en-US" sz="2000" b="0" spc="-3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Hrs</a:t>
                      </a:r>
                      <a:r>
                        <a:rPr lang="en-US" sz="2000" b="0" spc="-1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each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 b="0" spc="-10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spc="-105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85725" indent="0" algn="l"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-105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                    </a:t>
                      </a:r>
                      <a:r>
                        <a:rPr lang="en-US" sz="2000" b="0" spc="-1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Apr’26)</a:t>
                      </a:r>
                      <a:endParaRPr lang="en-IN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7075" lvl="0" indent="-727075" algn="l" defTabSz="914331" rtl="0" eaLnBrk="1" latinLnBrk="0" hangingPunct="1"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Shop Shutdown for Flare Stack Repair (48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Hrs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during Apr’26</a:t>
                      </a: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   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1896"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MSM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Extended CR (Plan: 6 days, Actual: 8 days, Apr’26</a:t>
                      </a: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endParaRPr lang="en-US" sz="2000" kern="120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M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Mill: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Extended CR (Plan: 10 days, Actual: 13 days, Apr-May’26</a:t>
                      </a:r>
                      <a:r>
                        <a:rPr lang="en-US" sz="20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endParaRPr lang="en-US" sz="2000" kern="120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70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04491"/>
            <a:ext cx="8077200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34" tIns="45717" rIns="91434" bIns="45717" rtlCol="0" anchor="ctr">
            <a:noAutofit/>
          </a:bodyPr>
          <a:lstStyle/>
          <a:p>
            <a:r>
              <a:rPr lang="en-IN" sz="2800" b="1">
                <a:solidFill>
                  <a:srgbClr val="0000FF"/>
                </a:solidFill>
              </a:rPr>
              <a:t>RSP: Major Breakdowns/Delays during </a:t>
            </a:r>
            <a:r>
              <a:rPr lang="en-IN" sz="2800" b="1" smtClean="0">
                <a:solidFill>
                  <a:srgbClr val="0000FF"/>
                </a:solidFill>
              </a:rPr>
              <a:t>Sep’26</a:t>
            </a:r>
            <a:endParaRPr lang="en-IN" sz="2800" b="1">
              <a:solidFill>
                <a:srgbClr val="0000FF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086202"/>
              </p:ext>
            </p:extLst>
          </p:nvPr>
        </p:nvGraphicFramePr>
        <p:xfrm>
          <a:off x="0" y="1047750"/>
          <a:ext cx="9144000" cy="370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3784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061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Mills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HSM-2 : </a:t>
                      </a:r>
                      <a:r>
                        <a:rPr lang="en-IN" b="0" baseline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Single RHF operation for 6.5 days (roof brick fallen) </a:t>
                      </a:r>
                      <a:endParaRPr lang="en-IN" b="0" baseline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712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04491"/>
            <a:ext cx="8077200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34" tIns="45717" rIns="91434" bIns="45717" rtlCol="0" anchor="ctr">
            <a:noAutofit/>
          </a:bodyPr>
          <a:lstStyle/>
          <a:p>
            <a:r>
              <a:rPr lang="en-IN" sz="2400" b="1" dirty="0">
                <a:solidFill>
                  <a:srgbClr val="0000FF"/>
                </a:solidFill>
              </a:rPr>
              <a:t>ISP: Major Breakdowns/Delays </a:t>
            </a:r>
            <a:r>
              <a:rPr lang="en-IN" sz="2400" b="1">
                <a:solidFill>
                  <a:srgbClr val="0000FF"/>
                </a:solidFill>
              </a:rPr>
              <a:t>during </a:t>
            </a:r>
            <a:r>
              <a:rPr lang="en-IN" sz="2400" b="1" smtClean="0">
                <a:solidFill>
                  <a:srgbClr val="0000FF"/>
                </a:solidFill>
              </a:rPr>
              <a:t>Sep’26 &amp; Apr-Sep’26</a:t>
            </a:r>
            <a:endParaRPr lang="en-IN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059595"/>
              </p:ext>
            </p:extLst>
          </p:nvPr>
        </p:nvGraphicFramePr>
        <p:xfrm>
          <a:off x="25020" y="951230"/>
          <a:ext cx="9042779" cy="31699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72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69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3335" marR="635"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5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BF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spc="-25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Sep’26:</a:t>
                      </a:r>
                    </a:p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Restricted sinter production due to</a:t>
                      </a:r>
                      <a:r>
                        <a:rPr lang="en-US" sz="1800" b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wet &amp; sticky Raw Materails</a:t>
                      </a:r>
                      <a:endParaRPr lang="en-US" sz="1800" b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spc="-25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Apr-Sep’26:</a:t>
                      </a:r>
                    </a:p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 of BF-5 (Plan: 10 days, Actual: 13 days, 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May’26</a:t>
                      </a:r>
                      <a:r>
                        <a:rPr lang="en-US" sz="18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BOF-3: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Failure of Non-drive end bearing of Tilting mechanism (10 days, Jul’26)</a:t>
                      </a:r>
                      <a:endParaRPr lang="en-IN" sz="2000" kern="1200" spc="-1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WRM: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CR (Plan: 10 days, Actual: 13 days in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May’26</a:t>
                      </a:r>
                      <a:r>
                        <a:rPr 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 Mill: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CR (Plan: 11 days, Actual: 17 days in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May’26</a:t>
                      </a:r>
                      <a:r>
                        <a:rPr 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USM: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CR (Plan: 11 days, Actual: 22 days in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May’26</a:t>
                      </a:r>
                      <a:r>
                        <a:rPr lang="en-US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2000" b="1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09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SAIL Techno  Performance</a:t>
            </a:r>
            <a:endParaRPr lang="en-IN" b="1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0392263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4921272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1258392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2995505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8966590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6718009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37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smtClean="0"/>
              <a:t>BSP </a:t>
            </a:r>
            <a:r>
              <a:rPr lang="en-US" b="1" dirty="0"/>
              <a:t>Techno  Performance</a:t>
            </a:r>
            <a:endParaRPr lang="en-IN" b="1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90023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9014937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980205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6342829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1440549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406132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73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smtClean="0"/>
              <a:t>DSP </a:t>
            </a:r>
            <a:r>
              <a:rPr lang="en-US" b="1" dirty="0"/>
              <a:t>Techno  Performance</a:t>
            </a:r>
            <a:endParaRPr lang="en-IN" b="1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1453519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1791173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9317226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1247700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8194654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594120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06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smtClean="0"/>
              <a:t>RSP </a:t>
            </a:r>
            <a:r>
              <a:rPr lang="en-US" b="1" dirty="0"/>
              <a:t>Techno  Performance</a:t>
            </a:r>
            <a:endParaRPr lang="en-IN" b="1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3041635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129279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6838454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002228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0259505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063450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74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smtClean="0"/>
              <a:t>BSL </a:t>
            </a:r>
            <a:r>
              <a:rPr lang="en-US" b="1" dirty="0"/>
              <a:t>Techno  Performance</a:t>
            </a:r>
            <a:endParaRPr lang="en-IN" b="1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681891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5245546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2859043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146580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50136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0229873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86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smtClean="0"/>
              <a:t>ISP </a:t>
            </a:r>
            <a:r>
              <a:rPr lang="en-US" b="1" dirty="0"/>
              <a:t>Techno  Performance</a:t>
            </a:r>
            <a:endParaRPr lang="en-IN" b="1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059741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9931816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9882536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4833393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767888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art 18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4891277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0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2685</TotalTime>
  <Words>2796</Words>
  <Application>Microsoft Office PowerPoint</Application>
  <PresentationFormat>On-screen Show (16:9)</PresentationFormat>
  <Paragraphs>1142</Paragraphs>
  <Slides>30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Office Theme</vt:lpstr>
      <vt:lpstr>1_Office Theme</vt:lpstr>
      <vt:lpstr>8_Office Theme</vt:lpstr>
      <vt:lpstr>PowerPoint Presentation</vt:lpstr>
      <vt:lpstr>SAIL Performance : Sep’26 &amp; Apr-Sep’26</vt:lpstr>
      <vt:lpstr>SAIL Plant-wise Performance : Sep’26 &amp; Apr-Sep’26</vt:lpstr>
      <vt:lpstr>Major Breakdowns/Delays during Sep’26 &amp; Apr-Sep’26</vt:lpstr>
      <vt:lpstr>SAIL Plant-wise Performance : Sep’26 &amp; Apr-Sep’26</vt:lpstr>
      <vt:lpstr>Major Breakdowns/Delays during Sep’26 &amp; Apr-Sep’26</vt:lpstr>
      <vt:lpstr>SAIL Techno  Performance (Apr-Sep’26)</vt:lpstr>
      <vt:lpstr>BSP Performance : Sep’26 &amp; Apr-Sep’26</vt:lpstr>
      <vt:lpstr>BSP Techno  Performance</vt:lpstr>
      <vt:lpstr>DSP Performance : Sep’26 &amp; Apr-Sep’26</vt:lpstr>
      <vt:lpstr>DSP Techno  Performance</vt:lpstr>
      <vt:lpstr>RSP Performance : Sep’26 &amp; Apr-Sep’26</vt:lpstr>
      <vt:lpstr>RSP Techno  Performance</vt:lpstr>
      <vt:lpstr>BSL Performance : Sep’26 &amp; Apr-Sep’26</vt:lpstr>
      <vt:lpstr>BSL Techno  Performance</vt:lpstr>
      <vt:lpstr>ISP Performance : Sep’26 &amp; Apr-Sep’26</vt:lpstr>
      <vt:lpstr>ISP Techno  Performance</vt:lpstr>
      <vt:lpstr>PowerPoint Presentation</vt:lpstr>
      <vt:lpstr>PowerPoint Presentation</vt:lpstr>
      <vt:lpstr>PowerPoint Presentation</vt:lpstr>
      <vt:lpstr>BSP: Major Breakdowns/Delays during Sep’26</vt:lpstr>
      <vt:lpstr>DSP: Major Breakdowns/Delays during Apr-26 &amp; Apr-Sep’26</vt:lpstr>
      <vt:lpstr>RSP: Major Breakdowns/Delays during Sep’26</vt:lpstr>
      <vt:lpstr>ISP: Major Breakdowns/Delays during Sep’26 &amp; Apr-Sep’26</vt:lpstr>
      <vt:lpstr>SAIL Techno  Performance</vt:lpstr>
      <vt:lpstr>BSP Techno  Performance</vt:lpstr>
      <vt:lpstr>DSP Techno  Performance</vt:lpstr>
      <vt:lpstr>RSP Techno  Performance</vt:lpstr>
      <vt:lpstr>BSL Techno  Performance</vt:lpstr>
      <vt:lpstr>ISP Techno  Performance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Sushant Kumar</dc:creator>
  <cp:lastModifiedBy>SAIL</cp:lastModifiedBy>
  <cp:revision>224</cp:revision>
  <cp:lastPrinted>2026-10-03T08:25:31Z</cp:lastPrinted>
  <dcterms:created xsi:type="dcterms:W3CDTF">2006-08-16T00:00:00Z</dcterms:created>
  <dcterms:modified xsi:type="dcterms:W3CDTF">2026-10-03T09:24:53Z</dcterms:modified>
</cp:coreProperties>
</file>