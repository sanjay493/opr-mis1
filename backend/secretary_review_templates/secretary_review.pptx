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charts/chart72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drawings/drawing1.xml" ContentType="application/vnd.openxmlformats-officedocument.drawingml.chartshapes+xml"/>
  <Override PartName="/ppt/drawings/drawing10.xml" ContentType="application/vnd.openxmlformats-officedocument.drawingml.chartshapes+xml"/>
  <Override PartName="/ppt/drawings/drawing11.xml" ContentType="application/vnd.openxmlformats-officedocument.drawingml.chartshapes+xml"/>
  <Override PartName="/ppt/drawings/drawing12.xml" ContentType="application/vnd.openxmlformats-officedocument.drawingml.chartshapes+xml"/>
  <Override PartName="/ppt/drawings/drawing2.xml" ContentType="application/vnd.openxmlformats-officedocument.drawingml.chartshapes+xml"/>
  <Override PartName="/ppt/drawings/drawing3.xml" ContentType="application/vnd.openxmlformats-officedocument.drawingml.chartshapes+xml"/>
  <Override PartName="/ppt/drawings/drawing4.xml" ContentType="application/vnd.openxmlformats-officedocument.drawingml.chartshapes+xml"/>
  <Override PartName="/ppt/drawings/drawing5.xml" ContentType="application/vnd.openxmlformats-officedocument.drawingml.chartshapes+xml"/>
  <Override PartName="/ppt/drawings/drawing6.xml" ContentType="application/vnd.openxmlformats-officedocument.drawingml.chartshapes+xml"/>
  <Override PartName="/ppt/drawings/drawing7.xml" ContentType="application/vnd.openxmlformats-officedocument.drawingml.chartshapes+xml"/>
  <Override PartName="/ppt/drawings/drawing8.xml" ContentType="application/vnd.openxmlformats-officedocument.drawingml.chartshapes+xml"/>
  <Override PartName="/ppt/drawings/drawing9.xml" ContentType="application/vnd.openxmlformats-officedocument.drawingml.chartshap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ppt/theme/themeOverride4.xml" ContentType="application/vnd.openxmlformats-officedocument.themeOverride+xml"/>
  <Override PartName="/ppt/theme/themeOverride40.xml" ContentType="application/vnd.openxmlformats-officedocument.themeOverride+xml"/>
  <Override PartName="/ppt/theme/themeOverride41.xml" ContentType="application/vnd.openxmlformats-officedocument.themeOverride+xml"/>
  <Override PartName="/ppt/theme/themeOverride42.xml" ContentType="application/vnd.openxmlformats-officedocument.themeOverride+xml"/>
  <Override PartName="/ppt/theme/themeOverride43.xml" ContentType="application/vnd.openxmlformats-officedocument.themeOverride+xml"/>
  <Override PartName="/ppt/theme/themeOverride44.xml" ContentType="application/vnd.openxmlformats-officedocument.themeOverride+xml"/>
  <Override PartName="/ppt/theme/themeOverride45.xml" ContentType="application/vnd.openxmlformats-officedocument.themeOverride+xml"/>
  <Override PartName="/ppt/theme/themeOverride46.xml" ContentType="application/vnd.openxmlformats-officedocument.themeOverride+xml"/>
  <Override PartName="/ppt/theme/themeOverride47.xml" ContentType="application/vnd.openxmlformats-officedocument.themeOverride+xml"/>
  <Override PartName="/ppt/theme/themeOverride48.xml" ContentType="application/vnd.openxmlformats-officedocument.themeOverride+xml"/>
  <Override PartName="/ppt/theme/themeOverride49.xml" ContentType="application/vnd.openxmlformats-officedocument.themeOverride+xml"/>
  <Override PartName="/ppt/theme/themeOverride5.xml" ContentType="application/vnd.openxmlformats-officedocument.themeOverride+xml"/>
  <Override PartName="/ppt/theme/themeOverride50.xml" ContentType="application/vnd.openxmlformats-officedocument.themeOverride+xml"/>
  <Override PartName="/ppt/theme/themeOverride51.xml" ContentType="application/vnd.openxmlformats-officedocument.themeOverride+xml"/>
  <Override PartName="/ppt/theme/themeOverride52.xml" ContentType="application/vnd.openxmlformats-officedocument.themeOverride+xml"/>
  <Override PartName="/ppt/theme/themeOverride53.xml" ContentType="application/vnd.openxmlformats-officedocument.themeOverride+xml"/>
  <Override PartName="/ppt/theme/themeOverride54.xml" ContentType="application/vnd.openxmlformats-officedocument.themeOverride+xml"/>
  <Override PartName="/ppt/theme/themeOverride55.xml" ContentType="application/vnd.openxmlformats-officedocument.themeOverride+xml"/>
  <Override PartName="/ppt/theme/themeOverride56.xml" ContentType="application/vnd.openxmlformats-officedocument.themeOverride+xml"/>
  <Override PartName="/ppt/theme/themeOverride57.xml" ContentType="application/vnd.openxmlformats-officedocument.themeOverride+xml"/>
  <Override PartName="/ppt/theme/themeOverride58.xml" ContentType="application/vnd.openxmlformats-officedocument.themeOverride+xml"/>
  <Override PartName="/ppt/theme/themeOverride59.xml" ContentType="application/vnd.openxmlformats-officedocument.themeOverride+xml"/>
  <Override PartName="/ppt/theme/themeOverride6.xml" ContentType="application/vnd.openxmlformats-officedocument.themeOverride+xml"/>
  <Override PartName="/ppt/theme/themeOverride60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806" r:id="rId3"/>
  </p:sldMasterIdLst>
  <p:notesMasterIdLst>
    <p:notesMasterId r:id="rId34"/>
  </p:notesMasterIdLst>
  <p:handoutMasterIdLst>
    <p:handoutMasterId r:id="rId35"/>
  </p:handoutMasterIdLst>
  <p:sldIdLst>
    <p:sldId id="256" r:id="rId4"/>
    <p:sldId id="830" r:id="rId5"/>
    <p:sldId id="859" r:id="rId6"/>
    <p:sldId id="860" r:id="rId7"/>
    <p:sldId id="861" r:id="rId8"/>
    <p:sldId id="862" r:id="rId9"/>
    <p:sldId id="873" r:id="rId10"/>
    <p:sldId id="822" r:id="rId11"/>
    <p:sldId id="874" r:id="rId12"/>
    <p:sldId id="824" r:id="rId13"/>
    <p:sldId id="875" r:id="rId14"/>
    <p:sldId id="825" r:id="rId15"/>
    <p:sldId id="876" r:id="rId16"/>
    <p:sldId id="826" r:id="rId17"/>
    <p:sldId id="877" r:id="rId18"/>
    <p:sldId id="827" r:id="rId19"/>
    <p:sldId id="878" r:id="rId20"/>
    <p:sldId id="811" r:id="rId21"/>
    <p:sldId id="816" r:id="rId22"/>
    <p:sldId id="858" r:id="rId23"/>
    <p:sldId id="868" r:id="rId24"/>
    <p:sldId id="869" r:id="rId25"/>
    <p:sldId id="870" r:id="rId26"/>
    <p:sldId id="871" r:id="rId27"/>
    <p:sldId id="863" r:id="rId28"/>
    <p:sldId id="872" r:id="rId29"/>
    <p:sldId id="864" r:id="rId30"/>
    <p:sldId id="865" r:id="rId31"/>
    <p:sldId id="866" r:id="rId32"/>
    <p:sldId id="867" r:id="rId33"/>
  </p:sldIdLst>
  <p:sldSz cx="9144000" cy="5143500" type="screen16x9"/>
  <p:notesSz cx="6797675" cy="9926638"/>
  <p:defaultTextStyle>
    <a:defPPr>
      <a:defRPr lang="en-US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6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4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6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88" autoAdjust="0"/>
    <p:restoredTop sz="98043" autoAdjust="0"/>
  </p:normalViewPr>
  <p:slideViewPr>
    <p:cSldViewPr>
      <p:cViewPr>
        <p:scale>
          <a:sx n="80" d="100"/>
          <a:sy n="80" d="100"/>
        </p:scale>
        <p:origin x="-1638" y="-30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826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6.xml"/><Relationship Id="rId2" Type="http://schemas.openxmlformats.org/officeDocument/2006/relationships/package" Target="../embeddings/Microsoft_Excel_Worksheet6.xlsx"/><Relationship Id="rId3" Type="http://schemas.openxmlformats.org/officeDocument/2006/relationships/chartUserShapes" Target="../drawings/drawing1.xm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Relationship Id="rId2" Type="http://schemas.openxmlformats.org/officeDocument/2006/relationships/chartUserShapes" Target="../drawings/drawing2.xml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7.xml"/><Relationship Id="rId2" Type="http://schemas.openxmlformats.org/officeDocument/2006/relationships/package" Target="../embeddings/Microsoft_Excel_Work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8.xml"/><Relationship Id="rId2" Type="http://schemas.openxmlformats.org/officeDocument/2006/relationships/package" Target="../embeddings/Microsoft_Excel_Work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9.xml"/><Relationship Id="rId2" Type="http://schemas.openxmlformats.org/officeDocument/2006/relationships/package" Target="../embeddings/Microsoft_Excel_Work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0.xml"/><Relationship Id="rId2" Type="http://schemas.openxmlformats.org/officeDocument/2006/relationships/package" Target="../embeddings/Microsoft_Excel_Work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1.xml"/><Relationship Id="rId2" Type="http://schemas.openxmlformats.org/officeDocument/2006/relationships/package" Target="../embeddings/Microsoft_Excel_Work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2.xml"/><Relationship Id="rId2" Type="http://schemas.openxmlformats.org/officeDocument/2006/relationships/package" Target="../embeddings/Microsoft_Excel_Worksheet18.xlsx"/><Relationship Id="rId3" Type="http://schemas.openxmlformats.org/officeDocument/2006/relationships/chartUserShapes" Target="../drawings/drawing3.xml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3.xml"/><Relationship Id="rId2" Type="http://schemas.openxmlformats.org/officeDocument/2006/relationships/package" Target="../embeddings/Microsoft_Excel_Work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4.xml"/><Relationship Id="rId2" Type="http://schemas.openxmlformats.org/officeDocument/2006/relationships/package" Target="../embeddings/Microsoft_Excel_Work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5.xml"/><Relationship Id="rId2" Type="http://schemas.openxmlformats.org/officeDocument/2006/relationships/package" Target="../embeddings/Microsoft_Excel_Work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6.xml"/><Relationship Id="rId2" Type="http://schemas.openxmlformats.org/officeDocument/2006/relationships/package" Target="../embeddings/Microsoft_Excel_Work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7.xml"/><Relationship Id="rId2" Type="http://schemas.openxmlformats.org/officeDocument/2006/relationships/package" Target="../embeddings/Microsoft_Excel_Work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8.xml"/><Relationship Id="rId2" Type="http://schemas.openxmlformats.org/officeDocument/2006/relationships/package" Target="../embeddings/Microsoft_Excel_Worksheet24.xlsx"/><Relationship Id="rId3" Type="http://schemas.openxmlformats.org/officeDocument/2006/relationships/chartUserShapes" Target="../drawings/drawing4.xml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9.xml"/><Relationship Id="rId2" Type="http://schemas.openxmlformats.org/officeDocument/2006/relationships/package" Target="../embeddings/Microsoft_Excel_Work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0.xml"/><Relationship Id="rId2" Type="http://schemas.openxmlformats.org/officeDocument/2006/relationships/package" Target="../embeddings/Microsoft_Excel_Work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1.xml"/><Relationship Id="rId2" Type="http://schemas.openxmlformats.org/officeDocument/2006/relationships/package" Target="../embeddings/Microsoft_Excel_Work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2.xml"/><Relationship Id="rId2" Type="http://schemas.openxmlformats.org/officeDocument/2006/relationships/package" Target="../embeddings/Microsoft_Excel_Work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3.xml"/><Relationship Id="rId2" Type="http://schemas.openxmlformats.org/officeDocument/2006/relationships/package" Target="../embeddings/Microsoft_Excel_Work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4.xml"/><Relationship Id="rId2" Type="http://schemas.openxmlformats.org/officeDocument/2006/relationships/package" Target="../embeddings/Microsoft_Excel_Worksheet30.xlsx"/><Relationship Id="rId3" Type="http://schemas.openxmlformats.org/officeDocument/2006/relationships/chartUserShapes" Target="../drawings/drawing5.xml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5.xml"/><Relationship Id="rId2" Type="http://schemas.openxmlformats.org/officeDocument/2006/relationships/package" Target="../embeddings/Microsoft_Excel_Work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6.xml"/><Relationship Id="rId2" Type="http://schemas.openxmlformats.org/officeDocument/2006/relationships/package" Target="../embeddings/Microsoft_Excel_Work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7.xml"/><Relationship Id="rId2" Type="http://schemas.openxmlformats.org/officeDocument/2006/relationships/package" Target="../embeddings/Microsoft_Excel_Work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8.xml"/><Relationship Id="rId2" Type="http://schemas.openxmlformats.org/officeDocument/2006/relationships/package" Target="../embeddings/Microsoft_Excel_Work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9.xml"/><Relationship Id="rId2" Type="http://schemas.openxmlformats.org/officeDocument/2006/relationships/package" Target="../embeddings/Microsoft_Excel_Work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0.xml"/><Relationship Id="rId2" Type="http://schemas.openxmlformats.org/officeDocument/2006/relationships/package" Target="../embeddings/Microsoft_Excel_Worksheet36.xlsx"/><Relationship Id="rId3" Type="http://schemas.openxmlformats.org/officeDocument/2006/relationships/chartUserShapes" Target="../drawings/drawing6.xml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1.xml"/><Relationship Id="rId2" Type="http://schemas.openxmlformats.org/officeDocument/2006/relationships/package" Target="../embeddings/Microsoft_Excel_Work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2.xml"/><Relationship Id="rId2" Type="http://schemas.openxmlformats.org/officeDocument/2006/relationships/package" Target="../embeddings/Microsoft_Excel_Work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3.xml"/><Relationship Id="rId2" Type="http://schemas.openxmlformats.org/officeDocument/2006/relationships/package" Target="../embeddings/Microsoft_Excel_Work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4.xml"/><Relationship Id="rId2" Type="http://schemas.openxmlformats.org/officeDocument/2006/relationships/package" Target="../embeddings/Microsoft_Excel_Work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5.xml"/><Relationship Id="rId2" Type="http://schemas.openxmlformats.org/officeDocument/2006/relationships/package" Target="../embeddings/Microsoft_Excel_Work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6.xml"/><Relationship Id="rId2" Type="http://schemas.openxmlformats.org/officeDocument/2006/relationships/package" Target="../embeddings/Microsoft_Excel_Worksheet42.xlsx"/><Relationship Id="rId3" Type="http://schemas.openxmlformats.org/officeDocument/2006/relationships/chartUserShapes" Target="../drawings/drawing7.xml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8.xlsx"/><Relationship Id="rId2" Type="http://schemas.openxmlformats.org/officeDocument/2006/relationships/chartUserShapes" Target="../drawings/drawing8.xml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7.xml"/><Relationship Id="rId2" Type="http://schemas.openxmlformats.org/officeDocument/2006/relationships/package" Target="../embeddings/Microsoft_Excel_Worksheet49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8.xml"/><Relationship Id="rId2" Type="http://schemas.openxmlformats.org/officeDocument/2006/relationships/package" Target="../embeddings/Microsoft_Excel_Worksheet50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9.xml"/><Relationship Id="rId2" Type="http://schemas.openxmlformats.org/officeDocument/2006/relationships/package" Target="../embeddings/Microsoft_Excel_Worksheet51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0.xml"/><Relationship Id="rId2" Type="http://schemas.openxmlformats.org/officeDocument/2006/relationships/package" Target="../embeddings/Microsoft_Excel_Worksheet52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1.xml"/><Relationship Id="rId2" Type="http://schemas.openxmlformats.org/officeDocument/2006/relationships/package" Target="../embeddings/Microsoft_Excel_Worksheet53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2.xml"/><Relationship Id="rId2" Type="http://schemas.openxmlformats.org/officeDocument/2006/relationships/package" Target="../embeddings/Microsoft_Excel_Worksheet54.xlsx"/><Relationship Id="rId3" Type="http://schemas.openxmlformats.org/officeDocument/2006/relationships/chartUserShapes" Target="../drawings/drawing9.xml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3.xml"/><Relationship Id="rId2" Type="http://schemas.openxmlformats.org/officeDocument/2006/relationships/package" Target="../embeddings/Microsoft_Excel_Worksheet55.xlsx"/></Relationships>
</file>

<file path=ppt/charts/_rels/chart5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4.xml"/><Relationship Id="rId2" Type="http://schemas.openxmlformats.org/officeDocument/2006/relationships/package" Target="../embeddings/Microsoft_Excel_Worksheet56.xlsx"/></Relationships>
</file>

<file path=ppt/charts/_rels/chart5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5.xml"/><Relationship Id="rId2" Type="http://schemas.openxmlformats.org/officeDocument/2006/relationships/package" Target="../embeddings/Microsoft_Excel_Worksheet57.xlsx"/></Relationships>
</file>

<file path=ppt/charts/_rels/chart5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6.xml"/><Relationship Id="rId2" Type="http://schemas.openxmlformats.org/officeDocument/2006/relationships/package" Target="../embeddings/Microsoft_Excel_Worksheet58.xlsx"/></Relationships>
</file>

<file path=ppt/charts/_rels/chart59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7.xml"/><Relationship Id="rId2" Type="http://schemas.openxmlformats.org/officeDocument/2006/relationships/package" Target="../embeddings/Microsoft_Excel_Worksheet59.xlsx"/></Relationships>
</file>

<file path=ppt/charts/_rels/chart60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8.xml"/><Relationship Id="rId2" Type="http://schemas.openxmlformats.org/officeDocument/2006/relationships/package" Target="../embeddings/Microsoft_Excel_Worksheet60.xlsx"/><Relationship Id="rId3" Type="http://schemas.openxmlformats.org/officeDocument/2006/relationships/chartUserShapes" Target="../drawings/drawing10.xml"/></Relationships>
</file>

<file path=ppt/charts/_rels/chart6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9.xml"/><Relationship Id="rId2" Type="http://schemas.openxmlformats.org/officeDocument/2006/relationships/package" Target="../embeddings/Microsoft_Excel_Worksheet61.xlsx"/></Relationships>
</file>

<file path=ppt/charts/_rels/chart6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0.xml"/><Relationship Id="rId2" Type="http://schemas.openxmlformats.org/officeDocument/2006/relationships/package" Target="../embeddings/Microsoft_Excel_Worksheet62.xlsx"/></Relationships>
</file>

<file path=ppt/charts/_rels/chart6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1.xml"/><Relationship Id="rId2" Type="http://schemas.openxmlformats.org/officeDocument/2006/relationships/package" Target="../embeddings/Microsoft_Excel_Worksheet63.xlsx"/></Relationships>
</file>

<file path=ppt/charts/_rels/chart6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2.xml"/><Relationship Id="rId2" Type="http://schemas.openxmlformats.org/officeDocument/2006/relationships/package" Target="../embeddings/Microsoft_Excel_Worksheet64.xlsx"/></Relationships>
</file>

<file path=ppt/charts/_rels/chart6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3.xml"/><Relationship Id="rId2" Type="http://schemas.openxmlformats.org/officeDocument/2006/relationships/package" Target="../embeddings/Microsoft_Excel_Worksheet65.xlsx"/></Relationships>
</file>

<file path=ppt/charts/_rels/chart6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4.xml"/><Relationship Id="rId2" Type="http://schemas.openxmlformats.org/officeDocument/2006/relationships/package" Target="../embeddings/Microsoft_Excel_Worksheet66.xlsx"/><Relationship Id="rId3" Type="http://schemas.openxmlformats.org/officeDocument/2006/relationships/chartUserShapes" Target="../drawings/drawing11.xml"/></Relationships>
</file>

<file path=ppt/charts/_rels/chart6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5.xml"/><Relationship Id="rId2" Type="http://schemas.openxmlformats.org/officeDocument/2006/relationships/package" Target="../embeddings/Microsoft_Excel_Worksheet67.xlsx"/></Relationships>
</file>

<file path=ppt/charts/_rels/chart6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6.xml"/><Relationship Id="rId2" Type="http://schemas.openxmlformats.org/officeDocument/2006/relationships/package" Target="../embeddings/Microsoft_Excel_Worksheet68.xlsx"/></Relationships>
</file>

<file path=ppt/charts/_rels/chart69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7.xml"/><Relationship Id="rId2" Type="http://schemas.openxmlformats.org/officeDocument/2006/relationships/package" Target="../embeddings/Microsoft_Excel_Worksheet69.xlsx"/></Relationships>
</file>

<file path=ppt/charts/_rels/chart70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8.xml"/><Relationship Id="rId2" Type="http://schemas.openxmlformats.org/officeDocument/2006/relationships/package" Target="../embeddings/Microsoft_Excel_Worksheet70.xlsx"/></Relationships>
</file>

<file path=ppt/charts/_rels/chart7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9.xml"/><Relationship Id="rId2" Type="http://schemas.openxmlformats.org/officeDocument/2006/relationships/package" Target="../embeddings/Microsoft_Excel_Worksheet71.xlsx"/></Relationships>
</file>

<file path=ppt/charts/_rels/chart7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60.xml"/><Relationship Id="rId2" Type="http://schemas.openxmlformats.org/officeDocument/2006/relationships/package" Target="../embeddings/Microsoft_Excel_Worksheet72.xlsx"/><Relationship Id="rId3" Type="http://schemas.openxmlformats.org/officeDocument/2006/relationships/chartUserShapes" Target="../drawings/drawing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1.7306767218529962E-2"/>
          <c:y val="0.22877070984437084"/>
          <c:w val="0.93509962293051263"/>
          <c:h val="0.571334476679578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421</c:v>
                </c:pt>
                <c:pt idx="1">
                  <c:v>419</c:v>
                </c:pt>
                <c:pt idx="2">
                  <c:v>400</c:v>
                </c:pt>
                <c:pt idx="3">
                  <c:v>432</c:v>
                </c:pt>
                <c:pt idx="4">
                  <c:v>424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58709504"/>
        <c:axId val="284712960"/>
      </c:barChart>
      <c:catAx>
        <c:axId val="458709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712960"/>
        <c:crosses val="autoZero"/>
        <c:auto val="1"/>
        <c:lblAlgn val="ctr"/>
        <c:lblOffset val="100"/>
        <c:noMultiLvlLbl val="0"/>
      </c:catAx>
      <c:valAx>
        <c:axId val="284712960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458709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113</c:v>
                </c:pt>
                <c:pt idx="1">
                  <c:v>113</c:v>
                </c:pt>
                <c:pt idx="2">
                  <c:v>119</c:v>
                </c:pt>
                <c:pt idx="3">
                  <c:v>99</c:v>
                </c:pt>
                <c:pt idx="4">
                  <c:v>110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000128"/>
        <c:axId val="285039360"/>
      </c:barChart>
      <c:catAx>
        <c:axId val="462000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039360"/>
        <c:crosses val="autoZero"/>
        <c:auto val="1"/>
        <c:lblAlgn val="ctr"/>
        <c:lblOffset val="100"/>
        <c:noMultiLvlLbl val="0"/>
      </c:catAx>
      <c:valAx>
        <c:axId val="285039360"/>
        <c:scaling>
          <c:orientation val="minMax"/>
          <c:min val="90"/>
        </c:scaling>
        <c:delete val="1"/>
        <c:axPos val="l"/>
        <c:numFmt formatCode="0" sourceLinked="1"/>
        <c:majorTickMark val="out"/>
        <c:minorTickMark val="none"/>
        <c:tickLblPos val="nextTo"/>
        <c:crossAx val="462000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2.02</c:v>
                </c:pt>
                <c:pt idx="1">
                  <c:v>2.09</c:v>
                </c:pt>
                <c:pt idx="2">
                  <c:v>2.2400000000000002</c:v>
                </c:pt>
                <c:pt idx="3">
                  <c:v>1.91</c:v>
                </c:pt>
                <c:pt idx="4">
                  <c:v>2.04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001664"/>
        <c:axId val="285290432"/>
      </c:barChart>
      <c:catAx>
        <c:axId val="462001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290432"/>
        <c:crosses val="autoZero"/>
        <c:auto val="1"/>
        <c:lblAlgn val="ctr"/>
        <c:lblOffset val="100"/>
        <c:noMultiLvlLbl val="0"/>
      </c:catAx>
      <c:valAx>
        <c:axId val="285290432"/>
        <c:scaling>
          <c:orientation val="minMax"/>
          <c:min val="1.5"/>
        </c:scaling>
        <c:delete val="1"/>
        <c:axPos val="l"/>
        <c:numFmt formatCode="0.00" sourceLinked="1"/>
        <c:majorTickMark val="out"/>
        <c:minorTickMark val="none"/>
        <c:tickLblPos val="nextTo"/>
        <c:crossAx val="462001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6.26</c:v>
                </c:pt>
                <c:pt idx="1">
                  <c:v>6.18</c:v>
                </c:pt>
                <c:pt idx="2">
                  <c:v>6.03</c:v>
                </c:pt>
                <c:pt idx="3">
                  <c:v>6.41</c:v>
                </c:pt>
                <c:pt idx="4">
                  <c:v>6.23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003200"/>
        <c:axId val="285287552"/>
      </c:barChart>
      <c:catAx>
        <c:axId val="46200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287552"/>
        <c:crosses val="autoZero"/>
        <c:auto val="1"/>
        <c:lblAlgn val="ctr"/>
        <c:lblOffset val="100"/>
        <c:noMultiLvlLbl val="0"/>
      </c:catAx>
      <c:valAx>
        <c:axId val="285287552"/>
        <c:scaling>
          <c:orientation val="minMax"/>
          <c:min val="5.5"/>
        </c:scaling>
        <c:delete val="1"/>
        <c:axPos val="l"/>
        <c:numFmt formatCode="0.00" sourceLinked="1"/>
        <c:majorTickMark val="out"/>
        <c:minorTickMark val="none"/>
        <c:tickLblPos val="nextTo"/>
        <c:crossAx val="46200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Aug</c:v>
                </c:pt>
                <c:pt idx="4">
                  <c:v>Apr-Aug</c:v>
                </c:pt>
              </c:strCache>
            </c:strRef>
          </c:cat>
          <c:val>
            <c:numRef>
              <c:f>Sheet1!$B$2:$B$9</c:f>
              <c:numCache>
                <c:formatCode>#,##0.00</c:formatCode>
                <c:ptCount val="5"/>
                <c:pt idx="0">
                  <c:v>2.5499999999999998</c:v>
                </c:pt>
                <c:pt idx="1">
                  <c:v>2.5299999999999998</c:v>
                </c:pt>
                <c:pt idx="2">
                  <c:v>2.4300000000000002</c:v>
                </c:pt>
                <c:pt idx="3">
                  <c:v>2.59</c:v>
                </c:pt>
                <c:pt idx="4">
                  <c:v>2.6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252032"/>
        <c:axId val="285305088"/>
      </c:barChart>
      <c:catAx>
        <c:axId val="462252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900" b="1"/>
            </a:pPr>
            <a:endParaRPr lang="en-US"/>
          </a:p>
        </c:txPr>
        <c:crossAx val="285305088"/>
        <c:crosses val="autoZero"/>
        <c:auto val="1"/>
        <c:lblAlgn val="ctr"/>
        <c:lblOffset val="100"/>
        <c:noMultiLvlLbl val="0"/>
      </c:catAx>
      <c:valAx>
        <c:axId val="285305088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462252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3.1623006825952517E-2"/>
          <c:y val="0.15386884171031409"/>
          <c:w val="0.92078338332309007"/>
          <c:h val="0.64687373878084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558</c:v>
                </c:pt>
                <c:pt idx="1">
                  <c:v>553</c:v>
                </c:pt>
                <c:pt idx="2">
                  <c:v>536</c:v>
                </c:pt>
                <c:pt idx="3">
                  <c:v>551</c:v>
                </c:pt>
                <c:pt idx="4">
                  <c:v>554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426624"/>
        <c:axId val="285307392"/>
      </c:barChart>
      <c:catAx>
        <c:axId val="462426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307392"/>
        <c:crosses val="autoZero"/>
        <c:auto val="1"/>
        <c:lblAlgn val="ctr"/>
        <c:lblOffset val="100"/>
        <c:noMultiLvlLbl val="0"/>
      </c:catAx>
      <c:valAx>
        <c:axId val="285307392"/>
        <c:scaling>
          <c:orientation val="minMax"/>
          <c:max val="580"/>
          <c:min val="500"/>
        </c:scaling>
        <c:delete val="1"/>
        <c:axPos val="l"/>
        <c:numFmt formatCode="0" sourceLinked="1"/>
        <c:majorTickMark val="out"/>
        <c:minorTickMark val="none"/>
        <c:tickLblPos val="nextTo"/>
        <c:crossAx val="462426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430</c:v>
                </c:pt>
                <c:pt idx="1">
                  <c:v>426</c:v>
                </c:pt>
                <c:pt idx="2">
                  <c:v>407</c:v>
                </c:pt>
                <c:pt idx="3">
                  <c:v>447</c:v>
                </c:pt>
                <c:pt idx="4">
                  <c:v>432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8541952"/>
        <c:axId val="265349952"/>
      </c:barChart>
      <c:catAx>
        <c:axId val="508541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65349952"/>
        <c:crosses val="autoZero"/>
        <c:auto val="1"/>
        <c:lblAlgn val="ctr"/>
        <c:lblOffset val="100"/>
        <c:noMultiLvlLbl val="0"/>
      </c:catAx>
      <c:valAx>
        <c:axId val="265349952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508541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134</c:v>
                </c:pt>
                <c:pt idx="1">
                  <c:v>118</c:v>
                </c:pt>
                <c:pt idx="2">
                  <c:v>125</c:v>
                </c:pt>
                <c:pt idx="3">
                  <c:v>99</c:v>
                </c:pt>
                <c:pt idx="4">
                  <c:v>114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8732416"/>
        <c:axId val="284713536"/>
      </c:barChart>
      <c:catAx>
        <c:axId val="508732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713536"/>
        <c:crosses val="autoZero"/>
        <c:auto val="1"/>
        <c:lblAlgn val="ctr"/>
        <c:lblOffset val="100"/>
        <c:noMultiLvlLbl val="0"/>
      </c:catAx>
      <c:valAx>
        <c:axId val="284713536"/>
        <c:scaling>
          <c:orientation val="minMax"/>
          <c:min val="90"/>
        </c:scaling>
        <c:delete val="1"/>
        <c:axPos val="l"/>
        <c:numFmt formatCode="General" sourceLinked="1"/>
        <c:majorTickMark val="out"/>
        <c:minorTickMark val="none"/>
        <c:tickLblPos val="nextTo"/>
        <c:crossAx val="508732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1.93</c:v>
                </c:pt>
                <c:pt idx="1">
                  <c:v>2.04</c:v>
                </c:pt>
                <c:pt idx="2">
                  <c:v>2.2400000000000002</c:v>
                </c:pt>
                <c:pt idx="3">
                  <c:v>1.79</c:v>
                </c:pt>
                <c:pt idx="4">
                  <c:v>2.0299999999999998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56705536"/>
        <c:axId val="296158912"/>
      </c:barChart>
      <c:catAx>
        <c:axId val="456705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6158912"/>
        <c:crosses val="autoZero"/>
        <c:auto val="1"/>
        <c:lblAlgn val="ctr"/>
        <c:lblOffset val="100"/>
        <c:noMultiLvlLbl val="0"/>
      </c:catAx>
      <c:valAx>
        <c:axId val="296158912"/>
        <c:scaling>
          <c:orientation val="minMax"/>
          <c:min val="1.5"/>
        </c:scaling>
        <c:delete val="1"/>
        <c:axPos val="l"/>
        <c:numFmt formatCode="General" sourceLinked="1"/>
        <c:majorTickMark val="out"/>
        <c:minorTickMark val="none"/>
        <c:tickLblPos val="nextTo"/>
        <c:crossAx val="456705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6.3</c:v>
                </c:pt>
                <c:pt idx="1">
                  <c:v>6.08</c:v>
                </c:pt>
                <c:pt idx="2">
                  <c:v>5.86</c:v>
                </c:pt>
                <c:pt idx="3">
                  <c:v>6.92</c:v>
                </c:pt>
                <c:pt idx="4">
                  <c:v>6.19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56706048"/>
        <c:axId val="296160640"/>
      </c:barChart>
      <c:catAx>
        <c:axId val="456706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6160640"/>
        <c:crosses val="autoZero"/>
        <c:auto val="1"/>
        <c:lblAlgn val="ctr"/>
        <c:lblOffset val="100"/>
        <c:noMultiLvlLbl val="0"/>
      </c:catAx>
      <c:valAx>
        <c:axId val="296160640"/>
        <c:scaling>
          <c:orientation val="minMax"/>
          <c:min val="5.5"/>
        </c:scaling>
        <c:delete val="1"/>
        <c:axPos val="l"/>
        <c:numFmt formatCode="General" sourceLinked="1"/>
        <c:majorTickMark val="out"/>
        <c:minorTickMark val="none"/>
        <c:tickLblPos val="nextTo"/>
        <c:crossAx val="45670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</a:t>
            </a:r>
            <a:r>
              <a:rPr lang="en-US" sz="1400" baseline="-25000">
                <a:solidFill>
                  <a:srgbClr val="C00000"/>
                </a:solidFill>
              </a:rPr>
              <a:t>2</a:t>
            </a:r>
            <a:r>
              <a:rPr lang="en-US" sz="1400">
                <a:solidFill>
                  <a:srgbClr val="C00000"/>
                </a:solidFill>
              </a:rPr>
              <a:t>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Aug</c:v>
                </c:pt>
                <c:pt idx="4">
                  <c:v>Apr-Aug</c:v>
                </c:pt>
              </c:strCache>
            </c:strRef>
          </c:cat>
          <c:val>
            <c:numRef>
              <c:f>Sheet1!$B$2:$B$9</c:f>
              <c:numCache>
                <c:formatCode>#,##0.00</c:formatCode>
                <c:ptCount val="5"/>
                <c:pt idx="0">
                  <c:v>2.62</c:v>
                </c:pt>
                <c:pt idx="1">
                  <c:v>2.54</c:v>
                </c:pt>
                <c:pt idx="2">
                  <c:v>2.4500000000000002</c:v>
                </c:pt>
                <c:pt idx="3">
                  <c:v>2.6</c:v>
                </c:pt>
                <c:pt idx="4">
                  <c:v>2.54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471680"/>
        <c:axId val="296162368"/>
      </c:barChart>
      <c:catAx>
        <c:axId val="462471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900" b="1">
                <a:solidFill>
                  <a:srgbClr val="C00000"/>
                </a:solidFill>
              </a:defRPr>
            </a:pPr>
            <a:endParaRPr lang="en-US"/>
          </a:p>
        </c:txPr>
        <c:crossAx val="296162368"/>
        <c:crosses val="autoZero"/>
        <c:auto val="1"/>
        <c:lblAlgn val="ctr"/>
        <c:lblOffset val="100"/>
        <c:noMultiLvlLbl val="0"/>
      </c:catAx>
      <c:valAx>
        <c:axId val="296162368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462471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731198002775398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dLbl>
              <c:idx val="1"/>
              <c:layout>
                <c:manualLayout>
                  <c:x val="0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E1-4EDF-96D8-C03EA11ECD2D}"/>
                </c:ext>
              </c:extLst>
            </c:dLbl>
            <c:dLbl>
              <c:idx val="3"/>
              <c:layout>
                <c:manualLayout>
                  <c:x val="4.3266918046324506E-3"/>
                  <c:y val="2.78495641104640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2E1-4EDF-96D8-C03EA11ECD2D}"/>
                </c:ext>
              </c:extLst>
            </c:dLbl>
            <c:dLbl>
              <c:idx val="5"/>
              <c:layout>
                <c:manualLayout>
                  <c:x val="-8.6533836092649811E-3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2E1-4EDF-96D8-C03EA11ECD2D}"/>
                </c:ext>
              </c:extLst>
            </c:dLbl>
            <c:dLbl>
              <c:idx val="7"/>
              <c:layout>
                <c:manualLayout>
                  <c:x val="-4.3266918046324107E-3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2E1-4EDF-96D8-C03EA11ECD2D}"/>
                </c:ext>
              </c:extLst>
            </c:dLbl>
            <c:dLbl>
              <c:idx val="8"/>
              <c:layout>
                <c:manualLayout>
                  <c:x val="-1.7306767218530038E-2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2E1-4EDF-96D8-C03EA11ECD2D}"/>
                </c:ext>
              </c:extLst>
            </c:dLbl>
            <c:dLbl>
              <c:idx val="9"/>
              <c:layout>
                <c:manualLayout>
                  <c:x val="-1.5864353350622133E-16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2E1-4EDF-96D8-C03EA11ECD2D}"/>
                </c:ext>
              </c:extLst>
            </c:dLbl>
            <c:dLbl>
              <c:idx val="10"/>
              <c:layout>
                <c:manualLayout>
                  <c:x val="-1.2980075413897471E-2"/>
                  <c:y val="4.17743461656960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2E1-4EDF-96D8-C03EA11ECD2D}"/>
                </c:ext>
              </c:extLst>
            </c:dLbl>
            <c:dLbl>
              <c:idx val="11"/>
              <c:layout>
                <c:manualLayout>
                  <c:x val="-1.2980075413897629E-2"/>
                  <c:y val="-6.61367050901834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C5-4636-9179-D0DED98F4DD2}"/>
                </c:ext>
              </c:extLst>
            </c:dLbl>
            <c:dLbl>
              <c:idx val="12"/>
              <c:layout>
                <c:manualLayout>
                  <c:x val="8.6533836092649811E-3"/>
                  <c:y val="3.48119551380799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2E1-4EDF-96D8-C03EA11ECD2D}"/>
                </c:ext>
              </c:extLst>
            </c:dLbl>
            <c:dLbl>
              <c:idx val="13"/>
              <c:layout>
                <c:manualLayout>
                  <c:x val="1.7306767218529962E-2"/>
                  <c:y val="6.61367050901828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C5-4636-9179-D0DED98F4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585</c:v>
                </c:pt>
                <c:pt idx="1">
                  <c:v>566</c:v>
                </c:pt>
                <c:pt idx="2">
                  <c:v>550</c:v>
                </c:pt>
                <c:pt idx="3">
                  <c:v>566</c:v>
                </c:pt>
                <c:pt idx="4">
                  <c:v>566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7841536"/>
        <c:axId val="296164672"/>
      </c:barChart>
      <c:catAx>
        <c:axId val="507841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6164672"/>
        <c:crosses val="autoZero"/>
        <c:auto val="1"/>
        <c:lblAlgn val="ctr"/>
        <c:lblOffset val="100"/>
        <c:noMultiLvlLbl val="0"/>
      </c:catAx>
      <c:valAx>
        <c:axId val="296164672"/>
        <c:scaling>
          <c:orientation val="minMax"/>
          <c:max val="590"/>
          <c:min val="530"/>
        </c:scaling>
        <c:delete val="1"/>
        <c:axPos val="l"/>
        <c:numFmt formatCode="General" sourceLinked="1"/>
        <c:majorTickMark val="out"/>
        <c:minorTickMark val="none"/>
        <c:tickLblPos val="nextTo"/>
        <c:crossAx val="507841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  <c:userShapes r:id="rId2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456</c:v>
                </c:pt>
                <c:pt idx="1">
                  <c:v>463</c:v>
                </c:pt>
                <c:pt idx="2">
                  <c:v>440</c:v>
                </c:pt>
                <c:pt idx="3">
                  <c:v>455</c:v>
                </c:pt>
                <c:pt idx="4">
                  <c:v>451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8734976"/>
        <c:axId val="492103936"/>
      </c:barChart>
      <c:catAx>
        <c:axId val="508734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92103936"/>
        <c:crosses val="autoZero"/>
        <c:auto val="1"/>
        <c:lblAlgn val="ctr"/>
        <c:lblOffset val="100"/>
        <c:noMultiLvlLbl val="0"/>
      </c:catAx>
      <c:valAx>
        <c:axId val="492103936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508734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60</c:v>
                </c:pt>
                <c:pt idx="2">
                  <c:v>77</c:v>
                </c:pt>
                <c:pt idx="3">
                  <c:v>72</c:v>
                </c:pt>
                <c:pt idx="4">
                  <c:v>69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8425728"/>
        <c:axId val="653316032"/>
      </c:barChart>
      <c:catAx>
        <c:axId val="508425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53316032"/>
        <c:crosses val="autoZero"/>
        <c:auto val="1"/>
        <c:lblAlgn val="ctr"/>
        <c:lblOffset val="100"/>
        <c:noMultiLvlLbl val="0"/>
      </c:catAx>
      <c:valAx>
        <c:axId val="65331603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08425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1.79</c:v>
                </c:pt>
                <c:pt idx="1">
                  <c:v>1.74</c:v>
                </c:pt>
                <c:pt idx="2">
                  <c:v>1.96</c:v>
                </c:pt>
                <c:pt idx="3">
                  <c:v>1.77</c:v>
                </c:pt>
                <c:pt idx="4">
                  <c:v>1.83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8731392"/>
        <c:axId val="297295872"/>
      </c:barChart>
      <c:catAx>
        <c:axId val="508731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7295872"/>
        <c:crosses val="autoZero"/>
        <c:auto val="1"/>
        <c:lblAlgn val="ctr"/>
        <c:lblOffset val="100"/>
        <c:noMultiLvlLbl val="0"/>
      </c:catAx>
      <c:valAx>
        <c:axId val="297295872"/>
        <c:scaling>
          <c:orientation val="minMax"/>
          <c:min val="1.5"/>
        </c:scaling>
        <c:delete val="1"/>
        <c:axPos val="l"/>
        <c:numFmt formatCode="General" sourceLinked="1"/>
        <c:majorTickMark val="out"/>
        <c:minorTickMark val="none"/>
        <c:tickLblPos val="nextTo"/>
        <c:crossAx val="508731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6.35</c:v>
                </c:pt>
                <c:pt idx="1">
                  <c:v>6.36</c:v>
                </c:pt>
                <c:pt idx="2">
                  <c:v>6.34</c:v>
                </c:pt>
                <c:pt idx="3">
                  <c:v>6.47</c:v>
                </c:pt>
                <c:pt idx="4">
                  <c:v>6.46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2256128"/>
        <c:axId val="297297600"/>
      </c:barChart>
      <c:catAx>
        <c:axId val="46225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7297600"/>
        <c:crosses val="autoZero"/>
        <c:auto val="1"/>
        <c:lblAlgn val="ctr"/>
        <c:lblOffset val="100"/>
        <c:noMultiLvlLbl val="0"/>
      </c:catAx>
      <c:valAx>
        <c:axId val="297297600"/>
        <c:scaling>
          <c:orientation val="minMax"/>
          <c:min val="5.5"/>
        </c:scaling>
        <c:delete val="1"/>
        <c:axPos val="l"/>
        <c:numFmt formatCode="General" sourceLinked="1"/>
        <c:majorTickMark val="out"/>
        <c:minorTickMark val="none"/>
        <c:tickLblPos val="nextTo"/>
        <c:crossAx val="462256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Aug</c:v>
                </c:pt>
                <c:pt idx="4">
                  <c:v>Apr-Aug</c:v>
                </c:pt>
              </c:strCache>
            </c:strRef>
          </c:cat>
          <c:val>
            <c:numRef>
              <c:f>Sheet1!$B$2:$B$9</c:f>
              <c:numCache>
                <c:formatCode>#,##0.00</c:formatCode>
                <c:ptCount val="5"/>
                <c:pt idx="0">
                  <c:v>2.48</c:v>
                </c:pt>
                <c:pt idx="1">
                  <c:v>2.52</c:v>
                </c:pt>
                <c:pt idx="2">
                  <c:v>2.48</c:v>
                </c:pt>
                <c:pt idx="3">
                  <c:v>2.6</c:v>
                </c:pt>
                <c:pt idx="4">
                  <c:v>2.64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107136"/>
        <c:axId val="653318912"/>
      </c:barChart>
      <c:catAx>
        <c:axId val="478107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900" b="1"/>
            </a:pPr>
            <a:endParaRPr lang="en-US"/>
          </a:p>
        </c:txPr>
        <c:crossAx val="653318912"/>
        <c:crosses val="autoZero"/>
        <c:auto val="1"/>
        <c:lblAlgn val="ctr"/>
        <c:lblOffset val="100"/>
        <c:noMultiLvlLbl val="0"/>
      </c:catAx>
      <c:valAx>
        <c:axId val="653318912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478107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706396735137693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dLbl>
              <c:idx val="1"/>
              <c:layout>
                <c:manualLayout>
                  <c:x val="0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E1-4EDF-96D8-C03EA11ECD2D}"/>
                </c:ext>
              </c:extLst>
            </c:dLbl>
            <c:dLbl>
              <c:idx val="3"/>
              <c:layout>
                <c:manualLayout>
                  <c:x val="4.3266918046324506E-3"/>
                  <c:y val="2.78495641104640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2E1-4EDF-96D8-C03EA11ECD2D}"/>
                </c:ext>
              </c:extLst>
            </c:dLbl>
            <c:dLbl>
              <c:idx val="5"/>
              <c:layout>
                <c:manualLayout>
                  <c:x val="-8.6533836092649811E-3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2E1-4EDF-96D8-C03EA11ECD2D}"/>
                </c:ext>
              </c:extLst>
            </c:dLbl>
            <c:dLbl>
              <c:idx val="7"/>
              <c:layout>
                <c:manualLayout>
                  <c:x val="-4.3266918046324107E-3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2E1-4EDF-96D8-C03EA11ECD2D}"/>
                </c:ext>
              </c:extLst>
            </c:dLbl>
            <c:dLbl>
              <c:idx val="8"/>
              <c:layout>
                <c:manualLayout>
                  <c:x val="-1.7306767218530038E-2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2E1-4EDF-96D8-C03EA11ECD2D}"/>
                </c:ext>
              </c:extLst>
            </c:dLbl>
            <c:dLbl>
              <c:idx val="9"/>
              <c:layout>
                <c:manualLayout>
                  <c:x val="-1.5864353350622133E-16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2E1-4EDF-96D8-C03EA11ECD2D}"/>
                </c:ext>
              </c:extLst>
            </c:dLbl>
            <c:dLbl>
              <c:idx val="10"/>
              <c:layout>
                <c:manualLayout>
                  <c:x val="-1.2980075413897471E-2"/>
                  <c:y val="4.17743461656960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2E1-4EDF-96D8-C03EA11ECD2D}"/>
                </c:ext>
              </c:extLst>
            </c:dLbl>
            <c:dLbl>
              <c:idx val="11"/>
              <c:layout>
                <c:manualLayout>
                  <c:x val="-1.2980075413897629E-2"/>
                  <c:y val="-6.61367050901834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C5-4636-9179-D0DED98F4DD2}"/>
                </c:ext>
              </c:extLst>
            </c:dLbl>
            <c:dLbl>
              <c:idx val="12"/>
              <c:layout>
                <c:manualLayout>
                  <c:x val="8.6533836092649811E-3"/>
                  <c:y val="3.48119551380799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2E1-4EDF-96D8-C03EA11ECD2D}"/>
                </c:ext>
              </c:extLst>
            </c:dLbl>
            <c:dLbl>
              <c:idx val="13"/>
              <c:layout>
                <c:manualLayout>
                  <c:x val="1.7306767218529962E-2"/>
                  <c:y val="6.61367050901828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C5-4636-9179-D0DED98F4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543</c:v>
                </c:pt>
                <c:pt idx="1">
                  <c:v>546</c:v>
                </c:pt>
                <c:pt idx="2">
                  <c:v>535</c:v>
                </c:pt>
                <c:pt idx="3">
                  <c:v>541</c:v>
                </c:pt>
                <c:pt idx="4">
                  <c:v>539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8895744"/>
        <c:axId val="653317184"/>
      </c:barChart>
      <c:catAx>
        <c:axId val="50889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53317184"/>
        <c:crosses val="autoZero"/>
        <c:auto val="1"/>
        <c:lblAlgn val="ctr"/>
        <c:lblOffset val="100"/>
        <c:noMultiLvlLbl val="0"/>
      </c:catAx>
      <c:valAx>
        <c:axId val="65331718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08895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391</c:v>
                </c:pt>
                <c:pt idx="1">
                  <c:v>386</c:v>
                </c:pt>
                <c:pt idx="2">
                  <c:v>381</c:v>
                </c:pt>
                <c:pt idx="3">
                  <c:v>410</c:v>
                </c:pt>
                <c:pt idx="4">
                  <c:v>402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09328896"/>
        <c:axId val="271229504"/>
      </c:barChart>
      <c:catAx>
        <c:axId val="50932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71229504"/>
        <c:crosses val="autoZero"/>
        <c:auto val="1"/>
        <c:lblAlgn val="ctr"/>
        <c:lblOffset val="100"/>
        <c:noMultiLvlLbl val="0"/>
      </c:catAx>
      <c:valAx>
        <c:axId val="271229504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509328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133</c:v>
                </c:pt>
                <c:pt idx="1">
                  <c:v>143</c:v>
                </c:pt>
                <c:pt idx="2">
                  <c:v>137</c:v>
                </c:pt>
                <c:pt idx="3">
                  <c:v>134</c:v>
                </c:pt>
                <c:pt idx="4">
                  <c:v>141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0444544"/>
        <c:axId val="297303360"/>
      </c:barChart>
      <c:catAx>
        <c:axId val="510444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7303360"/>
        <c:crosses val="autoZero"/>
        <c:auto val="1"/>
        <c:lblAlgn val="ctr"/>
        <c:lblOffset val="100"/>
        <c:noMultiLvlLbl val="0"/>
      </c:catAx>
      <c:valAx>
        <c:axId val="2973033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10444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2.31</c:v>
                </c:pt>
                <c:pt idx="1">
                  <c:v>2.46</c:v>
                </c:pt>
                <c:pt idx="2">
                  <c:v>2.5099999999999998</c:v>
                </c:pt>
                <c:pt idx="3">
                  <c:v>1.97</c:v>
                </c:pt>
                <c:pt idx="4">
                  <c:v>2.2200000000000002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0446080"/>
        <c:axId val="271232960"/>
      </c:barChart>
      <c:catAx>
        <c:axId val="510446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71232960"/>
        <c:crosses val="autoZero"/>
        <c:auto val="1"/>
        <c:lblAlgn val="ctr"/>
        <c:lblOffset val="100"/>
        <c:noMultiLvlLbl val="0"/>
      </c:catAx>
      <c:valAx>
        <c:axId val="271232960"/>
        <c:scaling>
          <c:orientation val="minMax"/>
          <c:min val="1.5"/>
        </c:scaling>
        <c:delete val="1"/>
        <c:axPos val="l"/>
        <c:numFmt formatCode="General" sourceLinked="1"/>
        <c:majorTickMark val="out"/>
        <c:minorTickMark val="none"/>
        <c:tickLblPos val="nextTo"/>
        <c:crossAx val="510446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5.92</c:v>
                </c:pt>
                <c:pt idx="1">
                  <c:v>6</c:v>
                </c:pt>
                <c:pt idx="2">
                  <c:v>5.98</c:v>
                </c:pt>
                <c:pt idx="3">
                  <c:v>6.13</c:v>
                </c:pt>
                <c:pt idx="4">
                  <c:v>6.1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1025152"/>
        <c:axId val="271234688"/>
      </c:barChart>
      <c:catAx>
        <c:axId val="51102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71234688"/>
        <c:crosses val="autoZero"/>
        <c:auto val="1"/>
        <c:lblAlgn val="ctr"/>
        <c:lblOffset val="100"/>
        <c:noMultiLvlLbl val="0"/>
      </c:catAx>
      <c:valAx>
        <c:axId val="271234688"/>
        <c:scaling>
          <c:orientation val="minMax"/>
          <c:min val="5.5"/>
        </c:scaling>
        <c:delete val="1"/>
        <c:axPos val="l"/>
        <c:numFmt formatCode="General" sourceLinked="1"/>
        <c:majorTickMark val="out"/>
        <c:minorTickMark val="none"/>
        <c:tickLblPos val="nextTo"/>
        <c:crossAx val="51102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Aug</c:v>
                </c:pt>
                <c:pt idx="4">
                  <c:v>Apr-Aug</c:v>
                </c:pt>
              </c:strCache>
            </c:strRef>
          </c:cat>
          <c:val>
            <c:numRef>
              <c:f>Sheet1!$B$2:$B$9</c:f>
              <c:numCache>
                <c:formatCode>#,##0.00</c:formatCode>
                <c:ptCount val="5"/>
                <c:pt idx="0">
                  <c:v>2.5299999999999998</c:v>
                </c:pt>
                <c:pt idx="1">
                  <c:v>2.5099999999999998</c:v>
                </c:pt>
                <c:pt idx="2">
                  <c:v>2.41</c:v>
                </c:pt>
                <c:pt idx="3">
                  <c:v>2.6</c:v>
                </c:pt>
                <c:pt idx="4">
                  <c:v>2.61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1026688"/>
        <c:axId val="271236416"/>
      </c:barChart>
      <c:catAx>
        <c:axId val="51102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900" b="1"/>
            </a:pPr>
            <a:endParaRPr lang="en-US"/>
          </a:p>
        </c:txPr>
        <c:crossAx val="271236416"/>
        <c:crosses val="autoZero"/>
        <c:auto val="1"/>
        <c:lblAlgn val="ctr"/>
        <c:lblOffset val="100"/>
        <c:noMultiLvlLbl val="0"/>
      </c:catAx>
      <c:valAx>
        <c:axId val="271236416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5110266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731198002775398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dLbl>
              <c:idx val="1"/>
              <c:layout>
                <c:manualLayout>
                  <c:x val="0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E1-4EDF-96D8-C03EA11ECD2D}"/>
                </c:ext>
              </c:extLst>
            </c:dLbl>
            <c:dLbl>
              <c:idx val="3"/>
              <c:layout>
                <c:manualLayout>
                  <c:x val="4.3266918046324506E-3"/>
                  <c:y val="2.78495641104640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2E1-4EDF-96D8-C03EA11ECD2D}"/>
                </c:ext>
              </c:extLst>
            </c:dLbl>
            <c:dLbl>
              <c:idx val="5"/>
              <c:layout>
                <c:manualLayout>
                  <c:x val="-8.6533836092649811E-3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2E1-4EDF-96D8-C03EA11ECD2D}"/>
                </c:ext>
              </c:extLst>
            </c:dLbl>
            <c:dLbl>
              <c:idx val="7"/>
              <c:layout>
                <c:manualLayout>
                  <c:x val="-4.3266918046324107E-3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2E1-4EDF-96D8-C03EA11ECD2D}"/>
                </c:ext>
              </c:extLst>
            </c:dLbl>
            <c:dLbl>
              <c:idx val="8"/>
              <c:layout>
                <c:manualLayout>
                  <c:x val="-1.7306767218530038E-2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2E1-4EDF-96D8-C03EA11ECD2D}"/>
                </c:ext>
              </c:extLst>
            </c:dLbl>
            <c:dLbl>
              <c:idx val="9"/>
              <c:layout>
                <c:manualLayout>
                  <c:x val="-1.5864353350622133E-16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2E1-4EDF-96D8-C03EA11ECD2D}"/>
                </c:ext>
              </c:extLst>
            </c:dLbl>
            <c:dLbl>
              <c:idx val="10"/>
              <c:layout>
                <c:manualLayout>
                  <c:x val="-1.2980075413897471E-2"/>
                  <c:y val="4.17743461656960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2E1-4EDF-96D8-C03EA11ECD2D}"/>
                </c:ext>
              </c:extLst>
            </c:dLbl>
            <c:dLbl>
              <c:idx val="11"/>
              <c:layout>
                <c:manualLayout>
                  <c:x val="-1.2980075413897629E-2"/>
                  <c:y val="-6.61367050901834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C5-4636-9179-D0DED98F4DD2}"/>
                </c:ext>
              </c:extLst>
            </c:dLbl>
            <c:dLbl>
              <c:idx val="12"/>
              <c:layout>
                <c:manualLayout>
                  <c:x val="8.6533836092649811E-3"/>
                  <c:y val="3.48119551380799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2E1-4EDF-96D8-C03EA11ECD2D}"/>
                </c:ext>
              </c:extLst>
            </c:dLbl>
            <c:dLbl>
              <c:idx val="13"/>
              <c:layout>
                <c:manualLayout>
                  <c:x val="1.7306767218529962E-2"/>
                  <c:y val="6.61367050901828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C5-4636-9179-D0DED98F4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549</c:v>
                </c:pt>
                <c:pt idx="1">
                  <c:v>547</c:v>
                </c:pt>
                <c:pt idx="2">
                  <c:v>528</c:v>
                </c:pt>
                <c:pt idx="3">
                  <c:v>560</c:v>
                </c:pt>
                <c:pt idx="4">
                  <c:v>559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1516160"/>
        <c:axId val="299321024"/>
      </c:barChart>
      <c:catAx>
        <c:axId val="511516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9321024"/>
        <c:crosses val="autoZero"/>
        <c:auto val="1"/>
        <c:lblAlgn val="ctr"/>
        <c:lblOffset val="100"/>
        <c:noMultiLvlLbl val="0"/>
      </c:catAx>
      <c:valAx>
        <c:axId val="29932102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11516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445</c:v>
                </c:pt>
                <c:pt idx="1">
                  <c:v>446</c:v>
                </c:pt>
                <c:pt idx="2">
                  <c:v>420</c:v>
                </c:pt>
                <c:pt idx="3">
                  <c:v>459</c:v>
                </c:pt>
                <c:pt idx="4">
                  <c:v>449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1645696"/>
        <c:axId val="299323904"/>
      </c:barChart>
      <c:catAx>
        <c:axId val="511645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9323904"/>
        <c:crosses val="autoZero"/>
        <c:auto val="1"/>
        <c:lblAlgn val="ctr"/>
        <c:lblOffset val="100"/>
        <c:noMultiLvlLbl val="0"/>
      </c:catAx>
      <c:valAx>
        <c:axId val="299323904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511645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89</c:v>
                </c:pt>
                <c:pt idx="2">
                  <c:v>100</c:v>
                </c:pt>
                <c:pt idx="3">
                  <c:v>69</c:v>
                </c:pt>
                <c:pt idx="4">
                  <c:v>87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1647232"/>
        <c:axId val="299325632"/>
      </c:barChart>
      <c:catAx>
        <c:axId val="511647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9325632"/>
        <c:crosses val="autoZero"/>
        <c:auto val="1"/>
        <c:lblAlgn val="ctr"/>
        <c:lblOffset val="100"/>
        <c:noMultiLvlLbl val="0"/>
      </c:catAx>
      <c:valAx>
        <c:axId val="29932563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11647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1.91</c:v>
                </c:pt>
                <c:pt idx="1">
                  <c:v>1.97</c:v>
                </c:pt>
                <c:pt idx="2">
                  <c:v>2.1</c:v>
                </c:pt>
                <c:pt idx="3">
                  <c:v>1.88</c:v>
                </c:pt>
                <c:pt idx="4">
                  <c:v>1.91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2005120"/>
        <c:axId val="299325056"/>
      </c:barChart>
      <c:catAx>
        <c:axId val="512005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99325056"/>
        <c:crosses val="autoZero"/>
        <c:auto val="1"/>
        <c:lblAlgn val="ctr"/>
        <c:lblOffset val="100"/>
        <c:noMultiLvlLbl val="0"/>
      </c:catAx>
      <c:valAx>
        <c:axId val="299325056"/>
        <c:scaling>
          <c:orientation val="minMax"/>
          <c:min val="1.5"/>
        </c:scaling>
        <c:delete val="1"/>
        <c:axPos val="l"/>
        <c:numFmt formatCode="General" sourceLinked="1"/>
        <c:majorTickMark val="out"/>
        <c:minorTickMark val="none"/>
        <c:tickLblPos val="nextTo"/>
        <c:crossAx val="512005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6.52</c:v>
                </c:pt>
                <c:pt idx="1">
                  <c:v>6.44</c:v>
                </c:pt>
                <c:pt idx="2">
                  <c:v>6.2</c:v>
                </c:pt>
                <c:pt idx="3">
                  <c:v>6.32</c:v>
                </c:pt>
                <c:pt idx="4">
                  <c:v>6.33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2006656"/>
        <c:axId val="250324672"/>
      </c:barChart>
      <c:catAx>
        <c:axId val="512006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50324672"/>
        <c:crosses val="autoZero"/>
        <c:auto val="1"/>
        <c:lblAlgn val="ctr"/>
        <c:lblOffset val="100"/>
        <c:noMultiLvlLbl val="0"/>
      </c:catAx>
      <c:valAx>
        <c:axId val="250324672"/>
        <c:scaling>
          <c:orientation val="minMax"/>
          <c:min val="5.5"/>
        </c:scaling>
        <c:delete val="1"/>
        <c:axPos val="l"/>
        <c:numFmt formatCode="General" sourceLinked="1"/>
        <c:majorTickMark val="out"/>
        <c:minorTickMark val="none"/>
        <c:tickLblPos val="nextTo"/>
        <c:crossAx val="512006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Aug</c:v>
                </c:pt>
                <c:pt idx="4">
                  <c:v>Apr-Aug</c:v>
                </c:pt>
              </c:strCache>
            </c:strRef>
          </c:cat>
          <c:val>
            <c:numRef>
              <c:f>Sheet1!$B$2:$B$9</c:f>
              <c:numCache>
                <c:formatCode>#,##0.00</c:formatCode>
                <c:ptCount val="5"/>
                <c:pt idx="0">
                  <c:v>2.62</c:v>
                </c:pt>
                <c:pt idx="1">
                  <c:v>2.6</c:v>
                </c:pt>
                <c:pt idx="2">
                  <c:v>2.4700000000000002</c:v>
                </c:pt>
                <c:pt idx="3">
                  <c:v>2.57</c:v>
                </c:pt>
                <c:pt idx="4">
                  <c:v>2.61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2270336"/>
        <c:axId val="250326400"/>
      </c:barChart>
      <c:catAx>
        <c:axId val="51227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900" b="1"/>
            </a:pPr>
            <a:endParaRPr lang="en-US"/>
          </a:p>
        </c:txPr>
        <c:crossAx val="250326400"/>
        <c:crosses val="autoZero"/>
        <c:auto val="1"/>
        <c:lblAlgn val="ctr"/>
        <c:lblOffset val="100"/>
        <c:noMultiLvlLbl val="0"/>
      </c:catAx>
      <c:valAx>
        <c:axId val="250326400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51227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731198002775398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dLbl>
              <c:idx val="1"/>
              <c:layout>
                <c:manualLayout>
                  <c:x val="0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E1-4EDF-96D8-C03EA11ECD2D}"/>
                </c:ext>
              </c:extLst>
            </c:dLbl>
            <c:dLbl>
              <c:idx val="3"/>
              <c:layout>
                <c:manualLayout>
                  <c:x val="4.3266918046324506E-3"/>
                  <c:y val="2.78495641104640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2E1-4EDF-96D8-C03EA11ECD2D}"/>
                </c:ext>
              </c:extLst>
            </c:dLbl>
            <c:dLbl>
              <c:idx val="5"/>
              <c:layout>
                <c:manualLayout>
                  <c:x val="-8.6533836092649811E-3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2E1-4EDF-96D8-C03EA11ECD2D}"/>
                </c:ext>
              </c:extLst>
            </c:dLbl>
            <c:dLbl>
              <c:idx val="7"/>
              <c:layout>
                <c:manualLayout>
                  <c:x val="-4.3266918046324107E-3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2E1-4EDF-96D8-C03EA11ECD2D}"/>
                </c:ext>
              </c:extLst>
            </c:dLbl>
            <c:dLbl>
              <c:idx val="8"/>
              <c:layout>
                <c:manualLayout>
                  <c:x val="-1.7306767218530038E-2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2E1-4EDF-96D8-C03EA11ECD2D}"/>
                </c:ext>
              </c:extLst>
            </c:dLbl>
            <c:dLbl>
              <c:idx val="9"/>
              <c:layout>
                <c:manualLayout>
                  <c:x val="-1.5864353350622133E-16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2E1-4EDF-96D8-C03EA11ECD2D}"/>
                </c:ext>
              </c:extLst>
            </c:dLbl>
            <c:dLbl>
              <c:idx val="10"/>
              <c:layout>
                <c:manualLayout>
                  <c:x val="-1.2980075413897471E-2"/>
                  <c:y val="4.17743461656960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2E1-4EDF-96D8-C03EA11ECD2D}"/>
                </c:ext>
              </c:extLst>
            </c:dLbl>
            <c:dLbl>
              <c:idx val="11"/>
              <c:layout>
                <c:manualLayout>
                  <c:x val="-1.2980075413897629E-2"/>
                  <c:y val="-6.61367050901834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C5-4636-9179-D0DED98F4DD2}"/>
                </c:ext>
              </c:extLst>
            </c:dLbl>
            <c:dLbl>
              <c:idx val="12"/>
              <c:layout>
                <c:manualLayout>
                  <c:x val="8.6533836092649811E-3"/>
                  <c:y val="3.48119551380799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2E1-4EDF-96D8-C03EA11ECD2D}"/>
                </c:ext>
              </c:extLst>
            </c:dLbl>
            <c:dLbl>
              <c:idx val="13"/>
              <c:layout>
                <c:manualLayout>
                  <c:x val="1.7306767218529962E-2"/>
                  <c:y val="6.61367050901828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C5-4636-9179-D0DED98F4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548</c:v>
                </c:pt>
                <c:pt idx="1">
                  <c:v>551</c:v>
                </c:pt>
                <c:pt idx="2">
                  <c:v>535</c:v>
                </c:pt>
                <c:pt idx="3">
                  <c:v>541</c:v>
                </c:pt>
                <c:pt idx="4">
                  <c:v>549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29271296"/>
        <c:axId val="250328704"/>
      </c:barChart>
      <c:catAx>
        <c:axId val="52927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50328704"/>
        <c:crosses val="autoZero"/>
        <c:auto val="1"/>
        <c:lblAlgn val="ctr"/>
        <c:lblOffset val="100"/>
        <c:noMultiLvlLbl val="0"/>
      </c:catAx>
      <c:valAx>
        <c:axId val="25032870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29271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D37-456A-B374-C6861EC8A192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D37-456A-B374-C6861EC8A192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D37-456A-B374-C6861EC8A192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D37-456A-B374-C6861EC8A192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D37-456A-B374-C6861EC8A192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D37-456A-B374-C6861EC8A192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D37-456A-B374-C6861EC8A192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D37-456A-B374-C6861EC8A192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D37-456A-B374-C6861EC8A1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372</c:v>
                </c:pt>
                <c:pt idx="1">
                  <c:v>373</c:v>
                </c:pt>
                <c:pt idx="2">
                  <c:v>348</c:v>
                </c:pt>
                <c:pt idx="3">
                  <c:v>376</c:v>
                </c:pt>
                <c:pt idx="4">
                  <c:v>374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29519104"/>
        <c:axId val="250364480"/>
      </c:barChart>
      <c:catAx>
        <c:axId val="52951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50364480"/>
        <c:crosses val="autoZero"/>
        <c:auto val="1"/>
        <c:lblAlgn val="ctr"/>
        <c:lblOffset val="100"/>
        <c:noMultiLvlLbl val="0"/>
      </c:catAx>
      <c:valAx>
        <c:axId val="25036448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29519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134</c:v>
                </c:pt>
                <c:pt idx="1">
                  <c:v>136</c:v>
                </c:pt>
                <c:pt idx="2">
                  <c:v>150</c:v>
                </c:pt>
                <c:pt idx="3">
                  <c:v>123</c:v>
                </c:pt>
                <c:pt idx="4">
                  <c:v>132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29520640"/>
        <c:axId val="250366208"/>
      </c:barChart>
      <c:catAx>
        <c:axId val="529520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50366208"/>
        <c:crosses val="autoZero"/>
        <c:auto val="1"/>
        <c:lblAlgn val="ctr"/>
        <c:lblOffset val="100"/>
        <c:noMultiLvlLbl val="0"/>
      </c:catAx>
      <c:valAx>
        <c:axId val="25036620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29520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2.27</c:v>
                </c:pt>
                <c:pt idx="1">
                  <c:v>2.3199999999999998</c:v>
                </c:pt>
                <c:pt idx="2">
                  <c:v>2.4700000000000002</c:v>
                </c:pt>
                <c:pt idx="3">
                  <c:v>2.29</c:v>
                </c:pt>
                <c:pt idx="4">
                  <c:v>2.31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29522176"/>
        <c:axId val="250367936"/>
      </c:barChart>
      <c:catAx>
        <c:axId val="529522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50367936"/>
        <c:crosses val="autoZero"/>
        <c:auto val="1"/>
        <c:lblAlgn val="ctr"/>
        <c:lblOffset val="100"/>
        <c:noMultiLvlLbl val="0"/>
      </c:catAx>
      <c:valAx>
        <c:axId val="250367936"/>
        <c:scaling>
          <c:orientation val="minMax"/>
          <c:min val="1.5"/>
        </c:scaling>
        <c:delete val="1"/>
        <c:axPos val="l"/>
        <c:numFmt formatCode="General" sourceLinked="1"/>
        <c:majorTickMark val="out"/>
        <c:minorTickMark val="none"/>
        <c:tickLblPos val="nextTo"/>
        <c:crossAx val="529522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1.2888548342627799E-2"/>
                  <c:y val="-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6.16</c:v>
                </c:pt>
                <c:pt idx="1">
                  <c:v>6.09</c:v>
                </c:pt>
                <c:pt idx="2">
                  <c:v>5.89</c:v>
                </c:pt>
                <c:pt idx="3">
                  <c:v>6.14</c:v>
                </c:pt>
                <c:pt idx="4">
                  <c:v>6.16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30224128"/>
        <c:axId val="250366784"/>
      </c:barChart>
      <c:catAx>
        <c:axId val="530224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50366784"/>
        <c:crosses val="autoZero"/>
        <c:auto val="1"/>
        <c:lblAlgn val="ctr"/>
        <c:lblOffset val="100"/>
        <c:noMultiLvlLbl val="0"/>
      </c:catAx>
      <c:valAx>
        <c:axId val="250366784"/>
        <c:scaling>
          <c:orientation val="minMax"/>
          <c:min val="5.5"/>
        </c:scaling>
        <c:delete val="1"/>
        <c:axPos val="l"/>
        <c:numFmt formatCode="General" sourceLinked="1"/>
        <c:majorTickMark val="out"/>
        <c:minorTickMark val="none"/>
        <c:tickLblPos val="nextTo"/>
        <c:crossAx val="530224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Aug</c:v>
                </c:pt>
                <c:pt idx="4">
                  <c:v>Apr-Aug</c:v>
                </c:pt>
              </c:strCache>
            </c:strRef>
          </c:cat>
          <c:val>
            <c:numRef>
              <c:f>Sheet1!$B$2:$B$9</c:f>
              <c:numCache>
                <c:formatCode>#,##0.00</c:formatCode>
                <c:ptCount val="5"/>
                <c:pt idx="0">
                  <c:v>2.36</c:v>
                </c:pt>
                <c:pt idx="1">
                  <c:v>2.41</c:v>
                </c:pt>
                <c:pt idx="2">
                  <c:v>2.27</c:v>
                </c:pt>
                <c:pt idx="3">
                  <c:v>2.58</c:v>
                </c:pt>
                <c:pt idx="4">
                  <c:v>2.67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30225664"/>
        <c:axId val="250371392"/>
      </c:barChart>
      <c:catAx>
        <c:axId val="530225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900" b="1"/>
            </a:pPr>
            <a:endParaRPr lang="en-US"/>
          </a:p>
        </c:txPr>
        <c:crossAx val="250371392"/>
        <c:crosses val="autoZero"/>
        <c:auto val="1"/>
        <c:lblAlgn val="ctr"/>
        <c:lblOffset val="100"/>
        <c:noMultiLvlLbl val="0"/>
      </c:catAx>
      <c:valAx>
        <c:axId val="250371392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530225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706396735137693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dLbl>
              <c:idx val="1"/>
              <c:layout>
                <c:manualLayout>
                  <c:x val="0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E1-4EDF-96D8-C03EA11ECD2D}"/>
                </c:ext>
              </c:extLst>
            </c:dLbl>
            <c:dLbl>
              <c:idx val="3"/>
              <c:layout>
                <c:manualLayout>
                  <c:x val="4.3266918046324506E-3"/>
                  <c:y val="2.78495641104640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2E1-4EDF-96D8-C03EA11ECD2D}"/>
                </c:ext>
              </c:extLst>
            </c:dLbl>
            <c:dLbl>
              <c:idx val="5"/>
              <c:layout>
                <c:manualLayout>
                  <c:x val="-8.6533836092649811E-3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2E1-4EDF-96D8-C03EA11ECD2D}"/>
                </c:ext>
              </c:extLst>
            </c:dLbl>
            <c:dLbl>
              <c:idx val="7"/>
              <c:layout>
                <c:manualLayout>
                  <c:x val="-4.3266918046324107E-3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2E1-4EDF-96D8-C03EA11ECD2D}"/>
                </c:ext>
              </c:extLst>
            </c:dLbl>
            <c:dLbl>
              <c:idx val="8"/>
              <c:layout>
                <c:manualLayout>
                  <c:x val="-1.7306767218530038E-2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2E1-4EDF-96D8-C03EA11ECD2D}"/>
                </c:ext>
              </c:extLst>
            </c:dLbl>
            <c:dLbl>
              <c:idx val="9"/>
              <c:layout>
                <c:manualLayout>
                  <c:x val="-1.5864353350622133E-16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2E1-4EDF-96D8-C03EA11ECD2D}"/>
                </c:ext>
              </c:extLst>
            </c:dLbl>
            <c:dLbl>
              <c:idx val="10"/>
              <c:layout>
                <c:manualLayout>
                  <c:x val="-1.2980075413897471E-2"/>
                  <c:y val="4.17743461656960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2E1-4EDF-96D8-C03EA11ECD2D}"/>
                </c:ext>
              </c:extLst>
            </c:dLbl>
            <c:dLbl>
              <c:idx val="11"/>
              <c:layout>
                <c:manualLayout>
                  <c:x val="-1.2980075413897629E-2"/>
                  <c:y val="-6.61367050901834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C5-4636-9179-D0DED98F4DD2}"/>
                </c:ext>
              </c:extLst>
            </c:dLbl>
            <c:dLbl>
              <c:idx val="12"/>
              <c:layout>
                <c:manualLayout>
                  <c:x val="8.6533836092649811E-3"/>
                  <c:y val="3.48119551380799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2E1-4EDF-96D8-C03EA11ECD2D}"/>
                </c:ext>
              </c:extLst>
            </c:dLbl>
            <c:dLbl>
              <c:idx val="13"/>
              <c:layout>
                <c:manualLayout>
                  <c:x val="1.7306767218529962E-2"/>
                  <c:y val="6.61367050901828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C5-4636-9179-D0DED98F4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Sep</c:v>
                </c:pt>
                <c:pt idx="4">
                  <c:v>Apr-Sep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546</c:v>
                </c:pt>
                <c:pt idx="1">
                  <c:v>543</c:v>
                </c:pt>
                <c:pt idx="2">
                  <c:v>525</c:v>
                </c:pt>
                <c:pt idx="3">
                  <c:v>540</c:v>
                </c:pt>
                <c:pt idx="4">
                  <c:v>542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30493440"/>
        <c:axId val="269166272"/>
      </c:barChart>
      <c:catAx>
        <c:axId val="53049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69166272"/>
        <c:crosses val="autoZero"/>
        <c:auto val="1"/>
        <c:lblAlgn val="ctr"/>
        <c:lblOffset val="100"/>
        <c:noMultiLvlLbl val="0"/>
      </c:catAx>
      <c:valAx>
        <c:axId val="26916627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30493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4.759360985095739E-2"/>
          <c:y val="0.22877070984437084"/>
          <c:w val="0.90481278029808521"/>
          <c:h val="0.604117443648116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421</c:v>
                </c:pt>
                <c:pt idx="1">
                  <c:v>419</c:v>
                </c:pt>
                <c:pt idx="2">
                  <c:v>400</c:v>
                </c:pt>
                <c:pt idx="3">
                  <c:v>421</c:v>
                </c:pt>
                <c:pt idx="4">
                  <c:v>425</c:v>
                </c:pt>
                <c:pt idx="5">
                  <c:v>415</c:v>
                </c:pt>
                <c:pt idx="6">
                  <c:v>425</c:v>
                </c:pt>
                <c:pt idx="7">
                  <c:v>426</c:v>
                </c:pt>
                <c:pt idx="8">
                  <c:v>432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69699072"/>
        <c:axId val="284715264"/>
      </c:barChart>
      <c:catAx>
        <c:axId val="469699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715264"/>
        <c:crosses val="autoZero"/>
        <c:auto val="1"/>
        <c:lblAlgn val="ctr"/>
        <c:lblOffset val="100"/>
        <c:noMultiLvlLbl val="0"/>
      </c:catAx>
      <c:valAx>
        <c:axId val="284715264"/>
        <c:scaling>
          <c:orientation val="minMax"/>
          <c:min val="350"/>
        </c:scaling>
        <c:delete val="1"/>
        <c:axPos val="l"/>
        <c:numFmt formatCode="0" sourceLinked="1"/>
        <c:majorTickMark val="out"/>
        <c:minorTickMark val="none"/>
        <c:tickLblPos val="nextTo"/>
        <c:crossAx val="469699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113</c:v>
                </c:pt>
                <c:pt idx="1">
                  <c:v>113</c:v>
                </c:pt>
                <c:pt idx="2">
                  <c:v>119</c:v>
                </c:pt>
                <c:pt idx="3">
                  <c:v>112</c:v>
                </c:pt>
                <c:pt idx="4">
                  <c:v>114</c:v>
                </c:pt>
                <c:pt idx="5">
                  <c:v>116</c:v>
                </c:pt>
                <c:pt idx="6">
                  <c:v>113</c:v>
                </c:pt>
                <c:pt idx="7">
                  <c:v>107</c:v>
                </c:pt>
                <c:pt idx="8">
                  <c:v>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3321472"/>
        <c:axId val="492105664"/>
      </c:barChart>
      <c:catAx>
        <c:axId val="473321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92105664"/>
        <c:crosses val="autoZero"/>
        <c:auto val="1"/>
        <c:lblAlgn val="ctr"/>
        <c:lblOffset val="100"/>
        <c:noMultiLvlLbl val="0"/>
      </c:catAx>
      <c:valAx>
        <c:axId val="492105664"/>
        <c:scaling>
          <c:orientation val="minMax"/>
          <c:min val="90"/>
        </c:scaling>
        <c:delete val="1"/>
        <c:axPos val="l"/>
        <c:numFmt formatCode="0" sourceLinked="1"/>
        <c:majorTickMark val="out"/>
        <c:minorTickMark val="none"/>
        <c:tickLblPos val="nextTo"/>
        <c:crossAx val="473321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2.02</c:v>
                </c:pt>
                <c:pt idx="1">
                  <c:v>2.09</c:v>
                </c:pt>
                <c:pt idx="2">
                  <c:v>2.2400000000000002</c:v>
                </c:pt>
                <c:pt idx="3">
                  <c:v>2.16</c:v>
                </c:pt>
                <c:pt idx="4">
                  <c:v>2.06</c:v>
                </c:pt>
                <c:pt idx="5">
                  <c:v>2.17</c:v>
                </c:pt>
                <c:pt idx="6">
                  <c:v>2.0499999999999998</c:v>
                </c:pt>
                <c:pt idx="7">
                  <c:v>1.94</c:v>
                </c:pt>
                <c:pt idx="8">
                  <c:v>1.91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3323008"/>
        <c:axId val="492108544"/>
      </c:barChart>
      <c:catAx>
        <c:axId val="47332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92108544"/>
        <c:crosses val="autoZero"/>
        <c:auto val="1"/>
        <c:lblAlgn val="ctr"/>
        <c:lblOffset val="100"/>
        <c:noMultiLvlLbl val="0"/>
      </c:catAx>
      <c:valAx>
        <c:axId val="492108544"/>
        <c:scaling>
          <c:orientation val="minMax"/>
          <c:min val="1.5"/>
        </c:scaling>
        <c:delete val="1"/>
        <c:axPos val="l"/>
        <c:numFmt formatCode="0.00" sourceLinked="1"/>
        <c:majorTickMark val="out"/>
        <c:minorTickMark val="none"/>
        <c:tickLblPos val="nextTo"/>
        <c:crossAx val="473323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3.009712603254470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6.26</c:v>
                </c:pt>
                <c:pt idx="1">
                  <c:v>6.18</c:v>
                </c:pt>
                <c:pt idx="2">
                  <c:v>6.03</c:v>
                </c:pt>
                <c:pt idx="3">
                  <c:v>6.17</c:v>
                </c:pt>
                <c:pt idx="4">
                  <c:v>6.3</c:v>
                </c:pt>
                <c:pt idx="5">
                  <c:v>6.14</c:v>
                </c:pt>
                <c:pt idx="6">
                  <c:v>6.19</c:v>
                </c:pt>
                <c:pt idx="7">
                  <c:v>6.2</c:v>
                </c:pt>
                <c:pt idx="8">
                  <c:v>6.41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3324544"/>
        <c:axId val="649019392"/>
      </c:barChart>
      <c:catAx>
        <c:axId val="473324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49019392"/>
        <c:crosses val="autoZero"/>
        <c:auto val="1"/>
        <c:lblAlgn val="ctr"/>
        <c:lblOffset val="100"/>
        <c:noMultiLvlLbl val="0"/>
      </c:catAx>
      <c:valAx>
        <c:axId val="649019392"/>
        <c:scaling>
          <c:orientation val="minMax"/>
          <c:min val="5.5"/>
        </c:scaling>
        <c:delete val="1"/>
        <c:axPos val="l"/>
        <c:numFmt formatCode="0.00" sourceLinked="1"/>
        <c:majorTickMark val="out"/>
        <c:minorTickMark val="none"/>
        <c:tickLblPos val="nextTo"/>
        <c:crossAx val="473324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0.00</c:formatCode>
                <c:ptCount val="8"/>
                <c:pt idx="0">
                  <c:v>2.5499999999999998</c:v>
                </c:pt>
                <c:pt idx="1">
                  <c:v>2.5299999999999998</c:v>
                </c:pt>
                <c:pt idx="2">
                  <c:v>2.4300000000000002</c:v>
                </c:pt>
                <c:pt idx="3">
                  <c:v>2.63</c:v>
                </c:pt>
                <c:pt idx="4">
                  <c:v>2.61</c:v>
                </c:pt>
                <c:pt idx="5">
                  <c:v>2.56</c:v>
                </c:pt>
                <c:pt idx="6">
                  <c:v>2.56</c:v>
                </c:pt>
                <c:pt idx="7">
                  <c:v>2.59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4833408"/>
        <c:axId val="649021120"/>
      </c:barChart>
      <c:catAx>
        <c:axId val="47483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700" b="1"/>
            </a:pPr>
            <a:endParaRPr lang="en-US"/>
          </a:p>
        </c:txPr>
        <c:crossAx val="649021120"/>
        <c:crosses val="autoZero"/>
        <c:auto val="1"/>
        <c:lblAlgn val="ctr"/>
        <c:lblOffset val="100"/>
        <c:noMultiLvlLbl val="0"/>
      </c:catAx>
      <c:valAx>
        <c:axId val="649021120"/>
        <c:scaling>
          <c:orientation val="minMax"/>
        </c:scaling>
        <c:delete val="1"/>
        <c:axPos val="l"/>
        <c:numFmt formatCode="0.00" sourceLinked="1"/>
        <c:majorTickMark val="out"/>
        <c:minorTickMark val="none"/>
        <c:tickLblPos val="nextTo"/>
        <c:crossAx val="474833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3.1623006825952517E-2"/>
          <c:y val="0.15386884171031409"/>
          <c:w val="0.92078338332309007"/>
          <c:h val="0.684382624273212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dLbl>
              <c:idx val="1"/>
              <c:layout>
                <c:manualLayout>
                  <c:x val="0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E1-4EDF-96D8-C03EA11ECD2D}"/>
                </c:ext>
              </c:extLst>
            </c:dLbl>
            <c:dLbl>
              <c:idx val="3"/>
              <c:layout>
                <c:manualLayout>
                  <c:x val="4.3266918046324506E-3"/>
                  <c:y val="2.78495641104640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2E1-4EDF-96D8-C03EA11ECD2D}"/>
                </c:ext>
              </c:extLst>
            </c:dLbl>
            <c:dLbl>
              <c:idx val="5"/>
              <c:layout>
                <c:manualLayout>
                  <c:x val="-8.6533836092649811E-3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2E1-4EDF-96D8-C03EA11ECD2D}"/>
                </c:ext>
              </c:extLst>
            </c:dLbl>
            <c:dLbl>
              <c:idx val="7"/>
              <c:layout>
                <c:manualLayout>
                  <c:x val="-4.3266918046324107E-3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2E1-4EDF-96D8-C03EA11ECD2D}"/>
                </c:ext>
              </c:extLst>
            </c:dLbl>
            <c:dLbl>
              <c:idx val="8"/>
              <c:layout>
                <c:manualLayout>
                  <c:x val="-1.7306767218530038E-2"/>
                  <c:y val="4.177434616569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2E1-4EDF-96D8-C03EA11ECD2D}"/>
                </c:ext>
              </c:extLst>
            </c:dLbl>
            <c:dLbl>
              <c:idx val="9"/>
              <c:layout>
                <c:manualLayout>
                  <c:x val="-1.5864353350622133E-16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2E1-4EDF-96D8-C03EA11ECD2D}"/>
                </c:ext>
              </c:extLst>
            </c:dLbl>
            <c:dLbl>
              <c:idx val="10"/>
              <c:layout>
                <c:manualLayout>
                  <c:x val="-1.2980075413897471E-2"/>
                  <c:y val="4.17743461656960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2E1-4EDF-96D8-C03EA11ECD2D}"/>
                </c:ext>
              </c:extLst>
            </c:dLbl>
            <c:dLbl>
              <c:idx val="11"/>
              <c:layout>
                <c:manualLayout>
                  <c:x val="-1.2980075413897629E-2"/>
                  <c:y val="-6.61367050901834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C5-4636-9179-D0DED98F4DD2}"/>
                </c:ext>
              </c:extLst>
            </c:dLbl>
            <c:dLbl>
              <c:idx val="12"/>
              <c:layout>
                <c:manualLayout>
                  <c:x val="8.6533836092649811E-3"/>
                  <c:y val="3.48119551380799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2E1-4EDF-96D8-C03EA11ECD2D}"/>
                </c:ext>
              </c:extLst>
            </c:dLbl>
            <c:dLbl>
              <c:idx val="13"/>
              <c:layout>
                <c:manualLayout>
                  <c:x val="1.7306767218529962E-2"/>
                  <c:y val="6.61367050901828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C5-4636-9179-D0DED98F4D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558</c:v>
                </c:pt>
                <c:pt idx="1">
                  <c:v>553</c:v>
                </c:pt>
                <c:pt idx="2">
                  <c:v>536</c:v>
                </c:pt>
                <c:pt idx="3">
                  <c:v>554</c:v>
                </c:pt>
                <c:pt idx="4">
                  <c:v>557</c:v>
                </c:pt>
                <c:pt idx="5">
                  <c:v>550</c:v>
                </c:pt>
                <c:pt idx="6">
                  <c:v>557</c:v>
                </c:pt>
                <c:pt idx="7">
                  <c:v>553</c:v>
                </c:pt>
                <c:pt idx="8">
                  <c:v>551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048256"/>
        <c:axId val="649023424"/>
      </c:barChart>
      <c:catAx>
        <c:axId val="478048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49023424"/>
        <c:crosses val="autoZero"/>
        <c:auto val="1"/>
        <c:lblAlgn val="ctr"/>
        <c:lblOffset val="100"/>
        <c:noMultiLvlLbl val="0"/>
      </c:catAx>
      <c:valAx>
        <c:axId val="649023424"/>
        <c:scaling>
          <c:orientation val="minMax"/>
          <c:max val="580"/>
          <c:min val="530"/>
        </c:scaling>
        <c:delete val="1"/>
        <c:axPos val="l"/>
        <c:numFmt formatCode="0" sourceLinked="1"/>
        <c:majorTickMark val="out"/>
        <c:minorTickMark val="none"/>
        <c:tickLblPos val="nextTo"/>
        <c:crossAx val="478048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430</c:v>
                </c:pt>
                <c:pt idx="1">
                  <c:v>426</c:v>
                </c:pt>
                <c:pt idx="2">
                  <c:v>407</c:v>
                </c:pt>
                <c:pt idx="3">
                  <c:v>433</c:v>
                </c:pt>
                <c:pt idx="4">
                  <c:v>429</c:v>
                </c:pt>
                <c:pt idx="5">
                  <c:v>424</c:v>
                </c:pt>
                <c:pt idx="6">
                  <c:v>430</c:v>
                </c:pt>
                <c:pt idx="7">
                  <c:v>432</c:v>
                </c:pt>
                <c:pt idx="8">
                  <c:v>447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225869824"/>
        <c:axId val="485423872"/>
      </c:barChart>
      <c:catAx>
        <c:axId val="225869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85423872"/>
        <c:crosses val="autoZero"/>
        <c:auto val="1"/>
        <c:lblAlgn val="ctr"/>
        <c:lblOffset val="100"/>
        <c:noMultiLvlLbl val="0"/>
      </c:catAx>
      <c:valAx>
        <c:axId val="485423872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225869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134</c:v>
                </c:pt>
                <c:pt idx="1">
                  <c:v>118</c:v>
                </c:pt>
                <c:pt idx="2">
                  <c:v>125</c:v>
                </c:pt>
                <c:pt idx="3">
                  <c:v>113</c:v>
                </c:pt>
                <c:pt idx="4">
                  <c:v>118</c:v>
                </c:pt>
                <c:pt idx="5">
                  <c:v>120</c:v>
                </c:pt>
                <c:pt idx="6">
                  <c:v>115</c:v>
                </c:pt>
                <c:pt idx="7">
                  <c:v>112</c:v>
                </c:pt>
                <c:pt idx="8">
                  <c:v>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243312640"/>
        <c:axId val="285292736"/>
      </c:barChart>
      <c:catAx>
        <c:axId val="243312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292736"/>
        <c:crosses val="autoZero"/>
        <c:auto val="1"/>
        <c:lblAlgn val="ctr"/>
        <c:lblOffset val="100"/>
        <c:noMultiLvlLbl val="0"/>
      </c:catAx>
      <c:valAx>
        <c:axId val="285292736"/>
        <c:scaling>
          <c:orientation val="minMax"/>
          <c:min val="90"/>
        </c:scaling>
        <c:delete val="1"/>
        <c:axPos val="l"/>
        <c:numFmt formatCode="0" sourceLinked="1"/>
        <c:majorTickMark val="out"/>
        <c:minorTickMark val="none"/>
        <c:tickLblPos val="nextTo"/>
        <c:crossAx val="243312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1.93</c:v>
                </c:pt>
                <c:pt idx="1">
                  <c:v>2.04</c:v>
                </c:pt>
                <c:pt idx="2">
                  <c:v>2.2400000000000002</c:v>
                </c:pt>
                <c:pt idx="3">
                  <c:v>2.1</c:v>
                </c:pt>
                <c:pt idx="4">
                  <c:v>2.08</c:v>
                </c:pt>
                <c:pt idx="5">
                  <c:v>2.11</c:v>
                </c:pt>
                <c:pt idx="6">
                  <c:v>2.09</c:v>
                </c:pt>
                <c:pt idx="7">
                  <c:v>1.96</c:v>
                </c:pt>
                <c:pt idx="8">
                  <c:v>1.79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243313152"/>
        <c:axId val="485424448"/>
      </c:barChart>
      <c:catAx>
        <c:axId val="243313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85424448"/>
        <c:crosses val="autoZero"/>
        <c:auto val="1"/>
        <c:lblAlgn val="ctr"/>
        <c:lblOffset val="100"/>
        <c:noMultiLvlLbl val="0"/>
      </c:catAx>
      <c:valAx>
        <c:axId val="485424448"/>
        <c:scaling>
          <c:orientation val="minMax"/>
          <c:min val="1.5"/>
        </c:scaling>
        <c:delete val="1"/>
        <c:axPos val="l"/>
        <c:numFmt formatCode="General" sourceLinked="1"/>
        <c:majorTickMark val="out"/>
        <c:minorTickMark val="none"/>
        <c:tickLblPos val="nextTo"/>
        <c:crossAx val="243313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6.3</c:v>
                </c:pt>
                <c:pt idx="1">
                  <c:v>6.08</c:v>
                </c:pt>
                <c:pt idx="2">
                  <c:v>5.86</c:v>
                </c:pt>
                <c:pt idx="3">
                  <c:v>6.03</c:v>
                </c:pt>
                <c:pt idx="4">
                  <c:v>6.04</c:v>
                </c:pt>
                <c:pt idx="5">
                  <c:v>6.03</c:v>
                </c:pt>
                <c:pt idx="6">
                  <c:v>6.06</c:v>
                </c:pt>
                <c:pt idx="7">
                  <c:v>6.26</c:v>
                </c:pt>
                <c:pt idx="8">
                  <c:v>6.92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19169280"/>
        <c:axId val="492050048"/>
      </c:barChart>
      <c:catAx>
        <c:axId val="419169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92050048"/>
        <c:crosses val="autoZero"/>
        <c:auto val="1"/>
        <c:lblAlgn val="ctr"/>
        <c:lblOffset val="100"/>
        <c:noMultiLvlLbl val="0"/>
      </c:catAx>
      <c:valAx>
        <c:axId val="492050048"/>
        <c:scaling>
          <c:orientation val="minMax"/>
          <c:min val="5.5"/>
        </c:scaling>
        <c:delete val="1"/>
        <c:axPos val="l"/>
        <c:numFmt formatCode="0.00" sourceLinked="1"/>
        <c:majorTickMark val="out"/>
        <c:minorTickMark val="none"/>
        <c:tickLblPos val="nextTo"/>
        <c:crossAx val="419169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8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Sheet1!$B$2:$B$12</c:f>
              <c:numCache>
                <c:formatCode>#,##0.00</c:formatCode>
                <c:ptCount val="8"/>
                <c:pt idx="0">
                  <c:v>2.62</c:v>
                </c:pt>
                <c:pt idx="1">
                  <c:v>2.54</c:v>
                </c:pt>
                <c:pt idx="2">
                  <c:v>2.4500000000000002</c:v>
                </c:pt>
                <c:pt idx="3" formatCode="General">
                  <c:v>2.58</c:v>
                </c:pt>
                <c:pt idx="4">
                  <c:v>2.52</c:v>
                </c:pt>
                <c:pt idx="5">
                  <c:v>2.5</c:v>
                </c:pt>
                <c:pt idx="6">
                  <c:v>2.5099999999999998</c:v>
                </c:pt>
                <c:pt idx="7">
                  <c:v>2.6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243313664"/>
        <c:axId val="492051776"/>
      </c:barChart>
      <c:catAx>
        <c:axId val="243313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900" b="1"/>
            </a:pPr>
            <a:endParaRPr lang="en-US"/>
          </a:p>
        </c:txPr>
        <c:crossAx val="492051776"/>
        <c:crosses val="autoZero"/>
        <c:auto val="1"/>
        <c:lblAlgn val="ctr"/>
        <c:lblOffset val="100"/>
        <c:noMultiLvlLbl val="0"/>
      </c:catAx>
      <c:valAx>
        <c:axId val="492051776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243313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20677823112955765"/>
          <c:w val="0.87751646527676519"/>
          <c:h val="0.593964374708699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585</c:v>
                </c:pt>
                <c:pt idx="1">
                  <c:v>566</c:v>
                </c:pt>
                <c:pt idx="2">
                  <c:v>550</c:v>
                </c:pt>
                <c:pt idx="3">
                  <c:v>569</c:v>
                </c:pt>
                <c:pt idx="4">
                  <c:v>567</c:v>
                </c:pt>
                <c:pt idx="5">
                  <c:v>564</c:v>
                </c:pt>
                <c:pt idx="6">
                  <c:v>565</c:v>
                </c:pt>
                <c:pt idx="7">
                  <c:v>564</c:v>
                </c:pt>
                <c:pt idx="8">
                  <c:v>566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21519872"/>
        <c:axId val="492103360"/>
      </c:barChart>
      <c:catAx>
        <c:axId val="421519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92103360"/>
        <c:crosses val="autoZero"/>
        <c:auto val="1"/>
        <c:lblAlgn val="ctr"/>
        <c:lblOffset val="100"/>
        <c:noMultiLvlLbl val="0"/>
      </c:catAx>
      <c:valAx>
        <c:axId val="4921033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21519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  <c:userShapes r:id="rId2"/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456</c:v>
                </c:pt>
                <c:pt idx="1">
                  <c:v>463</c:v>
                </c:pt>
                <c:pt idx="2">
                  <c:v>440</c:v>
                </c:pt>
                <c:pt idx="3">
                  <c:v>453</c:v>
                </c:pt>
                <c:pt idx="4">
                  <c:v>452</c:v>
                </c:pt>
                <c:pt idx="5">
                  <c:v>453</c:v>
                </c:pt>
                <c:pt idx="6">
                  <c:v>446</c:v>
                </c:pt>
                <c:pt idx="7">
                  <c:v>451</c:v>
                </c:pt>
                <c:pt idx="8">
                  <c:v>455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322176"/>
        <c:axId val="649025728"/>
      </c:barChart>
      <c:catAx>
        <c:axId val="478322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49025728"/>
        <c:crosses val="autoZero"/>
        <c:auto val="1"/>
        <c:lblAlgn val="ctr"/>
        <c:lblOffset val="100"/>
        <c:noMultiLvlLbl val="0"/>
      </c:catAx>
      <c:valAx>
        <c:axId val="649025728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478322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1.2965344417058038E-2"/>
                  <c:y val="1.33529002888631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65</c:v>
                </c:pt>
                <c:pt idx="1">
                  <c:v>60</c:v>
                </c:pt>
                <c:pt idx="2">
                  <c:v>77</c:v>
                </c:pt>
                <c:pt idx="3">
                  <c:v>63</c:v>
                </c:pt>
                <c:pt idx="4">
                  <c:v>71</c:v>
                </c:pt>
                <c:pt idx="5">
                  <c:v>66</c:v>
                </c:pt>
                <c:pt idx="6">
                  <c:v>71</c:v>
                </c:pt>
                <c:pt idx="7">
                  <c:v>71</c:v>
                </c:pt>
                <c:pt idx="8">
                  <c:v>72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323712"/>
        <c:axId val="653319488"/>
      </c:barChart>
      <c:catAx>
        <c:axId val="478323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53319488"/>
        <c:crosses val="autoZero"/>
        <c:auto val="1"/>
        <c:lblAlgn val="ctr"/>
        <c:lblOffset val="100"/>
        <c:noMultiLvlLbl val="0"/>
      </c:catAx>
      <c:valAx>
        <c:axId val="6533194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8323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1.79</c:v>
                </c:pt>
                <c:pt idx="1">
                  <c:v>1.74</c:v>
                </c:pt>
                <c:pt idx="2">
                  <c:v>1.96</c:v>
                </c:pt>
                <c:pt idx="3">
                  <c:v>1.85</c:v>
                </c:pt>
                <c:pt idx="4">
                  <c:v>1.83</c:v>
                </c:pt>
                <c:pt idx="5">
                  <c:v>1.79</c:v>
                </c:pt>
                <c:pt idx="6">
                  <c:v>1.89</c:v>
                </c:pt>
                <c:pt idx="7">
                  <c:v>1.84</c:v>
                </c:pt>
                <c:pt idx="8">
                  <c:v>1.77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326272"/>
        <c:axId val="284903104"/>
      </c:barChart>
      <c:catAx>
        <c:axId val="478326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903104"/>
        <c:crosses val="autoZero"/>
        <c:auto val="1"/>
        <c:lblAlgn val="ctr"/>
        <c:lblOffset val="100"/>
        <c:noMultiLvlLbl val="0"/>
      </c:catAx>
      <c:valAx>
        <c:axId val="284903104"/>
        <c:scaling>
          <c:orientation val="minMax"/>
          <c:min val="1.5"/>
        </c:scaling>
        <c:delete val="1"/>
        <c:axPos val="l"/>
        <c:numFmt formatCode="General" sourceLinked="1"/>
        <c:majorTickMark val="out"/>
        <c:minorTickMark val="none"/>
        <c:tickLblPos val="nextTo"/>
        <c:crossAx val="478326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6.35</c:v>
                </c:pt>
                <c:pt idx="1">
                  <c:v>6.36</c:v>
                </c:pt>
                <c:pt idx="2">
                  <c:v>6.34</c:v>
                </c:pt>
                <c:pt idx="3">
                  <c:v>6.38</c:v>
                </c:pt>
                <c:pt idx="4">
                  <c:v>6.56</c:v>
                </c:pt>
                <c:pt idx="5">
                  <c:v>6.44</c:v>
                </c:pt>
                <c:pt idx="6">
                  <c:v>6.41</c:v>
                </c:pt>
                <c:pt idx="7">
                  <c:v>6.53</c:v>
                </c:pt>
                <c:pt idx="8">
                  <c:v>6.47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544896"/>
        <c:axId val="284904832"/>
      </c:barChart>
      <c:catAx>
        <c:axId val="478544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904832"/>
        <c:crosses val="autoZero"/>
        <c:auto val="1"/>
        <c:lblAlgn val="ctr"/>
        <c:lblOffset val="100"/>
        <c:noMultiLvlLbl val="0"/>
      </c:catAx>
      <c:valAx>
        <c:axId val="284904832"/>
        <c:scaling>
          <c:orientation val="minMax"/>
          <c:min val="5.5"/>
        </c:scaling>
        <c:delete val="1"/>
        <c:axPos val="l"/>
        <c:numFmt formatCode="General" sourceLinked="1"/>
        <c:majorTickMark val="out"/>
        <c:minorTickMark val="none"/>
        <c:tickLblPos val="nextTo"/>
        <c:crossAx val="478544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0.00</c:formatCode>
                <c:ptCount val="8"/>
                <c:pt idx="0">
                  <c:v>2.48</c:v>
                </c:pt>
                <c:pt idx="1">
                  <c:v>2.52</c:v>
                </c:pt>
                <c:pt idx="2">
                  <c:v>2.48</c:v>
                </c:pt>
                <c:pt idx="3">
                  <c:v>3.02</c:v>
                </c:pt>
                <c:pt idx="4">
                  <c:v>2.59</c:v>
                </c:pt>
                <c:pt idx="5">
                  <c:v>2.58</c:v>
                </c:pt>
                <c:pt idx="6">
                  <c:v>2.5</c:v>
                </c:pt>
                <c:pt idx="7">
                  <c:v>2.6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546432"/>
        <c:axId val="284906560"/>
      </c:barChart>
      <c:catAx>
        <c:axId val="478546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700" b="1"/>
            </a:pPr>
            <a:endParaRPr lang="en-US"/>
          </a:p>
        </c:txPr>
        <c:crossAx val="284906560"/>
        <c:crosses val="autoZero"/>
        <c:auto val="1"/>
        <c:lblAlgn val="ctr"/>
        <c:lblOffset val="100"/>
        <c:noMultiLvlLbl val="0"/>
      </c:catAx>
      <c:valAx>
        <c:axId val="284906560"/>
        <c:scaling>
          <c:orientation val="minMax"/>
        </c:scaling>
        <c:delete val="1"/>
        <c:axPos val="l"/>
        <c:numFmt formatCode="0.00" sourceLinked="1"/>
        <c:majorTickMark val="out"/>
        <c:minorTickMark val="none"/>
        <c:tickLblPos val="nextTo"/>
        <c:crossAx val="478546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686555761834955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543</c:v>
                </c:pt>
                <c:pt idx="1">
                  <c:v>546</c:v>
                </c:pt>
                <c:pt idx="2">
                  <c:v>535</c:v>
                </c:pt>
                <c:pt idx="3">
                  <c:v>539</c:v>
                </c:pt>
                <c:pt idx="4">
                  <c:v>542</c:v>
                </c:pt>
                <c:pt idx="5">
                  <c:v>539</c:v>
                </c:pt>
                <c:pt idx="6">
                  <c:v>537</c:v>
                </c:pt>
                <c:pt idx="7">
                  <c:v>537</c:v>
                </c:pt>
                <c:pt idx="8">
                  <c:v>541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826496"/>
        <c:axId val="284908864"/>
      </c:barChart>
      <c:catAx>
        <c:axId val="478826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908864"/>
        <c:crosses val="autoZero"/>
        <c:auto val="1"/>
        <c:lblAlgn val="ctr"/>
        <c:lblOffset val="100"/>
        <c:noMultiLvlLbl val="0"/>
      </c:catAx>
      <c:valAx>
        <c:axId val="28490886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8826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391</c:v>
                </c:pt>
                <c:pt idx="1">
                  <c:v>386</c:v>
                </c:pt>
                <c:pt idx="2">
                  <c:v>381</c:v>
                </c:pt>
                <c:pt idx="3">
                  <c:v>392</c:v>
                </c:pt>
                <c:pt idx="4">
                  <c:v>396</c:v>
                </c:pt>
                <c:pt idx="5">
                  <c:v>390</c:v>
                </c:pt>
                <c:pt idx="6">
                  <c:v>407</c:v>
                </c:pt>
                <c:pt idx="7">
                  <c:v>416</c:v>
                </c:pt>
                <c:pt idx="8">
                  <c:v>410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952960"/>
        <c:axId val="507832000"/>
      </c:barChart>
      <c:catAx>
        <c:axId val="478952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07832000"/>
        <c:crosses val="autoZero"/>
        <c:auto val="1"/>
        <c:lblAlgn val="ctr"/>
        <c:lblOffset val="100"/>
        <c:noMultiLvlLbl val="0"/>
      </c:catAx>
      <c:valAx>
        <c:axId val="507832000"/>
        <c:scaling>
          <c:orientation val="minMax"/>
          <c:min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478952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133</c:v>
                </c:pt>
                <c:pt idx="1">
                  <c:v>143</c:v>
                </c:pt>
                <c:pt idx="2">
                  <c:v>137</c:v>
                </c:pt>
                <c:pt idx="3">
                  <c:v>145</c:v>
                </c:pt>
                <c:pt idx="4">
                  <c:v>147</c:v>
                </c:pt>
                <c:pt idx="5">
                  <c:v>144</c:v>
                </c:pt>
                <c:pt idx="6">
                  <c:v>142</c:v>
                </c:pt>
                <c:pt idx="7">
                  <c:v>135</c:v>
                </c:pt>
                <c:pt idx="8">
                  <c:v>134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955520"/>
        <c:axId val="507831424"/>
      </c:barChart>
      <c:catAx>
        <c:axId val="478955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07831424"/>
        <c:crosses val="autoZero"/>
        <c:auto val="1"/>
        <c:lblAlgn val="ctr"/>
        <c:lblOffset val="100"/>
        <c:noMultiLvlLbl val="0"/>
      </c:catAx>
      <c:valAx>
        <c:axId val="50783142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8955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2.31</c:v>
                </c:pt>
                <c:pt idx="1">
                  <c:v>2.46</c:v>
                </c:pt>
                <c:pt idx="2">
                  <c:v>2.5099999999999998</c:v>
                </c:pt>
                <c:pt idx="3">
                  <c:v>2.5</c:v>
                </c:pt>
                <c:pt idx="4">
                  <c:v>2.39</c:v>
                </c:pt>
                <c:pt idx="5">
                  <c:v>2.46</c:v>
                </c:pt>
                <c:pt idx="6">
                  <c:v>2.29</c:v>
                </c:pt>
                <c:pt idx="7">
                  <c:v>1.89</c:v>
                </c:pt>
                <c:pt idx="8">
                  <c:v>1.97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8957056"/>
        <c:axId val="507835456"/>
      </c:barChart>
      <c:catAx>
        <c:axId val="478957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07835456"/>
        <c:crosses val="autoZero"/>
        <c:auto val="1"/>
        <c:lblAlgn val="ctr"/>
        <c:lblOffset val="100"/>
        <c:noMultiLvlLbl val="0"/>
      </c:catAx>
      <c:valAx>
        <c:axId val="507835456"/>
        <c:scaling>
          <c:orientation val="minMax"/>
          <c:min val="1.5"/>
        </c:scaling>
        <c:delete val="1"/>
        <c:axPos val="l"/>
        <c:numFmt formatCode="0.00" sourceLinked="1"/>
        <c:majorTickMark val="out"/>
        <c:minorTickMark val="none"/>
        <c:tickLblPos val="nextTo"/>
        <c:crossAx val="478957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5.92</c:v>
                </c:pt>
                <c:pt idx="1">
                  <c:v>6</c:v>
                </c:pt>
                <c:pt idx="2">
                  <c:v>5.98</c:v>
                </c:pt>
                <c:pt idx="3">
                  <c:v>6.15</c:v>
                </c:pt>
                <c:pt idx="4">
                  <c:v>6.22</c:v>
                </c:pt>
                <c:pt idx="5">
                  <c:v>5.98</c:v>
                </c:pt>
                <c:pt idx="6">
                  <c:v>6.12</c:v>
                </c:pt>
                <c:pt idx="7">
                  <c:v>6</c:v>
                </c:pt>
                <c:pt idx="8">
                  <c:v>6.13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9278080"/>
        <c:axId val="507837184"/>
      </c:barChart>
      <c:catAx>
        <c:axId val="47927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07837184"/>
        <c:crosses val="autoZero"/>
        <c:auto val="1"/>
        <c:lblAlgn val="ctr"/>
        <c:lblOffset val="100"/>
        <c:noMultiLvlLbl val="0"/>
      </c:catAx>
      <c:valAx>
        <c:axId val="507837184"/>
        <c:scaling>
          <c:orientation val="minMax"/>
          <c:min val="5.5"/>
        </c:scaling>
        <c:delete val="1"/>
        <c:axPos val="l"/>
        <c:numFmt formatCode="0.00" sourceLinked="1"/>
        <c:majorTickMark val="out"/>
        <c:minorTickMark val="none"/>
        <c:tickLblPos val="nextTo"/>
        <c:crossAx val="479278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8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Sheet1!$B$2:$B$12</c:f>
              <c:numCache>
                <c:formatCode>#,##0.00</c:formatCode>
                <c:ptCount val="8"/>
                <c:pt idx="0">
                  <c:v>2.5299999999999998</c:v>
                </c:pt>
                <c:pt idx="1">
                  <c:v>2.5099999999999998</c:v>
                </c:pt>
                <c:pt idx="2">
                  <c:v>2.41</c:v>
                </c:pt>
                <c:pt idx="3" formatCode="General">
                  <c:v>2.61</c:v>
                </c:pt>
                <c:pt idx="4">
                  <c:v>2.63</c:v>
                </c:pt>
                <c:pt idx="5">
                  <c:v>2.58</c:v>
                </c:pt>
                <c:pt idx="6">
                  <c:v>2.62</c:v>
                </c:pt>
                <c:pt idx="7">
                  <c:v>2.6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9279616"/>
        <c:axId val="284959296"/>
      </c:barChart>
      <c:catAx>
        <c:axId val="479279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700" b="1"/>
            </a:pPr>
            <a:endParaRPr lang="en-US"/>
          </a:p>
        </c:txPr>
        <c:crossAx val="284959296"/>
        <c:crosses val="autoZero"/>
        <c:auto val="1"/>
        <c:lblAlgn val="ctr"/>
        <c:lblOffset val="100"/>
        <c:noMultiLvlLbl val="0"/>
      </c:catAx>
      <c:valAx>
        <c:axId val="284959296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479279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3.5399834018563218E-2"/>
          <c:y val="3.968202305410972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64687373878084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549</c:v>
                </c:pt>
                <c:pt idx="1">
                  <c:v>547</c:v>
                </c:pt>
                <c:pt idx="2">
                  <c:v>528</c:v>
                </c:pt>
                <c:pt idx="3">
                  <c:v>553</c:v>
                </c:pt>
                <c:pt idx="4">
                  <c:v>559</c:v>
                </c:pt>
                <c:pt idx="5">
                  <c:v>551</c:v>
                </c:pt>
                <c:pt idx="6">
                  <c:v>566</c:v>
                </c:pt>
                <c:pt idx="7">
                  <c:v>565</c:v>
                </c:pt>
                <c:pt idx="8">
                  <c:v>560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9703040"/>
        <c:axId val="284961600"/>
      </c:barChart>
      <c:catAx>
        <c:axId val="47970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961600"/>
        <c:crosses val="autoZero"/>
        <c:auto val="1"/>
        <c:lblAlgn val="ctr"/>
        <c:lblOffset val="100"/>
        <c:noMultiLvlLbl val="0"/>
      </c:catAx>
      <c:valAx>
        <c:axId val="28496160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9703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445</c:v>
                </c:pt>
                <c:pt idx="1">
                  <c:v>446</c:v>
                </c:pt>
                <c:pt idx="2">
                  <c:v>420</c:v>
                </c:pt>
                <c:pt idx="3">
                  <c:v>441</c:v>
                </c:pt>
                <c:pt idx="4">
                  <c:v>437</c:v>
                </c:pt>
                <c:pt idx="5">
                  <c:v>438</c:v>
                </c:pt>
                <c:pt idx="6">
                  <c:v>459</c:v>
                </c:pt>
                <c:pt idx="7">
                  <c:v>447</c:v>
                </c:pt>
                <c:pt idx="8">
                  <c:v>459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9985152"/>
        <c:axId val="284963904"/>
      </c:barChart>
      <c:catAx>
        <c:axId val="47998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4963904"/>
        <c:crosses val="autoZero"/>
        <c:auto val="1"/>
        <c:lblAlgn val="ctr"/>
        <c:lblOffset val="100"/>
        <c:noMultiLvlLbl val="0"/>
      </c:catAx>
      <c:valAx>
        <c:axId val="284963904"/>
        <c:scaling>
          <c:orientation val="minMax"/>
          <c:min val="350"/>
        </c:scaling>
        <c:delete val="1"/>
        <c:axPos val="l"/>
        <c:numFmt formatCode="0" sourceLinked="1"/>
        <c:majorTickMark val="out"/>
        <c:minorTickMark val="none"/>
        <c:tickLblPos val="nextTo"/>
        <c:crossAx val="47998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85</c:v>
                </c:pt>
                <c:pt idx="1">
                  <c:v>89</c:v>
                </c:pt>
                <c:pt idx="2">
                  <c:v>100</c:v>
                </c:pt>
                <c:pt idx="3">
                  <c:v>93</c:v>
                </c:pt>
                <c:pt idx="4">
                  <c:v>100</c:v>
                </c:pt>
                <c:pt idx="5">
                  <c:v>95</c:v>
                </c:pt>
                <c:pt idx="6">
                  <c:v>88</c:v>
                </c:pt>
                <c:pt idx="7">
                  <c:v>77</c:v>
                </c:pt>
                <c:pt idx="8">
                  <c:v>69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9987712"/>
        <c:axId val="507836608"/>
      </c:barChart>
      <c:catAx>
        <c:axId val="47998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07836608"/>
        <c:crosses val="autoZero"/>
        <c:auto val="1"/>
        <c:lblAlgn val="ctr"/>
        <c:lblOffset val="100"/>
        <c:noMultiLvlLbl val="0"/>
      </c:catAx>
      <c:valAx>
        <c:axId val="507836608"/>
        <c:scaling>
          <c:orientation val="minMax"/>
        </c:scaling>
        <c:delete val="1"/>
        <c:axPos val="l"/>
        <c:numFmt formatCode="0" sourceLinked="1"/>
        <c:majorTickMark val="out"/>
        <c:minorTickMark val="none"/>
        <c:tickLblPos val="nextTo"/>
        <c:crossAx val="47998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1.91</c:v>
                </c:pt>
                <c:pt idx="1">
                  <c:v>1.97</c:v>
                </c:pt>
                <c:pt idx="2">
                  <c:v>2.1</c:v>
                </c:pt>
                <c:pt idx="3">
                  <c:v>2.0699999999999998</c:v>
                </c:pt>
                <c:pt idx="4">
                  <c:v>1.94</c:v>
                </c:pt>
                <c:pt idx="5">
                  <c:v>2.06</c:v>
                </c:pt>
                <c:pt idx="6">
                  <c:v>1.77</c:v>
                </c:pt>
                <c:pt idx="7">
                  <c:v>1.79</c:v>
                </c:pt>
                <c:pt idx="8">
                  <c:v>1.88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79989248"/>
        <c:axId val="285090368"/>
      </c:barChart>
      <c:catAx>
        <c:axId val="479989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090368"/>
        <c:crosses val="autoZero"/>
        <c:auto val="1"/>
        <c:lblAlgn val="ctr"/>
        <c:lblOffset val="100"/>
        <c:noMultiLvlLbl val="0"/>
      </c:catAx>
      <c:valAx>
        <c:axId val="285090368"/>
        <c:scaling>
          <c:orientation val="minMax"/>
          <c:min val="1.5"/>
        </c:scaling>
        <c:delete val="1"/>
        <c:axPos val="l"/>
        <c:numFmt formatCode="0.00" sourceLinked="1"/>
        <c:majorTickMark val="out"/>
        <c:minorTickMark val="none"/>
        <c:tickLblPos val="nextTo"/>
        <c:crossAx val="479989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6.52</c:v>
                </c:pt>
                <c:pt idx="1">
                  <c:v>6.44</c:v>
                </c:pt>
                <c:pt idx="2">
                  <c:v>6.2</c:v>
                </c:pt>
                <c:pt idx="3">
                  <c:v>6.32</c:v>
                </c:pt>
                <c:pt idx="4">
                  <c:v>6.35</c:v>
                </c:pt>
                <c:pt idx="5">
                  <c:v>6.35</c:v>
                </c:pt>
                <c:pt idx="6">
                  <c:v>6.38</c:v>
                </c:pt>
                <c:pt idx="7">
                  <c:v>6.29</c:v>
                </c:pt>
                <c:pt idx="8">
                  <c:v>6.32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0379904"/>
        <c:axId val="285092096"/>
      </c:barChart>
      <c:catAx>
        <c:axId val="480379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092096"/>
        <c:crosses val="autoZero"/>
        <c:auto val="1"/>
        <c:lblAlgn val="ctr"/>
        <c:lblOffset val="100"/>
        <c:noMultiLvlLbl val="0"/>
      </c:catAx>
      <c:valAx>
        <c:axId val="285092096"/>
        <c:scaling>
          <c:orientation val="minMax"/>
          <c:min val="5.5"/>
        </c:scaling>
        <c:delete val="1"/>
        <c:axPos val="l"/>
        <c:numFmt formatCode="General" sourceLinked="1"/>
        <c:majorTickMark val="out"/>
        <c:minorTickMark val="none"/>
        <c:tickLblPos val="nextTo"/>
        <c:crossAx val="480379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0.00</c:formatCode>
                <c:ptCount val="8"/>
                <c:pt idx="0">
                  <c:v>2.62</c:v>
                </c:pt>
                <c:pt idx="1">
                  <c:v>2.6</c:v>
                </c:pt>
                <c:pt idx="2">
                  <c:v>2.4700000000000002</c:v>
                </c:pt>
                <c:pt idx="3">
                  <c:v>2.58</c:v>
                </c:pt>
                <c:pt idx="4">
                  <c:v>2.62</c:v>
                </c:pt>
                <c:pt idx="5">
                  <c:v>2.6</c:v>
                </c:pt>
                <c:pt idx="6">
                  <c:v>2.58</c:v>
                </c:pt>
                <c:pt idx="7">
                  <c:v>2.57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0381440"/>
        <c:axId val="285093824"/>
      </c:barChart>
      <c:catAx>
        <c:axId val="48038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700" b="1"/>
            </a:pPr>
            <a:endParaRPr lang="en-US"/>
          </a:p>
        </c:txPr>
        <c:crossAx val="285093824"/>
        <c:crosses val="autoZero"/>
        <c:auto val="1"/>
        <c:lblAlgn val="ctr"/>
        <c:lblOffset val="100"/>
        <c:noMultiLvlLbl val="0"/>
      </c:catAx>
      <c:valAx>
        <c:axId val="285093824"/>
        <c:scaling>
          <c:orientation val="minMax"/>
        </c:scaling>
        <c:delete val="1"/>
        <c:axPos val="l"/>
        <c:numFmt formatCode="0.00" sourceLinked="1"/>
        <c:majorTickMark val="out"/>
        <c:minorTickMark val="none"/>
        <c:tickLblPos val="nextTo"/>
        <c:crossAx val="480381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7.8666752064888129E-2"/>
          <c:y val="3.968202305410972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686555761834955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548</c:v>
                </c:pt>
                <c:pt idx="1">
                  <c:v>551</c:v>
                </c:pt>
                <c:pt idx="2">
                  <c:v>535</c:v>
                </c:pt>
                <c:pt idx="3">
                  <c:v>549</c:v>
                </c:pt>
                <c:pt idx="4">
                  <c:v>551</c:v>
                </c:pt>
                <c:pt idx="5">
                  <c:v>543</c:v>
                </c:pt>
                <c:pt idx="6">
                  <c:v>557</c:v>
                </c:pt>
                <c:pt idx="7">
                  <c:v>542</c:v>
                </c:pt>
                <c:pt idx="8">
                  <c:v>541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0722944"/>
        <c:axId val="285096128"/>
      </c:barChart>
      <c:catAx>
        <c:axId val="480722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096128"/>
        <c:crosses val="autoZero"/>
        <c:auto val="1"/>
        <c:lblAlgn val="ctr"/>
        <c:lblOffset val="100"/>
        <c:noMultiLvlLbl val="0"/>
      </c:catAx>
      <c:valAx>
        <c:axId val="285096128"/>
        <c:scaling>
          <c:orientation val="minMax"/>
        </c:scaling>
        <c:delete val="1"/>
        <c:axPos val="l"/>
        <c:numFmt formatCode="0" sourceLinked="1"/>
        <c:majorTickMark val="out"/>
        <c:minorTickMark val="none"/>
        <c:tickLblPos val="nextTo"/>
        <c:crossAx val="480722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Coke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9596336688847493"/>
          <c:y val="1.901141633055713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035-418A-A6D1-2A34D7D06012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035-418A-A6D1-2A34D7D06012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035-418A-A6D1-2A34D7D06012}"/>
              </c:ext>
            </c:extLst>
          </c:dPt>
          <c:dLbls>
            <c:dLbl>
              <c:idx val="3"/>
              <c:layout>
                <c:manualLayout>
                  <c:x val="0"/>
                  <c:y val="-5.56991282209281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0A-433D-8B7C-60AFBA60B8B9}"/>
                </c:ext>
              </c:extLst>
            </c:dLbl>
            <c:dLbl>
              <c:idx val="5"/>
              <c:layout>
                <c:manualLayout>
                  <c:x val="0"/>
                  <c:y val="-7.6586301303776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0A-433D-8B7C-60AFBA60B8B9}"/>
                </c:ext>
              </c:extLst>
            </c:dLbl>
            <c:dLbl>
              <c:idx val="6"/>
              <c:layout>
                <c:manualLayout>
                  <c:x val="-4.3266918046324905E-3"/>
                  <c:y val="2.0887173082848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0A-433D-8B7C-60AFBA60B8B9}"/>
                </c:ext>
              </c:extLst>
            </c:dLbl>
            <c:dLbl>
              <c:idx val="7"/>
              <c:layout>
                <c:manualLayout>
                  <c:x val="4.3266918046324905E-3"/>
                  <c:y val="-5.5699128220928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0A-433D-8B7C-60AFBA60B8B9}"/>
                </c:ext>
              </c:extLst>
            </c:dLbl>
            <c:dLbl>
              <c:idx val="8"/>
              <c:layout>
                <c:manualLayout>
                  <c:x val="-7.9321766753110663E-17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0A-433D-8B7C-60AFBA60B8B9}"/>
                </c:ext>
              </c:extLst>
            </c:dLbl>
            <c:dLbl>
              <c:idx val="9"/>
              <c:layout>
                <c:manualLayout>
                  <c:x val="8.6533836092650591E-3"/>
                  <c:y val="-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0A-433D-8B7C-60AFBA60B8B9}"/>
                </c:ext>
              </c:extLst>
            </c:dLbl>
            <c:dLbl>
              <c:idx val="10"/>
              <c:layout>
                <c:manualLayout>
                  <c:x val="-7.9321766753110663E-17"/>
                  <c:y val="3.4811955138080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0A-433D-8B7C-60AFBA60B8B9}"/>
                </c:ext>
              </c:extLst>
            </c:dLbl>
            <c:dLbl>
              <c:idx val="11"/>
              <c:layout>
                <c:manualLayout>
                  <c:x val="1.2980075413897471E-2"/>
                  <c:y val="-4.87367371933121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0A-433D-8B7C-60AFBA60B8B9}"/>
                </c:ext>
              </c:extLst>
            </c:dLbl>
            <c:dLbl>
              <c:idx val="12"/>
              <c:layout>
                <c:manualLayout>
                  <c:x val="-1.5864353350622133E-16"/>
                  <c:y val="4.8736737193312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0A-433D-8B7C-60AFBA60B8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372</c:v>
                </c:pt>
                <c:pt idx="1">
                  <c:v>373</c:v>
                </c:pt>
                <c:pt idx="2">
                  <c:v>348</c:v>
                </c:pt>
                <c:pt idx="3">
                  <c:v>384</c:v>
                </c:pt>
                <c:pt idx="4">
                  <c:v>415</c:v>
                </c:pt>
                <c:pt idx="5">
                  <c:v>361</c:v>
                </c:pt>
                <c:pt idx="6">
                  <c:v>368</c:v>
                </c:pt>
                <c:pt idx="7">
                  <c:v>368</c:v>
                </c:pt>
                <c:pt idx="8">
                  <c:v>376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0914944"/>
        <c:axId val="285180480"/>
      </c:barChart>
      <c:catAx>
        <c:axId val="480914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180480"/>
        <c:crosses val="autoZero"/>
        <c:auto val="1"/>
        <c:lblAlgn val="ctr"/>
        <c:lblOffset val="100"/>
        <c:noMultiLvlLbl val="0"/>
      </c:catAx>
      <c:valAx>
        <c:axId val="28518048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80914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PCI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AE9-4072-96DC-298202E8B668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ED-413E-9703-861416D5690C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1ED-413E-9703-861416D5690C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21ED-413E-9703-861416D5690C}"/>
              </c:ext>
            </c:extLst>
          </c:dPt>
          <c:dLbls>
            <c:dLbl>
              <c:idx val="7"/>
              <c:layout>
                <c:manualLayout>
                  <c:x val="-4.3217814723527587E-3"/>
                  <c:y val="-5.5699128220928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52-4BF1-B717-84B59EFFFA48}"/>
                </c:ext>
              </c:extLst>
            </c:dLbl>
            <c:dLbl>
              <c:idx val="8"/>
              <c:layout>
                <c:manualLayout>
                  <c:x val="4.3217814723526789E-3"/>
                  <c:y val="2.784956411046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52-4BF1-B717-84B59EFFFA48}"/>
                </c:ext>
              </c:extLst>
            </c:dLbl>
            <c:dLbl>
              <c:idx val="10"/>
              <c:layout>
                <c:manualLayout>
                  <c:x val="8.6435629447053578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52-4BF1-B717-84B59EFFFA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134</c:v>
                </c:pt>
                <c:pt idx="1">
                  <c:v>136</c:v>
                </c:pt>
                <c:pt idx="2">
                  <c:v>150</c:v>
                </c:pt>
                <c:pt idx="3">
                  <c:v>125</c:v>
                </c:pt>
                <c:pt idx="4">
                  <c:v>93</c:v>
                </c:pt>
                <c:pt idx="5">
                  <c:v>142</c:v>
                </c:pt>
                <c:pt idx="6">
                  <c:v>144</c:v>
                </c:pt>
                <c:pt idx="7">
                  <c:v>140</c:v>
                </c:pt>
                <c:pt idx="8">
                  <c:v>123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AE9-4072-96DC-298202E8B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0929792"/>
        <c:axId val="285179904"/>
      </c:barChart>
      <c:catAx>
        <c:axId val="480929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179904"/>
        <c:crosses val="autoZero"/>
        <c:auto val="1"/>
        <c:lblAlgn val="ctr"/>
        <c:lblOffset val="100"/>
        <c:noMultiLvlLbl val="0"/>
      </c:catAx>
      <c:valAx>
        <c:axId val="285179904"/>
        <c:scaling>
          <c:orientation val="minMax"/>
        </c:scaling>
        <c:delete val="1"/>
        <c:axPos val="l"/>
        <c:numFmt formatCode="0" sourceLinked="1"/>
        <c:majorTickMark val="out"/>
        <c:minorTickMark val="none"/>
        <c:tickLblPos val="nextTo"/>
        <c:crossAx val="480929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BF</a:t>
            </a:r>
            <a:r>
              <a:rPr lang="en-US" sz="1400" b="1" baseline="0" dirty="0">
                <a:solidFill>
                  <a:srgbClr val="C00000"/>
                </a:solidFill>
              </a:rPr>
              <a:t> Productivity </a:t>
            </a:r>
            <a:r>
              <a:rPr lang="en-US" sz="1400" b="1" dirty="0">
                <a:solidFill>
                  <a:srgbClr val="C00000"/>
                </a:solidFill>
              </a:rPr>
              <a:t>(T/m</a:t>
            </a:r>
            <a:r>
              <a:rPr lang="en-US" sz="1400" b="1" baseline="30000" dirty="0">
                <a:solidFill>
                  <a:srgbClr val="C00000"/>
                </a:solidFill>
              </a:rPr>
              <a:t>3</a:t>
            </a:r>
            <a:r>
              <a:rPr lang="en-US" sz="1400" b="1" dirty="0">
                <a:solidFill>
                  <a:srgbClr val="C00000"/>
                </a:solidFill>
              </a:rPr>
              <a:t>/Day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4C5-4257-B793-C8FA2656ACA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C2E-4C47-A7A3-D0EE86AAA30A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2E-4C47-A7A3-D0EE86AAA30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5C2E-4C47-A7A3-D0EE86AAA30A}"/>
              </c:ext>
            </c:extLst>
          </c:dPt>
          <c:dLbls>
            <c:dLbl>
              <c:idx val="4"/>
              <c:layout>
                <c:manualLayout>
                  <c:x val="-4.2186440751151811E-3"/>
                  <c:y val="3.2344312100974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C2E-4C47-A7A3-D0EE86AAA30A}"/>
                </c:ext>
              </c:extLst>
            </c:dLbl>
            <c:dLbl>
              <c:idx val="6"/>
              <c:layout>
                <c:manualLayout>
                  <c:x val="1.2654935773709819E-2"/>
                  <c:y val="1.3924233835466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2E-4C47-A7A3-D0EE86AAA30A}"/>
                </c:ext>
              </c:extLst>
            </c:dLbl>
            <c:dLbl>
              <c:idx val="7"/>
              <c:layout>
                <c:manualLayout>
                  <c:x val="-4.2183119245699395E-3"/>
                  <c:y val="-3.6116653948422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34-4CFA-BA12-90A1D9B7AFEC}"/>
                </c:ext>
              </c:extLst>
            </c:dLbl>
            <c:dLbl>
              <c:idx val="8"/>
              <c:layout>
                <c:manualLayout>
                  <c:x val="1.2654935773709819E-2"/>
                  <c:y val="-6.6213865572107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34-4CFA-BA12-90A1D9B7AFEC}"/>
                </c:ext>
              </c:extLst>
            </c:dLbl>
            <c:dLbl>
              <c:idx val="9"/>
              <c:layout>
                <c:manualLayout>
                  <c:x val="-6.6430109056078988E-7"/>
                  <c:y val="3.0097211623685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34-4CFA-BA12-90A1D9B7AFEC}"/>
                </c:ext>
              </c:extLst>
            </c:dLbl>
            <c:dLbl>
              <c:idx val="10"/>
              <c:layout>
                <c:manualLayout>
                  <c:x val="-1.2654935773709897E-2"/>
                  <c:y val="-5.99754482588644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C2E-4C47-A7A3-D0EE86AAA30A}"/>
                </c:ext>
              </c:extLst>
            </c:dLbl>
            <c:dLbl>
              <c:idx val="11"/>
              <c:layout>
                <c:manualLayout>
                  <c:x val="4.2183119245699395E-3"/>
                  <c:y val="2.7849564110464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2E-4C47-A7A3-D0EE86AAA30A}"/>
                </c:ext>
              </c:extLst>
            </c:dLbl>
            <c:dLbl>
              <c:idx val="12"/>
              <c:layout>
                <c:manualLayout>
                  <c:x val="0"/>
                  <c:y val="-4.2136096273159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34-4CFA-BA12-90A1D9B7AFEC}"/>
                </c:ext>
              </c:extLst>
            </c:dLbl>
            <c:dLbl>
              <c:idx val="13"/>
              <c:layout>
                <c:manualLayout>
                  <c:x val="4.2183119245699395E-3"/>
                  <c:y val="2.4077769298948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34-4CFA-BA12-90A1D9B7AF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2.27</c:v>
                </c:pt>
                <c:pt idx="1">
                  <c:v>2.3199999999999998</c:v>
                </c:pt>
                <c:pt idx="2">
                  <c:v>2.4700000000000002</c:v>
                </c:pt>
                <c:pt idx="3">
                  <c:v>2.2599999999999998</c:v>
                </c:pt>
                <c:pt idx="4">
                  <c:v>1.83</c:v>
                </c:pt>
                <c:pt idx="5">
                  <c:v>2.48</c:v>
                </c:pt>
                <c:pt idx="6">
                  <c:v>2.41</c:v>
                </c:pt>
                <c:pt idx="7">
                  <c:v>2.41</c:v>
                </c:pt>
                <c:pt idx="8">
                  <c:v>2.29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C5-4257-B793-C8FA2656AC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0931328"/>
        <c:axId val="285183936"/>
      </c:barChart>
      <c:catAx>
        <c:axId val="48093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183936"/>
        <c:crosses val="autoZero"/>
        <c:auto val="1"/>
        <c:lblAlgn val="ctr"/>
        <c:lblOffset val="100"/>
        <c:noMultiLvlLbl val="0"/>
      </c:catAx>
      <c:valAx>
        <c:axId val="285183936"/>
        <c:scaling>
          <c:orientation val="minMax"/>
          <c:min val="1.5"/>
        </c:scaling>
        <c:delete val="1"/>
        <c:axPos val="l"/>
        <c:numFmt formatCode="0.00" sourceLinked="1"/>
        <c:majorTickMark val="out"/>
        <c:minorTickMark val="none"/>
        <c:tickLblPos val="nextTo"/>
        <c:crossAx val="48093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Sp. Energy (</a:t>
            </a:r>
            <a:r>
              <a:rPr lang="en-US" sz="1400" b="1" dirty="0" err="1">
                <a:solidFill>
                  <a:srgbClr val="C00000"/>
                </a:solidFill>
              </a:rPr>
              <a:t>Gcal</a:t>
            </a:r>
            <a:r>
              <a:rPr lang="en-US" sz="1400" b="1" dirty="0">
                <a:solidFill>
                  <a:srgbClr val="C00000"/>
                </a:solidFill>
              </a:rPr>
              <a:t>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AB4-41E2-A49B-874AD12CB46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99-40B3-9ED7-0F886CA893D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99-40B3-9ED7-0F886CA893D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1599-40B3-9ED7-0F886CA893DD}"/>
              </c:ext>
            </c:extLst>
          </c:dPt>
          <c:dLbls>
            <c:dLbl>
              <c:idx val="4"/>
              <c:layout>
                <c:manualLayout>
                  <c:x val="4.2959572535507867E-3"/>
                  <c:y val="-6.01942520650894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99-40B3-9ED7-0F886CA893DD}"/>
                </c:ext>
              </c:extLst>
            </c:dLbl>
            <c:dLbl>
              <c:idx val="6"/>
              <c:layout>
                <c:manualLayout>
                  <c:x val="8.5925910890770132E-3"/>
                  <c:y val="-7.223310247810732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D8-407B-9B80-CCF16090AD35}"/>
                </c:ext>
              </c:extLst>
            </c:dLbl>
            <c:dLbl>
              <c:idx val="8"/>
              <c:layout>
                <c:manualLayout>
                  <c:x val="1.2888548342627879E-2"/>
                  <c:y val="-7.22331024781072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D8-407B-9B80-CCF16090AD35}"/>
                </c:ext>
              </c:extLst>
            </c:dLbl>
            <c:dLbl>
              <c:idx val="9"/>
              <c:layout>
                <c:manualLayout>
                  <c:x val="-7.876450842221747E-17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D8-407B-9B80-CCF16090AD35}"/>
                </c:ext>
              </c:extLst>
            </c:dLbl>
            <c:dLbl>
              <c:idx val="10"/>
              <c:layout>
                <c:manualLayout>
                  <c:x val="-4.2966338355263046E-3"/>
                  <c:y val="3.61165512390536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D8-407B-9B80-CCF16090AD35}"/>
                </c:ext>
              </c:extLst>
            </c:dLbl>
            <c:dLbl>
              <c:idx val="11"/>
              <c:layout>
                <c:manualLayout>
                  <c:x val="2.1481477722692727E-2"/>
                  <c:y val="2.40777008260357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D8-407B-9B80-CCF16090AD35}"/>
                </c:ext>
              </c:extLst>
            </c:dLbl>
            <c:dLbl>
              <c:idx val="12"/>
              <c:layout>
                <c:manualLayout>
                  <c:x val="4.2962955445385457E-3"/>
                  <c:y val="-4.21359764455625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D8-407B-9B80-CCF16090AD35}"/>
                </c:ext>
              </c:extLst>
            </c:dLbl>
            <c:dLbl>
              <c:idx val="13"/>
              <c:layout>
                <c:manualLayout>
                  <c:x val="0"/>
                  <c:y val="1.203885041301788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1D8-407B-9B80-CCF16090A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6.16</c:v>
                </c:pt>
                <c:pt idx="1">
                  <c:v>6.09</c:v>
                </c:pt>
                <c:pt idx="2">
                  <c:v>5.89</c:v>
                </c:pt>
                <c:pt idx="3">
                  <c:v>6.11</c:v>
                </c:pt>
                <c:pt idx="4">
                  <c:v>7.32</c:v>
                </c:pt>
                <c:pt idx="5">
                  <c:v>6.02</c:v>
                </c:pt>
                <c:pt idx="6">
                  <c:v>6.09</c:v>
                </c:pt>
                <c:pt idx="7">
                  <c:v>5.97</c:v>
                </c:pt>
                <c:pt idx="8">
                  <c:v>6.14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B4-41E2-A49B-874AD12CB4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1403904"/>
        <c:axId val="285185664"/>
      </c:barChart>
      <c:catAx>
        <c:axId val="48140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185664"/>
        <c:crosses val="autoZero"/>
        <c:auto val="1"/>
        <c:lblAlgn val="ctr"/>
        <c:lblOffset val="100"/>
        <c:noMultiLvlLbl val="0"/>
      </c:catAx>
      <c:valAx>
        <c:axId val="285185664"/>
        <c:scaling>
          <c:orientation val="minMax"/>
          <c:min val="5.5"/>
        </c:scaling>
        <c:delete val="1"/>
        <c:axPos val="l"/>
        <c:numFmt formatCode="0.00" sourceLinked="1"/>
        <c:majorTickMark val="out"/>
        <c:minorTickMark val="none"/>
        <c:tickLblPos val="nextTo"/>
        <c:crossAx val="481403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 sz="1400">
                <a:solidFill>
                  <a:srgbClr val="C00000"/>
                </a:solidFill>
              </a:defRPr>
            </a:pPr>
            <a:r>
              <a:rPr lang="en-US" sz="1400">
                <a:solidFill>
                  <a:srgbClr val="C00000"/>
                </a:solidFill>
              </a:rPr>
              <a:t>Sp. CO2 Emission  (T/TCS 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F-47B6-8F03-90DF8138EFD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7DA-4819-9D70-87649B97C74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7DA-4819-9D70-87649B97C7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67DA-4819-9D70-87649B97C744}"/>
              </c:ext>
            </c:extLst>
          </c:dPt>
          <c:dLbls>
            <c:dLbl>
              <c:idx val="2"/>
              <c:layout>
                <c:manualLayout>
                  <c:x val="-8.5981524804485121E-3"/>
                  <c:y val="-6.266151924854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A-4819-9D70-87649B97C744}"/>
                </c:ext>
              </c:extLst>
            </c:dLbl>
            <c:dLbl>
              <c:idx val="3"/>
              <c:layout>
                <c:manualLayout>
                  <c:x val="-8.598152480448552E-3"/>
                  <c:y val="2.0887173082848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A-4819-9D70-87649B97C744}"/>
                </c:ext>
              </c:extLst>
            </c:dLbl>
            <c:dLbl>
              <c:idx val="4"/>
              <c:layout>
                <c:manualLayout>
                  <c:x val="-4.4670011794470457E-3"/>
                  <c:y val="7.6452916992526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DA-4819-9D70-87649B97C744}"/>
                </c:ext>
              </c:extLst>
            </c:dLbl>
            <c:dLbl>
              <c:idx val="5"/>
              <c:layout>
                <c:manualLayout>
                  <c:x val="-8.5981524804485121E-3"/>
                  <c:y val="6.96239102761602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DA-4819-9D70-87649B97C744}"/>
                </c:ext>
              </c:extLst>
            </c:dLbl>
            <c:dLbl>
              <c:idx val="6"/>
              <c:layout>
                <c:manualLayout>
                  <c:x val="1.7196304960897024E-2"/>
                  <c:y val="2.3496139036399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A-4819-9D70-87649B97C744}"/>
                </c:ext>
              </c:extLst>
            </c:dLbl>
            <c:dLbl>
              <c:idx val="8"/>
              <c:layout>
                <c:manualLayout>
                  <c:x val="0"/>
                  <c:y val="4.13349663196570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DA-4819-9D70-87649B97C744}"/>
                </c:ext>
              </c:extLst>
            </c:dLbl>
            <c:dLbl>
              <c:idx val="10"/>
              <c:layout>
                <c:manualLayout>
                  <c:x val="0"/>
                  <c:y val="1.2038850413017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C6-402C-A9D8-C7713474AB1B}"/>
                </c:ext>
              </c:extLst>
            </c:dLbl>
            <c:dLbl>
              <c:idx val="11"/>
              <c:layout>
                <c:manualLayout>
                  <c:x val="1.7196304960897024E-2"/>
                  <c:y val="-6.38211804854238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A-4819-9D70-87649B97C744}"/>
                </c:ext>
              </c:extLst>
            </c:dLbl>
            <c:dLbl>
              <c:idx val="12"/>
              <c:layout>
                <c:manualLayout>
                  <c:x val="4.2990762402242561E-3"/>
                  <c:y val="-7.54233978375570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DA-4819-9D70-87649B97C7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8"/>
                <c:pt idx="0">
                  <c:v>FY25</c:v>
                </c:pt>
                <c:pt idx="1">
                  <c:v>FY26</c:v>
                </c:pt>
                <c:pt idx="2">
                  <c:v>FY'27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Sheet1!$B$2:$B$12</c:f>
              <c:numCache>
                <c:formatCode>#,##0.00</c:formatCode>
                <c:ptCount val="8"/>
                <c:pt idx="0">
                  <c:v>2.36</c:v>
                </c:pt>
                <c:pt idx="1">
                  <c:v>2.41</c:v>
                </c:pt>
                <c:pt idx="2">
                  <c:v>2.27</c:v>
                </c:pt>
                <c:pt idx="3" formatCode="General">
                  <c:v>2.62</c:v>
                </c:pt>
                <c:pt idx="4">
                  <c:v>2.98</c:v>
                </c:pt>
                <c:pt idx="5">
                  <c:v>2.59</c:v>
                </c:pt>
                <c:pt idx="6">
                  <c:v>2.65</c:v>
                </c:pt>
                <c:pt idx="7">
                  <c:v>2.58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C7F-47B6-8F03-90DF8138EF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1405440"/>
        <c:axId val="285187392"/>
      </c:barChart>
      <c:catAx>
        <c:axId val="481405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700" b="1"/>
            </a:pPr>
            <a:endParaRPr lang="en-US"/>
          </a:p>
        </c:txPr>
        <c:crossAx val="285187392"/>
        <c:crosses val="autoZero"/>
        <c:auto val="1"/>
        <c:lblAlgn val="ctr"/>
        <c:lblOffset val="100"/>
        <c:noMultiLvlLbl val="0"/>
      </c:catAx>
      <c:valAx>
        <c:axId val="285187392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481405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 sz="9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solidFill>
                  <a:srgbClr val="C00000"/>
                </a:solidFill>
              </a:rPr>
              <a:t>Fuel </a:t>
            </a:r>
            <a:r>
              <a:rPr lang="en-US" sz="1400" b="1">
                <a:solidFill>
                  <a:srgbClr val="C00000"/>
                </a:solidFill>
              </a:rPr>
              <a:t>Rate </a:t>
            </a:r>
            <a:r>
              <a:rPr lang="en-US" sz="1400" b="1" smtClean="0">
                <a:solidFill>
                  <a:srgbClr val="C00000"/>
                </a:solidFill>
              </a:rPr>
              <a:t>(kg/THM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4889924872277427E-2"/>
          <c:y val="0.15386884171031409"/>
          <c:w val="0.87751646527676519"/>
          <c:h val="0.686555761834955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E3B-4116-BF9A-2EC486290D7B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2E1-4EDF-96D8-C03EA11ECD2D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2E1-4EDF-96D8-C03EA11ECD2D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82E1-4EDF-96D8-C03EA11ECD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FY25</c:v>
                </c:pt>
                <c:pt idx="1">
                  <c:v>FY26</c:v>
                </c:pt>
                <c:pt idx="2">
                  <c:v>FY 27 Target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546</c:v>
                </c:pt>
                <c:pt idx="1">
                  <c:v>543</c:v>
                </c:pt>
                <c:pt idx="2">
                  <c:v>525</c:v>
                </c:pt>
                <c:pt idx="3">
                  <c:v>540</c:v>
                </c:pt>
                <c:pt idx="4">
                  <c:v>542</c:v>
                </c:pt>
                <c:pt idx="5">
                  <c:v>538</c:v>
                </c:pt>
                <c:pt idx="6">
                  <c:v>549</c:v>
                </c:pt>
                <c:pt idx="7">
                  <c:v>543</c:v>
                </c:pt>
                <c:pt idx="8">
                  <c:v>540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E3B-4116-BF9A-2EC48629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81931264"/>
        <c:axId val="285222592"/>
      </c:barChart>
      <c:catAx>
        <c:axId val="481931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85222592"/>
        <c:crosses val="autoZero"/>
        <c:auto val="1"/>
        <c:lblAlgn val="ctr"/>
        <c:lblOffset val="100"/>
        <c:noMultiLvlLbl val="0"/>
      </c:catAx>
      <c:valAx>
        <c:axId val="2852225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81931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2">
    <c:autoUpdate val="0"/>
  </c:externalData>
  <c:userShapes r:id="rId3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="" xmlns:a16="http://schemas.microsoft.com/office/drawing/2014/main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10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="" xmlns:a16="http://schemas.microsoft.com/office/drawing/2014/main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11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:a16="http://schemas.microsoft.com/office/drawing/2014/main" xmlns="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12.xml><?xml version="1.0" encoding="utf-8"?>
<c:userShapes xmlns:c="http://schemas.openxmlformats.org/drawingml/2006/chart">
  <cdr:relSizeAnchor xmlns:cdr="http://schemas.openxmlformats.org/drawingml/2006/chartDrawing">
    <cdr:from>
      <cdr:x>0.90668</cdr:x>
      <cdr:y>0.01702</cdr:y>
    </cdr:from>
    <cdr:to>
      <cdr:x>0.97413</cdr:x>
      <cdr:y>0.1333</cdr:y>
    </cdr:to>
    <cdr:sp macro="" textlink="">
      <cdr:nvSpPr>
        <cdr:cNvPr id="2" name="Arrow: Down 14">
          <a:extLst xmlns:a="http://schemas.openxmlformats.org/drawingml/2006/main">
            <a:ext uri="{FF2B5EF4-FFF2-40B4-BE49-F238E27FC236}">
              <a16:creationId xmlns="" xmlns:a16="http://schemas.microsoft.com/office/drawing/2014/main" id="{468FF4CD-BFBE-9162-452F-671EFCEC1EB1}"/>
            </a:ext>
          </a:extLst>
        </cdr:cNvPr>
        <cdr:cNvSpPr/>
      </cdr:nvSpPr>
      <cdr:spPr>
        <a:xfrm xmlns:a="http://schemas.openxmlformats.org/drawingml/2006/main">
          <a:off x="2661360" y="31050"/>
          <a:ext cx="197963" cy="212103"/>
        </a:xfrm>
        <a:prstGeom xmlns:a="http://schemas.openxmlformats.org/drawingml/2006/main" prst="down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68406" tIns="34289" rIns="68406" bIns="34289" rtlCol="0" anchor="ctr"/>
        <a:lstStyle xmlns:a="http://schemas.openxmlformats.org/drawingml/2006/main">
          <a:defPPr>
            <a:defRPr lang="en-US"/>
          </a:defPPr>
          <a:lvl1pPr marL="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5342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091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66330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1824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77165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325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88043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43481" algn="l" defTabSz="910913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683828"/>
          <a:endParaRPr lang="en-IN" sz="1400">
            <a:solidFill>
              <a:prstClr val="white"/>
            </a:solidFill>
          </a:endParaRPr>
        </a:p>
      </cdr:txBody>
    </cdr:sp>
  </cdr:relSizeAnchor>
  <cdr:relSizeAnchor xmlns:cdr="http://schemas.openxmlformats.org/drawingml/2006/chartDrawing">
    <cdr:from>
      <cdr:x>0.60561</cdr:x>
      <cdr:y>0.16682</cdr:y>
    </cdr:from>
    <cdr:to>
      <cdr:x>0.83925</cdr:x>
      <cdr:y>0.24619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777622" y="320346"/>
          <a:ext cx="685800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DEC2A-C73C-4167-8E30-C5CAF41C37F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FF7748-ACC8-421A-9F40-98B69628E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546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FCFF5-7B44-47E4-A9FD-1A6777CE32E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DDA27-7E7B-4423-86F2-26A07C761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11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06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28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44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650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869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785F519-697F-F6C7-E4CD-9C51F1089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7D47B4B8-2C28-C457-DB91-EBF8B547A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C0C2C6F0-6E65-F9EF-0A4A-CC67ABE4E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6B2CA70-0F37-313D-3A84-05EE0E9B95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49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7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9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11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12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13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14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15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AF4FD9-FBEE-E6D7-9E44-C7BB8E3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32B5102-E4D7-075E-81EE-E4C11AA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C8C98DD-E8FF-1707-5026-045DA63C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93D34D-C5FD-6C04-A458-AA9A309E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8665E5-A5FD-42B2-BE7D-97924036B979}" type="slidenum">
              <a:rPr lang="en-IN">
                <a:solidFill>
                  <a:prstClr val="black"/>
                </a:solidFill>
              </a:rPr>
              <a:pPr>
                <a:defRPr/>
              </a:pPr>
              <a:t>16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30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17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25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26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27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28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29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665E5-A5FD-42B2-BE7D-97924036B979}" type="slidenum">
              <a:rPr lang="en-IN">
                <a:solidFill>
                  <a:prstClr val="black"/>
                </a:solidFill>
              </a:rPr>
              <a:pPr/>
              <a:t>30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462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7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0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06" indent="0">
              <a:buNone/>
              <a:defRPr sz="2000" b="1"/>
            </a:lvl2pPr>
            <a:lvl3pPr marL="914220" indent="0">
              <a:buNone/>
              <a:defRPr sz="1800" b="1"/>
            </a:lvl3pPr>
            <a:lvl4pPr marL="1371328" indent="0">
              <a:buNone/>
              <a:defRPr sz="1600" b="1"/>
            </a:lvl4pPr>
            <a:lvl5pPr marL="1828439" indent="0">
              <a:buNone/>
              <a:defRPr sz="1600" b="1"/>
            </a:lvl5pPr>
            <a:lvl6pPr marL="2285544" indent="0">
              <a:buNone/>
              <a:defRPr sz="1600" b="1"/>
            </a:lvl6pPr>
            <a:lvl7pPr marL="2742650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06" indent="0">
              <a:buNone/>
              <a:defRPr sz="2000" b="1"/>
            </a:lvl2pPr>
            <a:lvl3pPr marL="914220" indent="0">
              <a:buNone/>
              <a:defRPr sz="1800" b="1"/>
            </a:lvl3pPr>
            <a:lvl4pPr marL="1371328" indent="0">
              <a:buNone/>
              <a:defRPr sz="1600" b="1"/>
            </a:lvl4pPr>
            <a:lvl5pPr marL="1828439" indent="0">
              <a:buNone/>
              <a:defRPr sz="1600" b="1"/>
            </a:lvl5pPr>
            <a:lvl6pPr marL="2285544" indent="0">
              <a:buNone/>
              <a:defRPr sz="1600" b="1"/>
            </a:lvl6pPr>
            <a:lvl7pPr marL="2742650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6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06" indent="0">
              <a:buNone/>
              <a:defRPr sz="1200"/>
            </a:lvl2pPr>
            <a:lvl3pPr marL="914220" indent="0">
              <a:buNone/>
              <a:defRPr sz="1000"/>
            </a:lvl3pPr>
            <a:lvl4pPr marL="1371328" indent="0">
              <a:buNone/>
              <a:defRPr sz="900"/>
            </a:lvl4pPr>
            <a:lvl5pPr marL="1828439" indent="0">
              <a:buNone/>
              <a:defRPr sz="900"/>
            </a:lvl5pPr>
            <a:lvl6pPr marL="2285544" indent="0">
              <a:buNone/>
              <a:defRPr sz="900"/>
            </a:lvl6pPr>
            <a:lvl7pPr marL="2742650" indent="0">
              <a:buNone/>
              <a:defRPr sz="900"/>
            </a:lvl7pPr>
            <a:lvl8pPr marL="3199760" indent="0">
              <a:buNone/>
              <a:defRPr sz="900"/>
            </a:lvl8pPr>
            <a:lvl9pPr marL="365686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06" indent="0">
              <a:buNone/>
              <a:defRPr sz="2800"/>
            </a:lvl2pPr>
            <a:lvl3pPr marL="914220" indent="0">
              <a:buNone/>
              <a:defRPr sz="2400"/>
            </a:lvl3pPr>
            <a:lvl4pPr marL="1371328" indent="0">
              <a:buNone/>
              <a:defRPr sz="2000"/>
            </a:lvl4pPr>
            <a:lvl5pPr marL="1828439" indent="0">
              <a:buNone/>
              <a:defRPr sz="2000"/>
            </a:lvl5pPr>
            <a:lvl6pPr marL="2285544" indent="0">
              <a:buNone/>
              <a:defRPr sz="2000"/>
            </a:lvl6pPr>
            <a:lvl7pPr marL="2742650" indent="0">
              <a:buNone/>
              <a:defRPr sz="2000"/>
            </a:lvl7pPr>
            <a:lvl8pPr marL="3199760" indent="0">
              <a:buNone/>
              <a:defRPr sz="2000"/>
            </a:lvl8pPr>
            <a:lvl9pPr marL="365686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11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06" indent="0">
              <a:buNone/>
              <a:defRPr sz="1200"/>
            </a:lvl2pPr>
            <a:lvl3pPr marL="914220" indent="0">
              <a:buNone/>
              <a:defRPr sz="1000"/>
            </a:lvl3pPr>
            <a:lvl4pPr marL="1371328" indent="0">
              <a:buNone/>
              <a:defRPr sz="900"/>
            </a:lvl4pPr>
            <a:lvl5pPr marL="1828439" indent="0">
              <a:buNone/>
              <a:defRPr sz="900"/>
            </a:lvl5pPr>
            <a:lvl6pPr marL="2285544" indent="0">
              <a:buNone/>
              <a:defRPr sz="900"/>
            </a:lvl6pPr>
            <a:lvl7pPr marL="2742650" indent="0">
              <a:buNone/>
              <a:defRPr sz="900"/>
            </a:lvl7pPr>
            <a:lvl8pPr marL="3199760" indent="0">
              <a:buNone/>
              <a:defRPr sz="900"/>
            </a:lvl8pPr>
            <a:lvl9pPr marL="365686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3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2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4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106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317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7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2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30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7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4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5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51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643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73" indent="0">
              <a:buNone/>
              <a:defRPr sz="2000" b="1"/>
            </a:lvl2pPr>
            <a:lvl3pPr marL="914151" indent="0">
              <a:buNone/>
              <a:defRPr sz="1800" b="1"/>
            </a:lvl3pPr>
            <a:lvl4pPr marL="1371226" indent="0">
              <a:buNone/>
              <a:defRPr sz="1600" b="1"/>
            </a:lvl4pPr>
            <a:lvl5pPr marL="1828301" indent="0">
              <a:buNone/>
              <a:defRPr sz="1600" b="1"/>
            </a:lvl5pPr>
            <a:lvl6pPr marL="2285373" indent="0">
              <a:buNone/>
              <a:defRPr sz="1600" b="1"/>
            </a:lvl6pPr>
            <a:lvl7pPr marL="2742443" indent="0">
              <a:buNone/>
              <a:defRPr sz="1600" b="1"/>
            </a:lvl7pPr>
            <a:lvl8pPr marL="3199520" indent="0">
              <a:buNone/>
              <a:defRPr sz="1600" b="1"/>
            </a:lvl8pPr>
            <a:lvl9pPr marL="365659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73" indent="0">
              <a:buNone/>
              <a:defRPr sz="2000" b="1"/>
            </a:lvl2pPr>
            <a:lvl3pPr marL="914151" indent="0">
              <a:buNone/>
              <a:defRPr sz="1800" b="1"/>
            </a:lvl3pPr>
            <a:lvl4pPr marL="1371226" indent="0">
              <a:buNone/>
              <a:defRPr sz="1600" b="1"/>
            </a:lvl4pPr>
            <a:lvl5pPr marL="1828301" indent="0">
              <a:buNone/>
              <a:defRPr sz="1600" b="1"/>
            </a:lvl5pPr>
            <a:lvl6pPr marL="2285373" indent="0">
              <a:buNone/>
              <a:defRPr sz="1600" b="1"/>
            </a:lvl6pPr>
            <a:lvl7pPr marL="2742443" indent="0">
              <a:buNone/>
              <a:defRPr sz="1600" b="1"/>
            </a:lvl7pPr>
            <a:lvl8pPr marL="3199520" indent="0">
              <a:buNone/>
              <a:defRPr sz="1600" b="1"/>
            </a:lvl8pPr>
            <a:lvl9pPr marL="365659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577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683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058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73" indent="0">
              <a:buNone/>
              <a:defRPr sz="1200"/>
            </a:lvl2pPr>
            <a:lvl3pPr marL="914151" indent="0">
              <a:buNone/>
              <a:defRPr sz="1000"/>
            </a:lvl3pPr>
            <a:lvl4pPr marL="1371226" indent="0">
              <a:buNone/>
              <a:defRPr sz="900"/>
            </a:lvl4pPr>
            <a:lvl5pPr marL="1828301" indent="0">
              <a:buNone/>
              <a:defRPr sz="900"/>
            </a:lvl5pPr>
            <a:lvl6pPr marL="2285373" indent="0">
              <a:buNone/>
              <a:defRPr sz="900"/>
            </a:lvl6pPr>
            <a:lvl7pPr marL="2742443" indent="0">
              <a:buNone/>
              <a:defRPr sz="900"/>
            </a:lvl7pPr>
            <a:lvl8pPr marL="3199520" indent="0">
              <a:buNone/>
              <a:defRPr sz="900"/>
            </a:lvl8pPr>
            <a:lvl9pPr marL="365659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0287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73" indent="0">
              <a:buNone/>
              <a:defRPr sz="2800"/>
            </a:lvl2pPr>
            <a:lvl3pPr marL="914151" indent="0">
              <a:buNone/>
              <a:defRPr sz="2400"/>
            </a:lvl3pPr>
            <a:lvl4pPr marL="1371226" indent="0">
              <a:buNone/>
              <a:defRPr sz="2000"/>
            </a:lvl4pPr>
            <a:lvl5pPr marL="1828301" indent="0">
              <a:buNone/>
              <a:defRPr sz="2000"/>
            </a:lvl5pPr>
            <a:lvl6pPr marL="2285373" indent="0">
              <a:buNone/>
              <a:defRPr sz="2000"/>
            </a:lvl6pPr>
            <a:lvl7pPr marL="2742443" indent="0">
              <a:buNone/>
              <a:defRPr sz="2000"/>
            </a:lvl7pPr>
            <a:lvl8pPr marL="3199520" indent="0">
              <a:buNone/>
              <a:defRPr sz="2000"/>
            </a:lvl8pPr>
            <a:lvl9pPr marL="3656594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1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73" indent="0">
              <a:buNone/>
              <a:defRPr sz="1200"/>
            </a:lvl2pPr>
            <a:lvl3pPr marL="914151" indent="0">
              <a:buNone/>
              <a:defRPr sz="1000"/>
            </a:lvl3pPr>
            <a:lvl4pPr marL="1371226" indent="0">
              <a:buNone/>
              <a:defRPr sz="900"/>
            </a:lvl4pPr>
            <a:lvl5pPr marL="1828301" indent="0">
              <a:buNone/>
              <a:defRPr sz="900"/>
            </a:lvl5pPr>
            <a:lvl6pPr marL="2285373" indent="0">
              <a:buNone/>
              <a:defRPr sz="900"/>
            </a:lvl6pPr>
            <a:lvl7pPr marL="2742443" indent="0">
              <a:buNone/>
              <a:defRPr sz="900"/>
            </a:lvl7pPr>
            <a:lvl8pPr marL="3199520" indent="0">
              <a:buNone/>
              <a:defRPr sz="900"/>
            </a:lvl8pPr>
            <a:lvl9pPr marL="365659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1037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3155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0625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4640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6041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6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2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9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7114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2120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2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3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2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3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124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7167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6136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67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2" indent="0">
              <a:buNone/>
              <a:defRPr sz="900"/>
            </a:lvl5pPr>
            <a:lvl6pPr marL="2285829" indent="0">
              <a:buNone/>
              <a:defRPr sz="900"/>
            </a:lvl6pPr>
            <a:lvl7pPr marL="2742993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0025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67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2" indent="0">
              <a:buNone/>
              <a:defRPr sz="2000"/>
            </a:lvl5pPr>
            <a:lvl6pPr marL="2285829" indent="0">
              <a:buNone/>
              <a:defRPr sz="2000"/>
            </a:lvl6pPr>
            <a:lvl7pPr marL="2742993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67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2" indent="0">
              <a:buNone/>
              <a:defRPr sz="900"/>
            </a:lvl5pPr>
            <a:lvl6pPr marL="2285829" indent="0">
              <a:buNone/>
              <a:defRPr sz="900"/>
            </a:lvl6pPr>
            <a:lvl7pPr marL="2742993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9467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2663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2653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0376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7969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38778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7925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1270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3817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977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6883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0842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9" y="104491"/>
            <a:ext cx="8534391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000"/>
            </a:lvl1pPr>
          </a:lstStyle>
          <a:p>
            <a:endParaRPr lang="en-IN" sz="2400" b="1" dirty="0"/>
          </a:p>
        </p:txBody>
      </p:sp>
      <p:pic>
        <p:nvPicPr>
          <p:cNvPr id="6" name="Picture 5" descr="File:SAIL Logo.svg - Wikimedia Common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7179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43.xml"/><Relationship Id="rId2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24" tIns="45712" rIns="91424" bIns="4571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24" tIns="45712" rIns="91424" bIns="4571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24" tIns="45712" rIns="91424" bIns="4571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24" tIns="45712" rIns="91424" bIns="4571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22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30" indent="-342830" algn="l" defTabSz="91422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05" indent="-285694" algn="l" defTabSz="91422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3" indent="-228552" algn="l" defTabSz="91422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2" algn="l" defTabSz="91422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91" indent="-228552" algn="l" defTabSz="91422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6" indent="-228552" algn="l" defTabSz="91422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8" indent="-228552" algn="l" defTabSz="91422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6" indent="-228552" algn="l" defTabSz="91422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4" indent="-228552" algn="l" defTabSz="91422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6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20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8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9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4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0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8" tIns="45709" rIns="91418" bIns="4570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18" tIns="45709" rIns="91418" bIns="4570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18" tIns="45709" rIns="91418" bIns="4570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51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151"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18" tIns="45709" rIns="91418" bIns="4570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51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18" tIns="45709" rIns="91418" bIns="4570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51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151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818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151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03" indent="-342803" algn="l" defTabSz="914151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51" indent="-285673" algn="l" defTabSz="914151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87" indent="-228534" algn="l" defTabSz="91415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760" indent="-228534" algn="l" defTabSz="914151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38" indent="-228534" algn="l" defTabSz="914151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07" indent="-228534" algn="l" defTabSz="9141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34" algn="l" defTabSz="9141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58" indent="-228534" algn="l" defTabSz="9141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33" indent="-228534" algn="l" defTabSz="9141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73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51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73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443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4" algn="l" defTabSz="9141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34" tIns="45717" rIns="91434" bIns="45717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34" tIns="45717" rIns="91434" bIns="4571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34" tIns="45717" rIns="91434" bIns="4571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31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331"/>
              <a:t>10/3/2026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34" tIns="45717" rIns="91434" bIns="4571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31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34" tIns="45717" rIns="91434" bIns="4571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31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331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70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32" r:id="rId20"/>
    <p:sldLayoutId id="2147483833" r:id="rId21"/>
  </p:sldLayoutIdLst>
  <p:txStyles>
    <p:titleStyle>
      <a:lvl1pPr algn="ctr" defTabSz="914331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73" indent="-342873" algn="l" defTabSz="914331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95" indent="-285729" algn="l" defTabSz="914331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5" indent="-228582" algn="l" defTabSz="91433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2" algn="l" defTabSz="914331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2" algn="l" defTabSz="914331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1" indent="-228582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2" indent="-228582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2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3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image" Target="../media/image1.png"/><Relationship Id="rId9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chart" Target="../charts/chart9.xml"/><Relationship Id="rId6" Type="http://schemas.openxmlformats.org/officeDocument/2006/relationships/chart" Target="../charts/chart10.xml"/><Relationship Id="rId7" Type="http://schemas.openxmlformats.org/officeDocument/2006/relationships/chart" Target="../charts/chart11.xml"/><Relationship Id="rId8" Type="http://schemas.openxmlformats.org/officeDocument/2006/relationships/image" Target="../media/image1.png"/><Relationship Id="rId9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5" Type="http://schemas.openxmlformats.org/officeDocument/2006/relationships/chart" Target="../charts/chart15.xml"/><Relationship Id="rId6" Type="http://schemas.openxmlformats.org/officeDocument/2006/relationships/chart" Target="../charts/chart16.xml"/><Relationship Id="rId7" Type="http://schemas.openxmlformats.org/officeDocument/2006/relationships/chart" Target="../charts/chart17.xml"/><Relationship Id="rId8" Type="http://schemas.openxmlformats.org/officeDocument/2006/relationships/image" Target="../media/image1.png"/><Relationship Id="rId9" Type="http://schemas.openxmlformats.org/officeDocument/2006/relationships/chart" Target="../charts/chart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Relationship Id="rId5" Type="http://schemas.openxmlformats.org/officeDocument/2006/relationships/chart" Target="../charts/chart21.xml"/><Relationship Id="rId6" Type="http://schemas.openxmlformats.org/officeDocument/2006/relationships/chart" Target="../charts/chart22.xml"/><Relationship Id="rId7" Type="http://schemas.openxmlformats.org/officeDocument/2006/relationships/chart" Target="../charts/chart23.xml"/><Relationship Id="rId8" Type="http://schemas.openxmlformats.org/officeDocument/2006/relationships/image" Target="../media/image1.png"/><Relationship Id="rId9" Type="http://schemas.openxmlformats.org/officeDocument/2006/relationships/chart" Target="../charts/chart2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Relationship Id="rId5" Type="http://schemas.openxmlformats.org/officeDocument/2006/relationships/chart" Target="../charts/chart27.xml"/><Relationship Id="rId6" Type="http://schemas.openxmlformats.org/officeDocument/2006/relationships/chart" Target="../charts/chart28.xml"/><Relationship Id="rId7" Type="http://schemas.openxmlformats.org/officeDocument/2006/relationships/chart" Target="../charts/chart29.xml"/><Relationship Id="rId8" Type="http://schemas.openxmlformats.org/officeDocument/2006/relationships/image" Target="../media/image1.png"/><Relationship Id="rId9" Type="http://schemas.openxmlformats.org/officeDocument/2006/relationships/chart" Target="../charts/chart3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31.xml"/><Relationship Id="rId4" Type="http://schemas.openxmlformats.org/officeDocument/2006/relationships/chart" Target="../charts/chart32.xml"/><Relationship Id="rId5" Type="http://schemas.openxmlformats.org/officeDocument/2006/relationships/chart" Target="../charts/chart33.xml"/><Relationship Id="rId6" Type="http://schemas.openxmlformats.org/officeDocument/2006/relationships/chart" Target="../charts/chart34.xml"/><Relationship Id="rId7" Type="http://schemas.openxmlformats.org/officeDocument/2006/relationships/chart" Target="../charts/chart35.xml"/><Relationship Id="rId8" Type="http://schemas.openxmlformats.org/officeDocument/2006/relationships/image" Target="../media/image1.png"/><Relationship Id="rId9" Type="http://schemas.openxmlformats.org/officeDocument/2006/relationships/chart" Target="../charts/chart3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4.jpe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37.xml"/><Relationship Id="rId4" Type="http://schemas.openxmlformats.org/officeDocument/2006/relationships/chart" Target="../charts/chart38.xml"/><Relationship Id="rId5" Type="http://schemas.openxmlformats.org/officeDocument/2006/relationships/chart" Target="../charts/chart39.xml"/><Relationship Id="rId6" Type="http://schemas.openxmlformats.org/officeDocument/2006/relationships/chart" Target="../charts/chart40.xml"/><Relationship Id="rId7" Type="http://schemas.openxmlformats.org/officeDocument/2006/relationships/chart" Target="../charts/chart41.xml"/><Relationship Id="rId8" Type="http://schemas.openxmlformats.org/officeDocument/2006/relationships/image" Target="../media/image1.png"/><Relationship Id="rId9" Type="http://schemas.openxmlformats.org/officeDocument/2006/relationships/chart" Target="../charts/chart4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43.xml"/><Relationship Id="rId4" Type="http://schemas.openxmlformats.org/officeDocument/2006/relationships/chart" Target="../charts/chart44.xml"/><Relationship Id="rId5" Type="http://schemas.openxmlformats.org/officeDocument/2006/relationships/chart" Target="../charts/chart45.xml"/><Relationship Id="rId6" Type="http://schemas.openxmlformats.org/officeDocument/2006/relationships/chart" Target="../charts/chart46.xml"/><Relationship Id="rId7" Type="http://schemas.openxmlformats.org/officeDocument/2006/relationships/chart" Target="../charts/chart47.xml"/><Relationship Id="rId8" Type="http://schemas.openxmlformats.org/officeDocument/2006/relationships/image" Target="../media/image1.png"/><Relationship Id="rId9" Type="http://schemas.openxmlformats.org/officeDocument/2006/relationships/chart" Target="../charts/chart4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49.xml"/><Relationship Id="rId4" Type="http://schemas.openxmlformats.org/officeDocument/2006/relationships/chart" Target="../charts/chart50.xml"/><Relationship Id="rId5" Type="http://schemas.openxmlformats.org/officeDocument/2006/relationships/chart" Target="../charts/chart51.xml"/><Relationship Id="rId6" Type="http://schemas.openxmlformats.org/officeDocument/2006/relationships/chart" Target="../charts/chart52.xml"/><Relationship Id="rId7" Type="http://schemas.openxmlformats.org/officeDocument/2006/relationships/chart" Target="../charts/chart53.xml"/><Relationship Id="rId8" Type="http://schemas.openxmlformats.org/officeDocument/2006/relationships/image" Target="../media/image1.png"/><Relationship Id="rId9" Type="http://schemas.openxmlformats.org/officeDocument/2006/relationships/chart" Target="../charts/chart5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55.xml"/><Relationship Id="rId4" Type="http://schemas.openxmlformats.org/officeDocument/2006/relationships/chart" Target="../charts/chart56.xml"/><Relationship Id="rId5" Type="http://schemas.openxmlformats.org/officeDocument/2006/relationships/chart" Target="../charts/chart57.xml"/><Relationship Id="rId6" Type="http://schemas.openxmlformats.org/officeDocument/2006/relationships/chart" Target="../charts/chart58.xml"/><Relationship Id="rId7" Type="http://schemas.openxmlformats.org/officeDocument/2006/relationships/chart" Target="../charts/chart59.xml"/><Relationship Id="rId8" Type="http://schemas.openxmlformats.org/officeDocument/2006/relationships/image" Target="../media/image1.png"/><Relationship Id="rId9" Type="http://schemas.openxmlformats.org/officeDocument/2006/relationships/chart" Target="../charts/chart6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61.xml"/><Relationship Id="rId4" Type="http://schemas.openxmlformats.org/officeDocument/2006/relationships/chart" Target="../charts/chart62.xml"/><Relationship Id="rId5" Type="http://schemas.openxmlformats.org/officeDocument/2006/relationships/chart" Target="../charts/chart63.xml"/><Relationship Id="rId6" Type="http://schemas.openxmlformats.org/officeDocument/2006/relationships/chart" Target="../charts/chart64.xml"/><Relationship Id="rId7" Type="http://schemas.openxmlformats.org/officeDocument/2006/relationships/chart" Target="../charts/chart65.xml"/><Relationship Id="rId8" Type="http://schemas.openxmlformats.org/officeDocument/2006/relationships/image" Target="../media/image1.png"/><Relationship Id="rId9" Type="http://schemas.openxmlformats.org/officeDocument/2006/relationships/chart" Target="../charts/chart6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67.xml"/><Relationship Id="rId4" Type="http://schemas.openxmlformats.org/officeDocument/2006/relationships/chart" Target="../charts/chart68.xml"/><Relationship Id="rId5" Type="http://schemas.openxmlformats.org/officeDocument/2006/relationships/chart" Target="../charts/chart69.xml"/><Relationship Id="rId6" Type="http://schemas.openxmlformats.org/officeDocument/2006/relationships/chart" Target="../charts/chart70.xml"/><Relationship Id="rId7" Type="http://schemas.openxmlformats.org/officeDocument/2006/relationships/chart" Target="../charts/chart71.xml"/><Relationship Id="rId8" Type="http://schemas.openxmlformats.org/officeDocument/2006/relationships/image" Target="../media/image1.png"/><Relationship Id="rId9" Type="http://schemas.openxmlformats.org/officeDocument/2006/relationships/chart" Target="../charts/chart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DB659A3-3DB8-49AA-8C34-C5155BF0C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" y="24"/>
            <a:ext cx="5334001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57800" y="1581243"/>
            <a:ext cx="3962400" cy="1753654"/>
          </a:xfrm>
          <a:prstGeom prst="rect">
            <a:avLst/>
          </a:prstGeom>
          <a:noFill/>
        </p:spPr>
        <p:txBody>
          <a:bodyPr wrap="square" lIns="90752" tIns="45376" rIns="90752" bIns="45376">
            <a:spAutoFit/>
          </a:bodyPr>
          <a:lstStyle/>
          <a:p>
            <a:pPr algn="ctr" defTabSz="906548"/>
            <a:r>
              <a:rPr lang="en-US" sz="3600" b="1" dirty="0">
                <a:ln w="10541" cmpd="sng">
                  <a:solidFill>
                    <a:srgbClr val="0091DA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0091DA">
                        <a:tint val="40000"/>
                        <a:satMod val="250000"/>
                      </a:srgbClr>
                    </a:gs>
                    <a:gs pos="9000">
                      <a:srgbClr val="0091DA">
                        <a:tint val="52000"/>
                        <a:satMod val="300000"/>
                      </a:srgbClr>
                    </a:gs>
                    <a:gs pos="50000">
                      <a:srgbClr val="0091DA">
                        <a:shade val="20000"/>
                        <a:satMod val="300000"/>
                      </a:srgbClr>
                    </a:gs>
                    <a:gs pos="79000">
                      <a:srgbClr val="0091DA">
                        <a:tint val="52000"/>
                        <a:satMod val="300000"/>
                      </a:srgbClr>
                    </a:gs>
                    <a:gs pos="100000">
                      <a:srgbClr val="0091DA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SAIL PERFORMANCE OVERVIEW</a:t>
            </a:r>
          </a:p>
        </p:txBody>
      </p:sp>
      <p:pic>
        <p:nvPicPr>
          <p:cNvPr id="6" name="Picture 4" descr="File:SAIL Logo.svg - Wikimedia Comm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250" y="4552994"/>
            <a:ext cx="533740" cy="56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41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 smtClean="0"/>
              <a:t>SAIL  Performance : {MON} &amp; {YTD}</a:t>
            </a:r>
            <a:endParaRPr lang="en-IN" sz="2900" b="1" dirty="0"/>
          </a:p>
        </p:txBody>
      </p:sp>
      <p:graphicFrame>
        <p:nvGraphicFramePr>
          <p:cNvPr id="4" name="tbl_sail">
            <a:extLst>
              <a:ext uri="{FF2B5EF4-FFF2-40B4-BE49-F238E27FC236}">
                <a16:creationId xmlns="" xmlns:a16="http://schemas.microsoft.com/office/drawing/2014/main" id="{DD0B971B-4CD5-362D-CB42-7326F7C1D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192406"/>
              </p:ext>
            </p:extLst>
          </p:nvPr>
        </p:nvGraphicFramePr>
        <p:xfrm>
          <a:off x="609615" y="971550"/>
          <a:ext cx="7772382" cy="2803711"/>
        </p:xfrm>
        <a:graphic>
          <a:graphicData uri="http://schemas.openxmlformats.org/drawingml/2006/table">
            <a:tbl>
              <a:tblPr/>
              <a:tblGrid>
                <a:gridCol w="1219185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728133"/>
                <a:gridCol w="728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328626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{MON}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{YTD}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637480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{CPLY}</a:t>
                      </a:r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endParaRPr lang="en-IN" sz="1400" b="1" i="0" u="none" strike="noStrike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b"/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CPLY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 Metal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21113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1945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1594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11286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10203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Crude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19946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1896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1492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10967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9605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Finished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17500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1546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1328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9230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8156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Saleable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19190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1762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1495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10343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9406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763803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bl_sail_h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807632"/>
              </p:ext>
            </p:extLst>
          </p:nvPr>
        </p:nvGraphicFramePr>
        <p:xfrm>
          <a:off x="143092" y="3867150"/>
          <a:ext cx="8619908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398"/>
                <a:gridCol w="7411510"/>
              </a:tblGrid>
              <a:tr h="1021080">
                <a:tc>
                  <a:txBody>
                    <a:bodyPr/>
                    <a:lstStyle/>
                    <a:p>
                      <a:pPr marL="0" marR="0" indent="0" algn="ctr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smtClean="0">
                          <a:solidFill>
                            <a:srgbClr val="0000FF"/>
                          </a:solidFill>
                        </a:rPr>
                        <a:t>{PERIOD} Highlights</a:t>
                      </a:r>
                      <a:endParaRPr lang="en-IN" sz="1400" smtClean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SAIL achieved best </a:t>
                      </a:r>
                      <a:r>
                        <a:rPr lang="en-US" sz="1800" b="1" i="0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 H1 </a:t>
                      </a:r>
                      <a:r>
                        <a:rPr lang="en-US" sz="1800" b="1" i="0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(Apr-Sep) 2026-27 production for following:-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Hot Metal    10.203 MT (Previous best 10.135 MT in H1 2023-24)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Crude Steel    9.605 MT (Previous best 9.505 MT in H1 2025-26)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Finished Steel    8.389 MT (Previous best 8.301 MT in H1 2025-26)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54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3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 dirty="0"/>
              <a:t>SAIL Plant-wise Performance  :  {MON}  &amp;  {YTD}</a:t>
            </a:r>
            <a:endParaRPr lang="en-IN" sz="2900" b="1" dirty="0"/>
          </a:p>
        </p:txBody>
      </p:sp>
      <p:graphicFrame>
        <p:nvGraphicFramePr>
          <p:cNvPr id="4" name="tbl_plants_hm_cs">
            <a:extLst>
              <a:ext uri="{FF2B5EF4-FFF2-40B4-BE49-F238E27FC236}">
                <a16:creationId xmlns="" xmlns:a16="http://schemas.microsoft.com/office/drawing/2014/main" id="{DD0B971B-4CD5-362D-CB42-7326F7C1D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088130"/>
              </p:ext>
            </p:extLst>
          </p:nvPr>
        </p:nvGraphicFramePr>
        <p:xfrm>
          <a:off x="1143000" y="762939"/>
          <a:ext cx="6934198" cy="4255875"/>
        </p:xfrm>
        <a:graphic>
          <a:graphicData uri="http://schemas.openxmlformats.org/drawingml/2006/table">
            <a:tbl>
              <a:tblPr/>
              <a:tblGrid>
                <a:gridCol w="460648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536848"/>
                <a:gridCol w="6593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33281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985107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03647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63328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33282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914741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74011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235744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 Metal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23000002"/>
                  </a:ext>
                </a:extLst>
              </a:tr>
              <a:tr h="19346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Plant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{MON}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{YTD}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201454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{CPLY}</a:t>
                      </a:r>
                      <a:r>
                        <a:rPr lang="en-IN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CPLY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4438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92703031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21113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1945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11286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10203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80842528"/>
                  </a:ext>
                </a:extLst>
              </a:tr>
              <a:tr h="154690">
                <a:tc gridSpan="10">
                  <a:txBody>
                    <a:bodyPr/>
                    <a:lstStyle/>
                    <a:p>
                      <a:pPr algn="ctr" fontAlgn="b"/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26733038"/>
                  </a:ext>
                </a:extLst>
              </a:tr>
              <a:tr h="192405">
                <a:tc gridSpan="10">
                  <a:txBody>
                    <a:bodyPr/>
                    <a:lstStyle/>
                    <a:p>
                      <a:pPr marL="0" algn="ctr" defTabSz="914331" rtl="0" eaLnBrk="1" fontAlgn="b" latinLnBrk="0" hangingPunct="1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Crude Steel</a:t>
                      </a:r>
                      <a:endParaRPr lang="en-I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="" xmlns:a16="http://schemas.microsoft.com/office/drawing/2014/main" val="255419437"/>
                  </a:ext>
                </a:extLst>
              </a:tr>
              <a:tr h="19240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Plant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3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marL="0" marR="0" indent="0" algn="ctr" defTabSz="9143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{MON}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{YTD}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78041284"/>
                  </a:ext>
                </a:extLst>
              </a:tr>
              <a:tr h="192405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{CPLY}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CPLY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20985382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5961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94017978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83699680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34641412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34318023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ISP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22683729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SSPs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07661921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19946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10967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323146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659066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619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4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IN" sz="2400" b="1">
                <a:solidFill>
                  <a:srgbClr val="0000FF"/>
                </a:solidFill>
              </a:rPr>
              <a:t>Major Breakdowns/Delays  during  {MON} &amp; {YTD}</a:t>
            </a:r>
            <a:endParaRPr lang="en-IN" sz="2400" b="1" dirty="0"/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bl_delay_hmc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916100"/>
              </p:ext>
            </p:extLst>
          </p:nvPr>
        </p:nvGraphicFramePr>
        <p:xfrm>
          <a:off x="25020" y="819150"/>
          <a:ext cx="9042779" cy="43408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77288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2698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8642">
                <a:tc>
                  <a:txBody>
                    <a:bodyPr/>
                    <a:lstStyle/>
                    <a:p>
                      <a:pPr algn="ctr"/>
                      <a:r>
                        <a:rPr lang="en-IN" b="1" smtClean="0">
                          <a:solidFill>
                            <a:srgbClr val="C00000"/>
                          </a:solidFill>
                          <a:latin typeface="+mn-lt"/>
                          <a:cs typeface="Arial" pitchFamily="34" charset="0"/>
                        </a:rPr>
                        <a:t>HM </a:t>
                      </a:r>
                    </a:p>
                    <a:p>
                      <a:pPr algn="ctr"/>
                      <a:r>
                        <a:rPr lang="en-IN" b="1" smtClean="0">
                          <a:solidFill>
                            <a:srgbClr val="C00000"/>
                          </a:solidFill>
                          <a:latin typeface="+mn-lt"/>
                          <a:cs typeface="Arial" pitchFamily="34" charset="0"/>
                        </a:rPr>
                        <a:t>&amp; </a:t>
                      </a:r>
                    </a:p>
                    <a:p>
                      <a:pPr algn="ctr"/>
                      <a:r>
                        <a:rPr lang="en-IN" b="1" smtClean="0">
                          <a:solidFill>
                            <a:srgbClr val="C00000"/>
                          </a:solidFill>
                          <a:latin typeface="+mn-lt"/>
                          <a:cs typeface="Arial" pitchFamily="34" charset="0"/>
                        </a:rPr>
                        <a:t>CS</a:t>
                      </a:r>
                      <a:endParaRPr lang="en-IN" b="1">
                        <a:solidFill>
                          <a:srgbClr val="C00000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BSP ({MON}):</a:t>
                      </a:r>
                    </a:p>
                    <a:p>
                      <a:pPr marL="0" marR="0" lvl="0" indent="0" algn="l" defTabSz="914331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1800" b="1" kern="1200" baseline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BF#4: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BLT chute changing &amp; revival-15 days</a:t>
                      </a:r>
                    </a:p>
                    <a:p>
                      <a:pPr marL="0" marR="0" lvl="0" indent="0" algn="l" defTabSz="914331" rtl="0" eaLnBrk="1" fontAlgn="base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  </a:t>
                      </a:r>
                      <a:r>
                        <a:rPr lang="en-US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BF#7: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Multiple slipping &amp; revival- 3  days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  BF#8: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HBV of  Stove#2 &amp; BLT chute changing  (5+3 days)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DSP({YTD}):</a:t>
                      </a:r>
                    </a:p>
                    <a:p>
                      <a:pPr marL="9144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BF-2:</a:t>
                      </a:r>
                      <a:r>
                        <a:rPr lang="en-US" sz="1600" b="1" spc="-4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Extended CR (Took 14 days more than Plan of 45 days, Apr-Jun’26)          </a:t>
                      </a:r>
                    </a:p>
                    <a:p>
                      <a:pPr marL="91440" algn="l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          &amp;</a:t>
                      </a:r>
                      <a:r>
                        <a:rPr lang="en-IN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 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Extended stabilisation after CR (Took 10 days) </a:t>
                      </a:r>
                    </a:p>
                    <a:p>
                      <a:pPr marL="85725" indent="0" algn="l"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BF-3, 4</a:t>
                      </a:r>
                      <a:r>
                        <a:rPr lang="en-US" sz="1600" b="1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sz="1600" b="1" spc="-15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Shutdown in view of SMS Flare stack repair job (48 Hrs each, Apr’26)</a:t>
                      </a:r>
                      <a:endParaRPr lang="en-IN" sz="1600" b="1" kern="1200" baseline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ISP({MON}):</a:t>
                      </a:r>
                      <a:endParaRPr lang="en-US" sz="2000" b="1" kern="1200" spc="-25" smtClean="0">
                        <a:solidFill>
                          <a:srgbClr val="0000FF"/>
                        </a:solidFill>
                        <a:effectLst/>
                        <a:latin typeface="+mn-lt"/>
                        <a:ea typeface="Arial MT"/>
                        <a:cs typeface="Times New Roman" panose="02020603050405020304" pitchFamily="18" charset="0"/>
                      </a:endParaRPr>
                    </a:p>
                    <a:p>
                      <a:pPr marL="9144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Restricted sinter production due to wet &amp; sticky Raw Materails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25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ISP ({YTD}):</a:t>
                      </a:r>
                    </a:p>
                    <a:p>
                      <a:pPr marL="91440" algn="l" defTabSz="914331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Extended CR of BF-5 (Plan: 10 days, Actual: 13 days, May’26)</a:t>
                      </a:r>
                    </a:p>
                    <a:p>
                      <a:pPr marL="0" indent="0" algn="l" defTabSz="914331" rtl="0" eaLnBrk="1" latinLnBrk="0" hangingPunct="1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IN" sz="1800" b="1" kern="1200" spc="-25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ASP:</a:t>
                      </a:r>
                    </a:p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smtClean="0">
                          <a:solidFill>
                            <a:srgbClr val="C00000"/>
                          </a:solidFill>
                        </a:rPr>
                        <a:t>EAF-3:</a:t>
                      </a:r>
                      <a:r>
                        <a:rPr lang="en-IN" sz="1600" b="1" baseline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IN" sz="1600" b="1" smtClean="0">
                          <a:solidFill>
                            <a:schemeClr val="tx1"/>
                          </a:solidFill>
                        </a:rPr>
                        <a:t>Transformer oil leakage (25 days, Apr-May’26), Foundation breakdown in</a:t>
                      </a:r>
                      <a:r>
                        <a:rPr lang="en-IN" sz="1600" b="1" baseline="0" smtClean="0">
                          <a:solidFill>
                            <a:schemeClr val="tx1"/>
                          </a:solidFill>
                        </a:rPr>
                        <a:t> tapping car (52 days, Jun-Jul’26)</a:t>
                      </a:r>
                    </a:p>
                    <a:p>
                      <a:pPr marL="0" algn="l" defTabSz="914331" rtl="0" eaLnBrk="1" latinLnBrk="0" hangingPunct="1"/>
                      <a:r>
                        <a:rPr lang="en-IN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EAF-2: </a:t>
                      </a:r>
                      <a:r>
                        <a:rPr lang="en-IN" sz="1600" b="1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Foundation work of tapping Car from 07.8.26- cont.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19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8DE7051-C3CA-BC01-F002-7373734C5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5">
            <a:extLst>
              <a:ext uri="{FF2B5EF4-FFF2-40B4-BE49-F238E27FC236}">
                <a16:creationId xmlns="" xmlns:a16="http://schemas.microsoft.com/office/drawing/2014/main" id="{DE383360-41E3-AA5A-11F6-492B9D2D7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 dirty="0"/>
              <a:t>SAIL Plant-wise Performance  :  {MON}  &amp;  {YTD}</a:t>
            </a:r>
            <a:endParaRPr lang="en-IN" sz="2900" b="1" dirty="0"/>
          </a:p>
        </p:txBody>
      </p:sp>
      <p:graphicFrame>
        <p:nvGraphicFramePr>
          <p:cNvPr id="4" name="tbl_plants_ss_fs">
            <a:extLst>
              <a:ext uri="{FF2B5EF4-FFF2-40B4-BE49-F238E27FC236}">
                <a16:creationId xmlns="" xmlns:a16="http://schemas.microsoft.com/office/drawing/2014/main" id="{2E38A845-0E62-27ED-9953-B0CA67B7B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403114"/>
              </p:ext>
            </p:extLst>
          </p:nvPr>
        </p:nvGraphicFramePr>
        <p:xfrm>
          <a:off x="914401" y="742950"/>
          <a:ext cx="7010398" cy="4355411"/>
        </p:xfrm>
        <a:graphic>
          <a:graphicData uri="http://schemas.openxmlformats.org/drawingml/2006/table">
            <a:tbl>
              <a:tblPr/>
              <a:tblGrid>
                <a:gridCol w="536848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536848"/>
                <a:gridCol w="6593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33281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985107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03647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63328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33282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914741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74011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235744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Saleable Steel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23000002"/>
                  </a:ext>
                </a:extLst>
              </a:tr>
              <a:tr h="19346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Plant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{MON}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{YTD}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201454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{CPLY}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CPLY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BSL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92703031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marL="0" marR="0" lvl="0" indent="0" algn="ctr" defTabSz="9143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SSPs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761410850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19190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1762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10343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80842528"/>
                  </a:ext>
                </a:extLst>
              </a:tr>
              <a:tr h="97155">
                <a:tc gridSpan="10">
                  <a:txBody>
                    <a:bodyPr/>
                    <a:lstStyle/>
                    <a:p>
                      <a:pPr algn="l" fontAlgn="b"/>
                      <a:endParaRPr lang="en-IN" sz="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26733038"/>
                  </a:ext>
                </a:extLst>
              </a:tr>
              <a:tr h="192405">
                <a:tc gridSpan="10">
                  <a:txBody>
                    <a:bodyPr/>
                    <a:lstStyle/>
                    <a:p>
                      <a:pPr marL="0" algn="ctr" defTabSz="914331" rtl="0" eaLnBrk="1" fontAlgn="b" latinLnBrk="0" hangingPunct="1"/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Finished Steel</a:t>
                      </a:r>
                      <a:endParaRPr lang="en-I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="" xmlns:a16="http://schemas.microsoft.com/office/drawing/2014/main" val="255419437"/>
                  </a:ext>
                </a:extLst>
              </a:tr>
              <a:tr h="19240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Plant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{MON}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{YTD}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78041284"/>
                  </a:ext>
                </a:extLst>
              </a:tr>
              <a:tr h="192405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{CPLY}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CPLY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20985382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4900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2718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94017978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83699680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34641412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BSL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34318023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ISP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22683729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SSPs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07661921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17500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1376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9230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8389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323146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717CDE1-DA80-8E26-1330-5F031B68FAF4}"/>
              </a:ext>
            </a:extLst>
          </p:cNvPr>
          <p:cNvSpPr txBox="1"/>
          <p:nvPr/>
        </p:nvSpPr>
        <p:spPr>
          <a:xfrm>
            <a:off x="7898958" y="742977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183E9BD7-F7AB-9339-91FC-4C843226E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30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6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IN" sz="2400" b="1">
                <a:solidFill>
                  <a:srgbClr val="0000FF"/>
                </a:solidFill>
              </a:rPr>
              <a:t>Major Breakdowns/Delays  during  {MON} &amp; {YTD}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659066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bl_delay_f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58069"/>
              </p:ext>
            </p:extLst>
          </p:nvPr>
        </p:nvGraphicFramePr>
        <p:xfrm>
          <a:off x="25020" y="1047750"/>
          <a:ext cx="9042779" cy="37998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77288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2698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068642">
                <a:tc>
                  <a:txBody>
                    <a:bodyPr/>
                    <a:lstStyle/>
                    <a:p>
                      <a:pPr algn="ctr"/>
                      <a:r>
                        <a:rPr lang="en-IN" sz="1600" b="1" smtClean="0">
                          <a:solidFill>
                            <a:srgbClr val="C00000"/>
                          </a:solidFill>
                          <a:latin typeface="+mn-lt"/>
                          <a:cs typeface="Arial" pitchFamily="34" charset="0"/>
                        </a:rPr>
                        <a:t>FS</a:t>
                      </a:r>
                      <a:endParaRPr lang="en-IN" sz="1600" b="1">
                        <a:solidFill>
                          <a:srgbClr val="C00000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BSP ({MON}):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600" b="1" smtClean="0">
                          <a:solidFill>
                            <a:srgbClr val="C00000"/>
                          </a:solidFill>
                          <a:latin typeface="+mn-lt"/>
                          <a:cs typeface="Arial" pitchFamily="34" charset="0"/>
                        </a:rPr>
                        <a:t>RSM: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CR from 19th Sept26- Contd</a:t>
                      </a:r>
                      <a:endParaRPr lang="en-IN" sz="1600" baseline="0" smtClean="0">
                        <a:latin typeface="+mn-lt"/>
                        <a:cs typeface="Arial" pitchFamily="34" charset="0"/>
                      </a:endParaRPr>
                    </a:p>
                    <a:p>
                      <a:r>
                        <a:rPr lang="en-IN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MM, WRM, BRM : </a:t>
                      </a:r>
                      <a:r>
                        <a:rPr lang="en-IN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Input Billet / BF Gas constraints</a:t>
                      </a:r>
                      <a:endParaRPr lang="en-IN" sz="1600" baseline="0" smtClean="0">
                        <a:latin typeface="+mn-lt"/>
                        <a:cs typeface="Arial" pitchFamily="34" charset="0"/>
                      </a:endParaRPr>
                    </a:p>
                    <a:p>
                      <a:pPr marL="0" marR="0" lvl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baseline="0" smtClean="0">
                          <a:solidFill>
                            <a:srgbClr val="C00000"/>
                          </a:solidFill>
                          <a:latin typeface="+mn-lt"/>
                          <a:cs typeface="Arial" pitchFamily="34" charset="0"/>
                        </a:rPr>
                        <a:t>Plate Mill: </a:t>
                      </a:r>
                      <a:r>
                        <a:rPr lang="en-US" sz="16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2 RHFs operation for 11 days (Repair of RHF-1&amp;3)</a:t>
                      </a:r>
                      <a:endParaRPr lang="en-US" sz="1600" b="1" kern="1200" smtClean="0">
                        <a:solidFill>
                          <a:srgbClr val="0000FF"/>
                        </a:solidFill>
                        <a:latin typeface="+mn-lt"/>
                        <a:ea typeface="+mn-ea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DSP({YTD}):</a:t>
                      </a:r>
                    </a:p>
                    <a:p>
                      <a:pPr marL="0" indent="0" algn="l"/>
                      <a:r>
                        <a:rPr lang="en-US" sz="1600" b="1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MSM:</a:t>
                      </a: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Extended CR (Plan: 6 days, Actual: 8 days, Apr’26) </a:t>
                      </a:r>
                    </a:p>
                    <a:p>
                      <a:pPr algn="l"/>
                      <a:r>
                        <a:rPr lang="en-US" sz="1600" b="1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M Mill: </a:t>
                      </a: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Extended CR (Plan: 10 days, Actual: 13 days, Apr-May’26)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RSP({MON}):</a:t>
                      </a:r>
                      <a:endParaRPr lang="en-US" sz="1600" b="1" kern="1200" spc="-25" smtClean="0">
                        <a:solidFill>
                          <a:srgbClr val="0000FF"/>
                        </a:solidFill>
                        <a:effectLst/>
                        <a:latin typeface="+mn-lt"/>
                        <a:ea typeface="Arial MT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HSM-2 : </a:t>
                      </a:r>
                      <a:r>
                        <a:rPr lang="en-IN" sz="1600" b="1" baseline="0" smtClean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Single RHF operation for 6.5 days (roof brick fallen) </a:t>
                      </a:r>
                    </a:p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pc="-25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ISP ({YTD}):</a:t>
                      </a:r>
                    </a:p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WRM: </a:t>
                      </a: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Extended CR (Plan: 10 days, Actual: 13 days in May’26)</a:t>
                      </a:r>
                    </a:p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 Mill: </a:t>
                      </a: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Extended CR (Plan: 11 days, Actual: 17 days in May’26)</a:t>
                      </a:r>
                    </a:p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USM: </a:t>
                      </a: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Extended CR (Plan: 11 days, Actual: 22 days in May’26)</a:t>
                      </a:r>
                    </a:p>
                    <a:p>
                      <a:r>
                        <a:rPr lang="en-US" sz="1600" b="1" kern="1200" spc="-25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Arial MT"/>
                          <a:cs typeface="Times New Roman" panose="02020603050405020304" pitchFamily="18" charset="0"/>
                        </a:rPr>
                        <a:t>VISL: </a:t>
                      </a:r>
                      <a:r>
                        <a:rPr lang="en-IN" sz="1600" b="1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Roof sheeting job (15 days, Apr-May’26) &amp; RHF down for arch &amp; roof bricks fallen (44 days, May-Jun’26)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47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7">
            <a:extLst>
              <a:ext uri="{FF2B5EF4-FFF2-40B4-BE49-F238E27FC236}">
                <a16:creationId xmlns:a16="http://schemas.microsoft.com/office/drawing/2014/main" xmlns="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11" y="104491"/>
            <a:ext cx="8534391" cy="583112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34" tIns="45717" rIns="91434" bIns="45717" rtlCol="0" anchor="ctr">
            <a:no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SAIL  Techno  Performance ({YTD})</a:t>
            </a:r>
            <a:endParaRPr lang="en-I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8" name="ch_SAIL_coke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5761319"/>
              </p:ext>
            </p:extLst>
          </p:nvPr>
        </p:nvGraphicFramePr>
        <p:xfrm>
          <a:off x="3154000" y="973099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_SAIL_pci">
            <a:extLst>
              <a:ext uri="{FF2B5EF4-FFF2-40B4-BE49-F238E27FC236}">
                <a16:creationId xmlns:a16="http://schemas.microsoft.com/office/drawing/2014/main" xmlns="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8727828"/>
              </p:ext>
            </p:extLst>
          </p:nvPr>
        </p:nvGraphicFramePr>
        <p:xfrm>
          <a:off x="6092848" y="973099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_SAIL_bfprod">
            <a:extLst>
              <a:ext uri="{FF2B5EF4-FFF2-40B4-BE49-F238E27FC236}">
                <a16:creationId xmlns:a16="http://schemas.microsoft.com/office/drawing/2014/main" xmlns="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9398791"/>
              </p:ext>
            </p:extLst>
          </p:nvPr>
        </p:nvGraphicFramePr>
        <p:xfrm>
          <a:off x="23045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_SAIL_energy">
            <a:extLst>
              <a:ext uri="{FF2B5EF4-FFF2-40B4-BE49-F238E27FC236}">
                <a16:creationId xmlns:a16="http://schemas.microsoft.com/office/drawing/2014/main" xmlns="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230431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_SAIL_co2">
            <a:extLst>
              <a:ext uri="{FF2B5EF4-FFF2-40B4-BE49-F238E27FC236}">
                <a16:creationId xmlns:a16="http://schemas.microsoft.com/office/drawing/2014/main" xmlns="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6599456"/>
              </p:ext>
            </p:extLst>
          </p:nvPr>
        </p:nvGraphicFramePr>
        <p:xfrm>
          <a:off x="6032033" y="3073338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:a16="http://schemas.microsoft.com/office/drawing/2014/main" xmlns="" id="{468FF4CD-BFBE-9162-452F-671EFCEC1EB1}"/>
              </a:ext>
            </a:extLst>
          </p:cNvPr>
          <p:cNvSpPr/>
          <p:nvPr/>
        </p:nvSpPr>
        <p:spPr>
          <a:xfrm>
            <a:off x="5812501" y="10367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xmlns="" id="{4A9AFB77-8853-EFC9-8382-A1A5951D88C5}"/>
              </a:ext>
            </a:extLst>
          </p:cNvPr>
          <p:cNvSpPr/>
          <p:nvPr/>
        </p:nvSpPr>
        <p:spPr>
          <a:xfrm rot="10800000">
            <a:off x="8831406" y="110112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xmlns="" id="{AC3054EC-F129-033A-22D0-534C9B53C940}"/>
              </a:ext>
            </a:extLst>
          </p:cNvPr>
          <p:cNvSpPr/>
          <p:nvPr/>
        </p:nvSpPr>
        <p:spPr>
          <a:xfrm>
            <a:off x="8868460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xmlns="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5674312" y="846305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E34A3E0-3C28-0FB4-B89A-52034D2C1A6A}"/>
              </a:ext>
            </a:extLst>
          </p:cNvPr>
          <p:cNvSpPr txBox="1"/>
          <p:nvPr/>
        </p:nvSpPr>
        <p:spPr>
          <a:xfrm>
            <a:off x="2472770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4589875-2851-8B97-6DBB-523F83EAF1E0}"/>
              </a:ext>
            </a:extLst>
          </p:cNvPr>
          <p:cNvSpPr txBox="1"/>
          <p:nvPr/>
        </p:nvSpPr>
        <p:spPr>
          <a:xfrm>
            <a:off x="8700594" y="973130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3263986C-DB10-ED2F-A1D9-34D088B5642A}"/>
              </a:ext>
            </a:extLst>
          </p:cNvPr>
          <p:cNvSpPr txBox="1"/>
          <p:nvPr/>
        </p:nvSpPr>
        <p:spPr>
          <a:xfrm>
            <a:off x="8738239" y="2947187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:a16="http://schemas.microsoft.com/office/drawing/2014/main" xmlns="" id="{8592BCE0-3F85-1C4F-3398-3B8AA4138CB5}"/>
              </a:ext>
            </a:extLst>
          </p:cNvPr>
          <p:cNvSpPr/>
          <p:nvPr/>
        </p:nvSpPr>
        <p:spPr>
          <a:xfrm>
            <a:off x="5807460" y="31436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7A38F87-C80B-9134-99B2-6309AAADAE31}"/>
              </a:ext>
            </a:extLst>
          </p:cNvPr>
          <p:cNvSpPr txBox="1"/>
          <p:nvPr/>
        </p:nvSpPr>
        <p:spPr>
          <a:xfrm>
            <a:off x="5678121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_SAIL_fuel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5115515"/>
              </p:ext>
            </p:extLst>
          </p:nvPr>
        </p:nvGraphicFramePr>
        <p:xfrm>
          <a:off x="51178" y="1032205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2472770" y="87008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75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8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/>
              <a:t>BSP  Performance : {MON} &amp; {YTD}</a:t>
            </a:r>
            <a:endParaRPr lang="en-IN" sz="2900" b="1" dirty="0"/>
          </a:p>
        </p:txBody>
      </p:sp>
      <p:graphicFrame>
        <p:nvGraphicFramePr>
          <p:cNvPr id="4" name="tbl_BSP">
            <a:extLst>
              <a:ext uri="{FF2B5EF4-FFF2-40B4-BE49-F238E27FC236}">
                <a16:creationId xmlns="" xmlns:a16="http://schemas.microsoft.com/office/drawing/2014/main" id="{DD0B971B-4CD5-362D-CB42-7326F7C1D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38009"/>
              </p:ext>
            </p:extLst>
          </p:nvPr>
        </p:nvGraphicFramePr>
        <p:xfrm>
          <a:off x="609615" y="971550"/>
          <a:ext cx="7772382" cy="2803711"/>
        </p:xfrm>
        <a:graphic>
          <a:graphicData uri="http://schemas.openxmlformats.org/drawingml/2006/table">
            <a:tbl>
              <a:tblPr/>
              <a:tblGrid>
                <a:gridCol w="1219185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728133"/>
                <a:gridCol w="728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328626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{MON}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{YTD}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637480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{CPLY}</a:t>
                      </a:r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endParaRPr lang="en-IN" sz="1400" b="1" i="0" u="none" strike="noStrike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b"/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CPLY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 Metal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6275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542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370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-21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72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3287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2997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Crude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5961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530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355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-21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72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3212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2866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Finished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4900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374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2718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2401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Saleable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5560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495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384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-13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84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2926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2687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763803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bl_BSP_h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40741"/>
              </p:ext>
            </p:extLst>
          </p:nvPr>
        </p:nvGraphicFramePr>
        <p:xfrm>
          <a:off x="143092" y="3867150"/>
          <a:ext cx="8619908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398"/>
                <a:gridCol w="7411510"/>
              </a:tblGrid>
              <a:tr h="1021080">
                <a:tc>
                  <a:txBody>
                    <a:bodyPr/>
                    <a:lstStyle/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Highlights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BSP achieved best H1 (Apr-Sep) 2026-27 production for following:-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Hot Metal    2.997 MT (Previous best 2.983 MT in H1 2023-24)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Crude Steel    2.866 MT (Previous best 2.833 MT in H1 2025-26)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Finished Steel    2.401 MT (Previous best 2.327 MT in H1 2025-26)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6401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  <a:latin typeface="Arial Narrow" pitchFamily="34" charset="0"/>
              </a:rPr>
              <a:t>BSP </a:t>
            </a:r>
            <a:r>
              <a:rPr lang="en-US" b="1" dirty="0">
                <a:solidFill>
                  <a:srgbClr val="0000FF"/>
                </a:solidFill>
                <a:latin typeface="Arial Narrow" pitchFamily="34" charset="0"/>
              </a:rPr>
              <a:t>Techno  Performance</a:t>
            </a:r>
            <a:endParaRPr lang="en-IN" b="1" dirty="0">
              <a:solidFill>
                <a:srgbClr val="0000FF"/>
              </a:solidFill>
              <a:latin typeface="Arial Narrow" pitchFamily="34" charset="0"/>
            </a:endParaRPr>
          </a:p>
        </p:txBody>
      </p:sp>
      <p:graphicFrame>
        <p:nvGraphicFramePr>
          <p:cNvPr id="8" name="ch_BSP_coke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1397629"/>
              </p:ext>
            </p:extLst>
          </p:nvPr>
        </p:nvGraphicFramePr>
        <p:xfrm>
          <a:off x="3154000" y="973099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_BSP_pci">
            <a:extLst>
              <a:ext uri="{FF2B5EF4-FFF2-40B4-BE49-F238E27FC236}">
                <a16:creationId xmlns:a16="http://schemas.microsoft.com/office/drawing/2014/main" xmlns="" id="{848301C5-8399-FE4E-459E-773510FDEB91}"/>
              </a:ext>
            </a:extLst>
          </p:cNvPr>
          <p:cNvGraphicFramePr/>
          <p:nvPr/>
        </p:nvGraphicFramePr>
        <p:xfrm>
          <a:off x="6092848" y="973099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_BSP_bfprod">
            <a:extLst>
              <a:ext uri="{FF2B5EF4-FFF2-40B4-BE49-F238E27FC236}">
                <a16:creationId xmlns:a16="http://schemas.microsoft.com/office/drawing/2014/main" xmlns="" id="{823E7253-7CA4-0EF2-8B08-9A9CD6B3CBBF}"/>
              </a:ext>
            </a:extLst>
          </p:cNvPr>
          <p:cNvGraphicFramePr/>
          <p:nvPr/>
        </p:nvGraphicFramePr>
        <p:xfrm>
          <a:off x="23045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_BSP_energy">
            <a:extLst>
              <a:ext uri="{FF2B5EF4-FFF2-40B4-BE49-F238E27FC236}">
                <a16:creationId xmlns:a16="http://schemas.microsoft.com/office/drawing/2014/main" xmlns="" id="{F5A98B31-9746-49D2-D917-366B4F68C361}"/>
              </a:ext>
            </a:extLst>
          </p:cNvPr>
          <p:cNvGraphicFramePr/>
          <p:nvPr/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_BSP_co2">
            <a:extLst>
              <a:ext uri="{FF2B5EF4-FFF2-40B4-BE49-F238E27FC236}">
                <a16:creationId xmlns:a16="http://schemas.microsoft.com/office/drawing/2014/main" xmlns="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7588393"/>
              </p:ext>
            </p:extLst>
          </p:nvPr>
        </p:nvGraphicFramePr>
        <p:xfrm>
          <a:off x="6032033" y="3073338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:a16="http://schemas.microsoft.com/office/drawing/2014/main" xmlns="" id="{468FF4CD-BFBE-9162-452F-671EFCEC1EB1}"/>
              </a:ext>
            </a:extLst>
          </p:cNvPr>
          <p:cNvSpPr/>
          <p:nvPr/>
        </p:nvSpPr>
        <p:spPr>
          <a:xfrm>
            <a:off x="5812501" y="10367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xmlns="" id="{4A9AFB77-8853-EFC9-8382-A1A5951D88C5}"/>
              </a:ext>
            </a:extLst>
          </p:cNvPr>
          <p:cNvSpPr/>
          <p:nvPr/>
        </p:nvSpPr>
        <p:spPr>
          <a:xfrm rot="10800000">
            <a:off x="8831406" y="110112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xmlns="" id="{AC3054EC-F129-033A-22D0-534C9B53C940}"/>
              </a:ext>
            </a:extLst>
          </p:cNvPr>
          <p:cNvSpPr/>
          <p:nvPr/>
        </p:nvSpPr>
        <p:spPr>
          <a:xfrm>
            <a:off x="8868460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xmlns="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5674312" y="846305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E34A3E0-3C28-0FB4-B89A-52034D2C1A6A}"/>
              </a:ext>
            </a:extLst>
          </p:cNvPr>
          <p:cNvSpPr txBox="1"/>
          <p:nvPr/>
        </p:nvSpPr>
        <p:spPr>
          <a:xfrm>
            <a:off x="2472770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4589875-2851-8B97-6DBB-523F83EAF1E0}"/>
              </a:ext>
            </a:extLst>
          </p:cNvPr>
          <p:cNvSpPr txBox="1"/>
          <p:nvPr/>
        </p:nvSpPr>
        <p:spPr>
          <a:xfrm>
            <a:off x="8700594" y="973130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3263986C-DB10-ED2F-A1D9-34D088B5642A}"/>
              </a:ext>
            </a:extLst>
          </p:cNvPr>
          <p:cNvSpPr txBox="1"/>
          <p:nvPr/>
        </p:nvSpPr>
        <p:spPr>
          <a:xfrm>
            <a:off x="8738239" y="2947187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:a16="http://schemas.microsoft.com/office/drawing/2014/main" xmlns="" id="{8592BCE0-3F85-1C4F-3398-3B8AA4138CB5}"/>
              </a:ext>
            </a:extLst>
          </p:cNvPr>
          <p:cNvSpPr/>
          <p:nvPr/>
        </p:nvSpPr>
        <p:spPr>
          <a:xfrm>
            <a:off x="5807460" y="31436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7A38F87-C80B-9134-99B2-6309AAADAE31}"/>
              </a:ext>
            </a:extLst>
          </p:cNvPr>
          <p:cNvSpPr txBox="1"/>
          <p:nvPr/>
        </p:nvSpPr>
        <p:spPr>
          <a:xfrm>
            <a:off x="5678121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_BSP_fuel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9428164"/>
              </p:ext>
            </p:extLst>
          </p:nvPr>
        </p:nvGraphicFramePr>
        <p:xfrm>
          <a:off x="51178" y="1032205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2472770" y="87008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37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10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 smtClean="0"/>
              <a:t>DSP  Performance : {MON} &amp; {YTD}</a:t>
            </a:r>
            <a:endParaRPr lang="en-IN" sz="2900" b="1" dirty="0"/>
          </a:p>
        </p:txBody>
      </p:sp>
      <p:graphicFrame>
        <p:nvGraphicFramePr>
          <p:cNvPr id="4" name="tbl_DSP">
            <a:extLst>
              <a:ext uri="{FF2B5EF4-FFF2-40B4-BE49-F238E27FC236}">
                <a16:creationId xmlns="" xmlns:a16="http://schemas.microsoft.com/office/drawing/2014/main" id="{DD0B971B-4CD5-362D-CB42-7326F7C1D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396351"/>
              </p:ext>
            </p:extLst>
          </p:nvPr>
        </p:nvGraphicFramePr>
        <p:xfrm>
          <a:off x="609615" y="971550"/>
          <a:ext cx="7772382" cy="2803711"/>
        </p:xfrm>
        <a:graphic>
          <a:graphicData uri="http://schemas.openxmlformats.org/drawingml/2006/table">
            <a:tbl>
              <a:tblPr/>
              <a:tblGrid>
                <a:gridCol w="1219185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728133"/>
                <a:gridCol w="728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328626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{MON}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{YTD}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637480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{CPLY}</a:t>
                      </a:r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endParaRPr lang="en-IN" sz="1400" b="1" i="0" u="none" strike="noStrike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b"/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CPLY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 Metal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2450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229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205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1255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1146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Crude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2200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212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182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1158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1027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Finished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1392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116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84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73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680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539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77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Saleable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2120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204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170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1108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964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763803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bl_DSP_h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40741"/>
              </p:ext>
            </p:extLst>
          </p:nvPr>
        </p:nvGraphicFramePr>
        <p:xfrm>
          <a:off x="143092" y="3867150"/>
          <a:ext cx="8619908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398"/>
                <a:gridCol w="7411510"/>
              </a:tblGrid>
              <a:tr h="1021080">
                <a:tc>
                  <a:txBody>
                    <a:bodyPr/>
                    <a:lstStyle/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Highlights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09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04492"/>
            <a:ext cx="7620000" cy="409859"/>
          </a:xfrm>
        </p:spPr>
        <p:txBody>
          <a:bodyPr/>
          <a:lstStyle/>
          <a:p>
            <a:r>
              <a:rPr lang="en-US" b="1">
                <a:solidFill>
                  <a:srgbClr val="0000FF"/>
                </a:solidFill>
                <a:latin typeface="Arial Narrow" pitchFamily="34" charset="0"/>
              </a:rPr>
              <a:t>DSP Techno  Performance</a:t>
            </a:r>
            <a:endParaRPr lang="en-IN">
              <a:solidFill>
                <a:srgbClr val="0000FF"/>
              </a:solidFill>
              <a:latin typeface="Arial Narrow" pitchFamily="34" charset="0"/>
            </a:endParaRPr>
          </a:p>
        </p:txBody>
      </p:sp>
      <p:graphicFrame>
        <p:nvGraphicFramePr>
          <p:cNvPr id="8" name="ch_DSP_coke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0412677"/>
              </p:ext>
            </p:extLst>
          </p:nvPr>
        </p:nvGraphicFramePr>
        <p:xfrm>
          <a:off x="3154000" y="973099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_DSP_pci">
            <a:extLst>
              <a:ext uri="{FF2B5EF4-FFF2-40B4-BE49-F238E27FC236}">
                <a16:creationId xmlns:a16="http://schemas.microsoft.com/office/drawing/2014/main" xmlns="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5007160"/>
              </p:ext>
            </p:extLst>
          </p:nvPr>
        </p:nvGraphicFramePr>
        <p:xfrm>
          <a:off x="6092848" y="973099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_DSP_bfprod">
            <a:extLst>
              <a:ext uri="{FF2B5EF4-FFF2-40B4-BE49-F238E27FC236}">
                <a16:creationId xmlns:a16="http://schemas.microsoft.com/office/drawing/2014/main" xmlns="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2988519"/>
              </p:ext>
            </p:extLst>
          </p:nvPr>
        </p:nvGraphicFramePr>
        <p:xfrm>
          <a:off x="23045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_DSP_energy">
            <a:extLst>
              <a:ext uri="{FF2B5EF4-FFF2-40B4-BE49-F238E27FC236}">
                <a16:creationId xmlns:a16="http://schemas.microsoft.com/office/drawing/2014/main" xmlns="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5488872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_DSP_co2">
            <a:extLst>
              <a:ext uri="{FF2B5EF4-FFF2-40B4-BE49-F238E27FC236}">
                <a16:creationId xmlns:a16="http://schemas.microsoft.com/office/drawing/2014/main" xmlns="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9075329"/>
              </p:ext>
            </p:extLst>
          </p:nvPr>
        </p:nvGraphicFramePr>
        <p:xfrm>
          <a:off x="6032033" y="3073338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:a16="http://schemas.microsoft.com/office/drawing/2014/main" xmlns="" id="{468FF4CD-BFBE-9162-452F-671EFCEC1EB1}"/>
              </a:ext>
            </a:extLst>
          </p:cNvPr>
          <p:cNvSpPr/>
          <p:nvPr/>
        </p:nvSpPr>
        <p:spPr>
          <a:xfrm>
            <a:off x="5812501" y="10367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xmlns="" id="{4A9AFB77-8853-EFC9-8382-A1A5951D88C5}"/>
              </a:ext>
            </a:extLst>
          </p:cNvPr>
          <p:cNvSpPr/>
          <p:nvPr/>
        </p:nvSpPr>
        <p:spPr>
          <a:xfrm rot="10800000">
            <a:off x="8831406" y="110112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xmlns="" id="{AC3054EC-F129-033A-22D0-534C9B53C940}"/>
              </a:ext>
            </a:extLst>
          </p:cNvPr>
          <p:cNvSpPr/>
          <p:nvPr/>
        </p:nvSpPr>
        <p:spPr>
          <a:xfrm>
            <a:off x="8868460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xmlns="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5674312" y="846305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E34A3E0-3C28-0FB4-B89A-52034D2C1A6A}"/>
              </a:ext>
            </a:extLst>
          </p:cNvPr>
          <p:cNvSpPr txBox="1"/>
          <p:nvPr/>
        </p:nvSpPr>
        <p:spPr>
          <a:xfrm>
            <a:off x="2472770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4589875-2851-8B97-6DBB-523F83EAF1E0}"/>
              </a:ext>
            </a:extLst>
          </p:cNvPr>
          <p:cNvSpPr txBox="1"/>
          <p:nvPr/>
        </p:nvSpPr>
        <p:spPr>
          <a:xfrm>
            <a:off x="8700594" y="973130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3263986C-DB10-ED2F-A1D9-34D088B5642A}"/>
              </a:ext>
            </a:extLst>
          </p:cNvPr>
          <p:cNvSpPr txBox="1"/>
          <p:nvPr/>
        </p:nvSpPr>
        <p:spPr>
          <a:xfrm>
            <a:off x="8738239" y="2947187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:a16="http://schemas.microsoft.com/office/drawing/2014/main" xmlns="" id="{8592BCE0-3F85-1C4F-3398-3B8AA4138CB5}"/>
              </a:ext>
            </a:extLst>
          </p:cNvPr>
          <p:cNvSpPr/>
          <p:nvPr/>
        </p:nvSpPr>
        <p:spPr>
          <a:xfrm>
            <a:off x="5807460" y="31436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7A38F87-C80B-9134-99B2-6309AAADAE31}"/>
              </a:ext>
            </a:extLst>
          </p:cNvPr>
          <p:cNvSpPr txBox="1"/>
          <p:nvPr/>
        </p:nvSpPr>
        <p:spPr>
          <a:xfrm>
            <a:off x="5678121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_DSP_fuel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4808117"/>
              </p:ext>
            </p:extLst>
          </p:nvPr>
        </p:nvGraphicFramePr>
        <p:xfrm>
          <a:off x="51178" y="1032205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2472770" y="87008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05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12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 smtClean="0"/>
              <a:t>RSP  Performance : {MON} &amp; {YTD}</a:t>
            </a:r>
            <a:endParaRPr lang="en-IN" sz="2900" b="1" dirty="0"/>
          </a:p>
        </p:txBody>
      </p:sp>
      <p:graphicFrame>
        <p:nvGraphicFramePr>
          <p:cNvPr id="4" name="tbl_RSP">
            <a:extLst>
              <a:ext uri="{FF2B5EF4-FFF2-40B4-BE49-F238E27FC236}">
                <a16:creationId xmlns="" xmlns:a16="http://schemas.microsoft.com/office/drawing/2014/main" id="{DD0B971B-4CD5-362D-CB42-7326F7C1D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893863"/>
              </p:ext>
            </p:extLst>
          </p:nvPr>
        </p:nvGraphicFramePr>
        <p:xfrm>
          <a:off x="609615" y="1194738"/>
          <a:ext cx="7772382" cy="2803711"/>
        </p:xfrm>
        <a:graphic>
          <a:graphicData uri="http://schemas.openxmlformats.org/drawingml/2006/table">
            <a:tbl>
              <a:tblPr/>
              <a:tblGrid>
                <a:gridCol w="1219185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728133"/>
                <a:gridCol w="728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328626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{MON}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{YTD}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637480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{CPLY}</a:t>
                      </a:r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endParaRPr lang="en-IN" sz="1400" b="1" i="0" u="none" strike="noStrike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b"/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CPLY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 Metal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4438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453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371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2556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2154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Crude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4216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435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342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2441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2002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Finished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4306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370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333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2334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2086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Saleable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4306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370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333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2334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2086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659066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bl_RSP_h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40741"/>
              </p:ext>
            </p:extLst>
          </p:nvPr>
        </p:nvGraphicFramePr>
        <p:xfrm>
          <a:off x="143092" y="4058449"/>
          <a:ext cx="8619908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398"/>
                <a:gridCol w="7411510"/>
              </a:tblGrid>
              <a:tr h="1021080">
                <a:tc>
                  <a:txBody>
                    <a:bodyPr/>
                    <a:lstStyle/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Highlights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71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04492"/>
            <a:ext cx="8229600" cy="409859"/>
          </a:xfrm>
        </p:spPr>
        <p:txBody>
          <a:bodyPr/>
          <a:lstStyle/>
          <a:p>
            <a:r>
              <a:rPr lang="en-US" b="1">
                <a:solidFill>
                  <a:srgbClr val="0000FF"/>
                </a:solidFill>
                <a:latin typeface="Arial Narrow" pitchFamily="34" charset="0"/>
              </a:rPr>
              <a:t>RSP Techno  Performance</a:t>
            </a:r>
            <a:endParaRPr lang="en-IN">
              <a:solidFill>
                <a:srgbClr val="0000FF"/>
              </a:solidFill>
              <a:latin typeface="Arial Narrow" pitchFamily="34" charset="0"/>
            </a:endParaRPr>
          </a:p>
        </p:txBody>
      </p:sp>
      <p:graphicFrame>
        <p:nvGraphicFramePr>
          <p:cNvPr id="8" name="ch_RSP_coke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6152117"/>
              </p:ext>
            </p:extLst>
          </p:nvPr>
        </p:nvGraphicFramePr>
        <p:xfrm>
          <a:off x="3154000" y="973099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_RSP_pci">
            <a:extLst>
              <a:ext uri="{FF2B5EF4-FFF2-40B4-BE49-F238E27FC236}">
                <a16:creationId xmlns:a16="http://schemas.microsoft.com/office/drawing/2014/main" xmlns="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8932233"/>
              </p:ext>
            </p:extLst>
          </p:nvPr>
        </p:nvGraphicFramePr>
        <p:xfrm>
          <a:off x="6092848" y="973099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_RSP_bfprod">
            <a:extLst>
              <a:ext uri="{FF2B5EF4-FFF2-40B4-BE49-F238E27FC236}">
                <a16:creationId xmlns:a16="http://schemas.microsoft.com/office/drawing/2014/main" xmlns="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4905870"/>
              </p:ext>
            </p:extLst>
          </p:nvPr>
        </p:nvGraphicFramePr>
        <p:xfrm>
          <a:off x="23045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_RSP_energy">
            <a:extLst>
              <a:ext uri="{FF2B5EF4-FFF2-40B4-BE49-F238E27FC236}">
                <a16:creationId xmlns:a16="http://schemas.microsoft.com/office/drawing/2014/main" xmlns="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1954571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_RSP_co2">
            <a:extLst>
              <a:ext uri="{FF2B5EF4-FFF2-40B4-BE49-F238E27FC236}">
                <a16:creationId xmlns:a16="http://schemas.microsoft.com/office/drawing/2014/main" xmlns="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6998925"/>
              </p:ext>
            </p:extLst>
          </p:nvPr>
        </p:nvGraphicFramePr>
        <p:xfrm>
          <a:off x="6032033" y="3073338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:a16="http://schemas.microsoft.com/office/drawing/2014/main" xmlns="" id="{468FF4CD-BFBE-9162-452F-671EFCEC1EB1}"/>
              </a:ext>
            </a:extLst>
          </p:cNvPr>
          <p:cNvSpPr/>
          <p:nvPr/>
        </p:nvSpPr>
        <p:spPr>
          <a:xfrm>
            <a:off x="5812501" y="10367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xmlns="" id="{4A9AFB77-8853-EFC9-8382-A1A5951D88C5}"/>
              </a:ext>
            </a:extLst>
          </p:cNvPr>
          <p:cNvSpPr/>
          <p:nvPr/>
        </p:nvSpPr>
        <p:spPr>
          <a:xfrm rot="10800000">
            <a:off x="8831406" y="110112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xmlns="" id="{AC3054EC-F129-033A-22D0-534C9B53C940}"/>
              </a:ext>
            </a:extLst>
          </p:cNvPr>
          <p:cNvSpPr/>
          <p:nvPr/>
        </p:nvSpPr>
        <p:spPr>
          <a:xfrm>
            <a:off x="8868460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xmlns="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5674312" y="846305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E34A3E0-3C28-0FB4-B89A-52034D2C1A6A}"/>
              </a:ext>
            </a:extLst>
          </p:cNvPr>
          <p:cNvSpPr txBox="1"/>
          <p:nvPr/>
        </p:nvSpPr>
        <p:spPr>
          <a:xfrm>
            <a:off x="2472770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4589875-2851-8B97-6DBB-523F83EAF1E0}"/>
              </a:ext>
            </a:extLst>
          </p:cNvPr>
          <p:cNvSpPr txBox="1"/>
          <p:nvPr/>
        </p:nvSpPr>
        <p:spPr>
          <a:xfrm>
            <a:off x="8700594" y="973130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3263986C-DB10-ED2F-A1D9-34D088B5642A}"/>
              </a:ext>
            </a:extLst>
          </p:cNvPr>
          <p:cNvSpPr txBox="1"/>
          <p:nvPr/>
        </p:nvSpPr>
        <p:spPr>
          <a:xfrm>
            <a:off x="8738239" y="2947187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:a16="http://schemas.microsoft.com/office/drawing/2014/main" xmlns="" id="{8592BCE0-3F85-1C4F-3398-3B8AA4138CB5}"/>
              </a:ext>
            </a:extLst>
          </p:cNvPr>
          <p:cNvSpPr/>
          <p:nvPr/>
        </p:nvSpPr>
        <p:spPr>
          <a:xfrm>
            <a:off x="5807460" y="31436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7A38F87-C80B-9134-99B2-6309AAADAE31}"/>
              </a:ext>
            </a:extLst>
          </p:cNvPr>
          <p:cNvSpPr txBox="1"/>
          <p:nvPr/>
        </p:nvSpPr>
        <p:spPr>
          <a:xfrm>
            <a:off x="5678121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_RSP_fuel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3612519"/>
              </p:ext>
            </p:extLst>
          </p:nvPr>
        </p:nvGraphicFramePr>
        <p:xfrm>
          <a:off x="51178" y="1032205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2472770" y="87008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63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14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 smtClean="0"/>
              <a:t>BSL  Performance : {MON} &amp; {YTD}</a:t>
            </a:r>
            <a:endParaRPr lang="en-IN" sz="2900" b="1" dirty="0"/>
          </a:p>
        </p:txBody>
      </p:sp>
      <p:graphicFrame>
        <p:nvGraphicFramePr>
          <p:cNvPr id="4" name="tbl_BSL">
            <a:extLst>
              <a:ext uri="{FF2B5EF4-FFF2-40B4-BE49-F238E27FC236}">
                <a16:creationId xmlns="" xmlns:a16="http://schemas.microsoft.com/office/drawing/2014/main" id="{DD0B971B-4CD5-362D-CB42-7326F7C1D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50410"/>
              </p:ext>
            </p:extLst>
          </p:nvPr>
        </p:nvGraphicFramePr>
        <p:xfrm>
          <a:off x="609615" y="971550"/>
          <a:ext cx="7772382" cy="2803711"/>
        </p:xfrm>
        <a:graphic>
          <a:graphicData uri="http://schemas.openxmlformats.org/drawingml/2006/table">
            <a:tbl>
              <a:tblPr/>
              <a:tblGrid>
                <a:gridCol w="1219185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728133"/>
                <a:gridCol w="728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328626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{MON}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{YTD}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637480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{CPLY}</a:t>
                      </a:r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endParaRPr lang="en-IN" sz="1400" b="1" i="0" u="none" strike="noStrike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b"/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CPLY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 Metal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5250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465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411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2756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2539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Crude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4655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447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372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2636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2302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Finished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4200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376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347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2160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2069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Saleable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4240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416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355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2423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2257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763803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bl_BSL_h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305964"/>
              </p:ext>
            </p:extLst>
          </p:nvPr>
        </p:nvGraphicFramePr>
        <p:xfrm>
          <a:off x="143092" y="3867150"/>
          <a:ext cx="861990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398"/>
                <a:gridCol w="7411510"/>
              </a:tblGrid>
              <a:tr h="1021080">
                <a:tc>
                  <a:txBody>
                    <a:bodyPr/>
                    <a:lstStyle/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Highlights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BSL achieved best H1 (Apr-Sep) 2026-27 production for following:-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Hot Metal    2.539 MT (Previous best 2.477 MT in H1 2024-25)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Crude Steel    2.302 MT (Previous best 2.213 MT in H1 2024-25)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Saleable Steel    2.257 MT (Previous best 2.244 MT in H1 2025-26)</a:t>
                      </a:r>
                    </a:p>
                    <a:p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Finished Steel    2.069 MT (Previous best 1.996 MT in H1 2025-26)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18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04492"/>
            <a:ext cx="8001000" cy="409859"/>
          </a:xfrm>
        </p:spPr>
        <p:txBody>
          <a:bodyPr/>
          <a:lstStyle/>
          <a:p>
            <a:r>
              <a:rPr lang="en-US" b="1">
                <a:solidFill>
                  <a:srgbClr val="0000FF"/>
                </a:solidFill>
                <a:latin typeface="Arial Narrow" pitchFamily="34" charset="0"/>
              </a:rPr>
              <a:t>BSL Techno  Performance</a:t>
            </a:r>
            <a:endParaRPr lang="en-IN">
              <a:solidFill>
                <a:srgbClr val="0000FF"/>
              </a:solidFill>
              <a:latin typeface="Arial Narrow" pitchFamily="34" charset="0"/>
            </a:endParaRPr>
          </a:p>
        </p:txBody>
      </p:sp>
      <p:graphicFrame>
        <p:nvGraphicFramePr>
          <p:cNvPr id="8" name="ch_BSL_coke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0942361"/>
              </p:ext>
            </p:extLst>
          </p:nvPr>
        </p:nvGraphicFramePr>
        <p:xfrm>
          <a:off x="3154000" y="973099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_BSL_pci">
            <a:extLst>
              <a:ext uri="{FF2B5EF4-FFF2-40B4-BE49-F238E27FC236}">
                <a16:creationId xmlns:a16="http://schemas.microsoft.com/office/drawing/2014/main" xmlns="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0932780"/>
              </p:ext>
            </p:extLst>
          </p:nvPr>
        </p:nvGraphicFramePr>
        <p:xfrm>
          <a:off x="6092848" y="973099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_BSL_bfprod">
            <a:extLst>
              <a:ext uri="{FF2B5EF4-FFF2-40B4-BE49-F238E27FC236}">
                <a16:creationId xmlns:a16="http://schemas.microsoft.com/office/drawing/2014/main" xmlns="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0386772"/>
              </p:ext>
            </p:extLst>
          </p:nvPr>
        </p:nvGraphicFramePr>
        <p:xfrm>
          <a:off x="23045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_BSL_energy">
            <a:extLst>
              <a:ext uri="{FF2B5EF4-FFF2-40B4-BE49-F238E27FC236}">
                <a16:creationId xmlns:a16="http://schemas.microsoft.com/office/drawing/2014/main" xmlns="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3063461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_BSL_co2">
            <a:extLst>
              <a:ext uri="{FF2B5EF4-FFF2-40B4-BE49-F238E27FC236}">
                <a16:creationId xmlns:a16="http://schemas.microsoft.com/office/drawing/2014/main" xmlns="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372613"/>
              </p:ext>
            </p:extLst>
          </p:nvPr>
        </p:nvGraphicFramePr>
        <p:xfrm>
          <a:off x="6032033" y="3073338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:a16="http://schemas.microsoft.com/office/drawing/2014/main" xmlns="" id="{468FF4CD-BFBE-9162-452F-671EFCEC1EB1}"/>
              </a:ext>
            </a:extLst>
          </p:cNvPr>
          <p:cNvSpPr/>
          <p:nvPr/>
        </p:nvSpPr>
        <p:spPr>
          <a:xfrm>
            <a:off x="5812501" y="10367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xmlns="" id="{4A9AFB77-8853-EFC9-8382-A1A5951D88C5}"/>
              </a:ext>
            </a:extLst>
          </p:cNvPr>
          <p:cNvSpPr/>
          <p:nvPr/>
        </p:nvSpPr>
        <p:spPr>
          <a:xfrm rot="10800000">
            <a:off x="8831406" y="110112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xmlns="" id="{AC3054EC-F129-033A-22D0-534C9B53C940}"/>
              </a:ext>
            </a:extLst>
          </p:cNvPr>
          <p:cNvSpPr/>
          <p:nvPr/>
        </p:nvSpPr>
        <p:spPr>
          <a:xfrm>
            <a:off x="8868460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xmlns="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5674312" y="846305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E34A3E0-3C28-0FB4-B89A-52034D2C1A6A}"/>
              </a:ext>
            </a:extLst>
          </p:cNvPr>
          <p:cNvSpPr txBox="1"/>
          <p:nvPr/>
        </p:nvSpPr>
        <p:spPr>
          <a:xfrm>
            <a:off x="2472770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4589875-2851-8B97-6DBB-523F83EAF1E0}"/>
              </a:ext>
            </a:extLst>
          </p:cNvPr>
          <p:cNvSpPr txBox="1"/>
          <p:nvPr/>
        </p:nvSpPr>
        <p:spPr>
          <a:xfrm>
            <a:off x="8700594" y="973130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3263986C-DB10-ED2F-A1D9-34D088B5642A}"/>
              </a:ext>
            </a:extLst>
          </p:cNvPr>
          <p:cNvSpPr txBox="1"/>
          <p:nvPr/>
        </p:nvSpPr>
        <p:spPr>
          <a:xfrm>
            <a:off x="8738239" y="2947187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:a16="http://schemas.microsoft.com/office/drawing/2014/main" xmlns="" id="{8592BCE0-3F85-1C4F-3398-3B8AA4138CB5}"/>
              </a:ext>
            </a:extLst>
          </p:cNvPr>
          <p:cNvSpPr/>
          <p:nvPr/>
        </p:nvSpPr>
        <p:spPr>
          <a:xfrm>
            <a:off x="5807460" y="31436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7A38F87-C80B-9134-99B2-6309AAADAE31}"/>
              </a:ext>
            </a:extLst>
          </p:cNvPr>
          <p:cNvSpPr txBox="1"/>
          <p:nvPr/>
        </p:nvSpPr>
        <p:spPr>
          <a:xfrm>
            <a:off x="5678121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_BSL_fuel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8023529"/>
              </p:ext>
            </p:extLst>
          </p:nvPr>
        </p:nvGraphicFramePr>
        <p:xfrm>
          <a:off x="51178" y="1032205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2472770" y="87008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62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48D92B-07FC-4988-5A5B-B6330A9C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16">
            <a:extLst>
              <a:ext uri="{FF2B5EF4-FFF2-40B4-BE49-F238E27FC236}">
                <a16:creationId xmlns="" xmlns:a16="http://schemas.microsoft.com/office/drawing/2014/main" id="{3EC10F83-FDC9-5A83-A540-EAD34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6" y="122772"/>
            <a:ext cx="8641994" cy="64104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900" b="1" smtClean="0"/>
              <a:t>ISP  Performance : {MON} &amp; {YTD}</a:t>
            </a:r>
            <a:endParaRPr lang="en-IN" sz="2900" b="1" dirty="0"/>
          </a:p>
        </p:txBody>
      </p:sp>
      <p:graphicFrame>
        <p:nvGraphicFramePr>
          <p:cNvPr id="4" name="tbl_ISP">
            <a:extLst>
              <a:ext uri="{FF2B5EF4-FFF2-40B4-BE49-F238E27FC236}">
                <a16:creationId xmlns="" xmlns:a16="http://schemas.microsoft.com/office/drawing/2014/main" id="{DD0B971B-4CD5-362D-CB42-7326F7C1D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489870"/>
              </p:ext>
            </p:extLst>
          </p:nvPr>
        </p:nvGraphicFramePr>
        <p:xfrm>
          <a:off x="609615" y="1047750"/>
          <a:ext cx="7772382" cy="2803711"/>
        </p:xfrm>
        <a:graphic>
          <a:graphicData uri="http://schemas.openxmlformats.org/drawingml/2006/table">
            <a:tbl>
              <a:tblPr/>
              <a:tblGrid>
                <a:gridCol w="1219185">
                  <a:extLst>
                    <a:ext uri="{9D8B030D-6E8A-4147-A177-3AD203B41FA5}">
                      <a16:colId xmlns="" xmlns:a16="http://schemas.microsoft.com/office/drawing/2014/main" val="4288738879"/>
                    </a:ext>
                  </a:extLst>
                </a:gridCol>
                <a:gridCol w="728133"/>
                <a:gridCol w="728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286957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996843912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51647130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2503944818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1867899963"/>
                    </a:ext>
                  </a:extLst>
                </a:gridCol>
                <a:gridCol w="728133">
                  <a:extLst>
                    <a:ext uri="{9D8B030D-6E8A-4147-A177-3AD203B41FA5}">
                      <a16:colId xmlns="" xmlns:a16="http://schemas.microsoft.com/office/drawing/2014/main" val="3310997936"/>
                    </a:ext>
                  </a:extLst>
                </a:gridCol>
              </a:tblGrid>
              <a:tr h="328626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Annual</a:t>
                      </a:r>
                    </a:p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Cap.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{MON}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{YTD}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8382065"/>
                  </a:ext>
                </a:extLst>
              </a:tr>
              <a:tr h="637480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Plant</a:t>
                      </a:r>
                    </a:p>
                  </a:txBody>
                  <a:tcPr marL="7144" marR="7144" marT="71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{CPLY}</a:t>
                      </a:r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Growth Over </a:t>
                      </a:r>
                      <a:endParaRPr lang="en-IN" sz="1400" b="1" i="0" u="none" strike="noStrike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b"/>
                      <a:r>
                        <a:rPr lang="en-IN" sz="14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CPLY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 CU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1100223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 Metal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2700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256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237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1432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1366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94411360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Crude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2500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241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223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1341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1281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06309745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Finished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2300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170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1144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946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82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9164433"/>
                  </a:ext>
                </a:extLst>
              </a:tr>
              <a:tr h="4030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Saleable</a:t>
                      </a:r>
                      <a:r>
                        <a:rPr lang="en-IN" sz="14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Steel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sz="1400" b="0"/>
                        <a:t>2390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232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221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113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1290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1229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-8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400" b="0"/>
                        <a:t>103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66792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CDE18-4F74-9429-DEDF-ED2A022D91CF}"/>
              </a:ext>
            </a:extLst>
          </p:cNvPr>
          <p:cNvSpPr txBox="1"/>
          <p:nvPr/>
        </p:nvSpPr>
        <p:spPr>
          <a:xfrm>
            <a:off x="7864449" y="763803"/>
            <a:ext cx="1279551" cy="207747"/>
          </a:xfrm>
          <a:prstGeom prst="rect">
            <a:avLst/>
          </a:prstGeom>
          <a:noFill/>
        </p:spPr>
        <p:txBody>
          <a:bodyPr wrap="none" lIns="68400" tIns="34286" rIns="68400" bIns="34286" rtlCol="0">
            <a:spAutoFit/>
          </a:bodyPr>
          <a:lstStyle/>
          <a:p>
            <a:pPr defTabSz="683777">
              <a:defRPr/>
            </a:pPr>
            <a:r>
              <a:rPr lang="en-US" sz="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in ‘000 Tones </a:t>
            </a:r>
            <a:endParaRPr lang="en-IN" sz="9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File:SAIL Logo.svg - Wikimedia Commons">
            <a:extLst>
              <a:ext uri="{FF2B5EF4-FFF2-40B4-BE49-F238E27FC236}">
                <a16:creationId xmlns="" xmlns:a16="http://schemas.microsoft.com/office/drawing/2014/main" id="{CB280158-81C3-0958-33BB-2F88DAAD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bl_ISP_h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40741"/>
              </p:ext>
            </p:extLst>
          </p:nvPr>
        </p:nvGraphicFramePr>
        <p:xfrm>
          <a:off x="143092" y="3911461"/>
          <a:ext cx="8619908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398"/>
                <a:gridCol w="7411510"/>
              </a:tblGrid>
              <a:tr h="1021080">
                <a:tc>
                  <a:txBody>
                    <a:bodyPr/>
                    <a:lstStyle/>
                    <a:p>
                      <a:pPr marL="0" marR="0" indent="0" algn="l" defTabSz="9143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smtClean="0">
                          <a:solidFill>
                            <a:sysClr val="windowText" lastClr="000000"/>
                          </a:solidFill>
                        </a:rPr>
                        <a:t>Highlights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kern="120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91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04492"/>
            <a:ext cx="8001000" cy="409859"/>
          </a:xfrm>
        </p:spPr>
        <p:txBody>
          <a:bodyPr/>
          <a:lstStyle/>
          <a:p>
            <a:r>
              <a:rPr lang="en-US" b="1">
                <a:solidFill>
                  <a:srgbClr val="0000FF"/>
                </a:solidFill>
                <a:latin typeface="Arial Narrow" pitchFamily="34" charset="0"/>
              </a:rPr>
              <a:t>ISP Techno  Performance</a:t>
            </a:r>
            <a:endParaRPr lang="en-IN">
              <a:solidFill>
                <a:srgbClr val="0000FF"/>
              </a:solidFill>
              <a:latin typeface="Arial Narrow" pitchFamily="34" charset="0"/>
            </a:endParaRPr>
          </a:p>
        </p:txBody>
      </p:sp>
      <p:graphicFrame>
        <p:nvGraphicFramePr>
          <p:cNvPr id="8" name="ch_ISP_coke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5271872"/>
              </p:ext>
            </p:extLst>
          </p:nvPr>
        </p:nvGraphicFramePr>
        <p:xfrm>
          <a:off x="3154000" y="973099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_ISP_pci">
            <a:extLst>
              <a:ext uri="{FF2B5EF4-FFF2-40B4-BE49-F238E27FC236}">
                <a16:creationId xmlns:a16="http://schemas.microsoft.com/office/drawing/2014/main" xmlns="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1667139"/>
              </p:ext>
            </p:extLst>
          </p:nvPr>
        </p:nvGraphicFramePr>
        <p:xfrm>
          <a:off x="6092848" y="973099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_ISP_bfprod">
            <a:extLst>
              <a:ext uri="{FF2B5EF4-FFF2-40B4-BE49-F238E27FC236}">
                <a16:creationId xmlns:a16="http://schemas.microsoft.com/office/drawing/2014/main" xmlns="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2248847"/>
              </p:ext>
            </p:extLst>
          </p:nvPr>
        </p:nvGraphicFramePr>
        <p:xfrm>
          <a:off x="23045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_ISP_energy">
            <a:extLst>
              <a:ext uri="{FF2B5EF4-FFF2-40B4-BE49-F238E27FC236}">
                <a16:creationId xmlns:a16="http://schemas.microsoft.com/office/drawing/2014/main" xmlns="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1656077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_ISP_co2">
            <a:extLst>
              <a:ext uri="{FF2B5EF4-FFF2-40B4-BE49-F238E27FC236}">
                <a16:creationId xmlns:a16="http://schemas.microsoft.com/office/drawing/2014/main" xmlns="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2584583"/>
              </p:ext>
            </p:extLst>
          </p:nvPr>
        </p:nvGraphicFramePr>
        <p:xfrm>
          <a:off x="6032033" y="3073338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:a16="http://schemas.microsoft.com/office/drawing/2014/main" xmlns="" id="{468FF4CD-BFBE-9162-452F-671EFCEC1EB1}"/>
              </a:ext>
            </a:extLst>
          </p:cNvPr>
          <p:cNvSpPr/>
          <p:nvPr/>
        </p:nvSpPr>
        <p:spPr>
          <a:xfrm>
            <a:off x="5812501" y="10367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xmlns="" id="{4A9AFB77-8853-EFC9-8382-A1A5951D88C5}"/>
              </a:ext>
            </a:extLst>
          </p:cNvPr>
          <p:cNvSpPr/>
          <p:nvPr/>
        </p:nvSpPr>
        <p:spPr>
          <a:xfrm rot="10800000">
            <a:off x="8831406" y="110112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xmlns="" id="{AC3054EC-F129-033A-22D0-534C9B53C940}"/>
              </a:ext>
            </a:extLst>
          </p:cNvPr>
          <p:cNvSpPr/>
          <p:nvPr/>
        </p:nvSpPr>
        <p:spPr>
          <a:xfrm>
            <a:off x="8868460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xmlns="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5674312" y="846305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E34A3E0-3C28-0FB4-B89A-52034D2C1A6A}"/>
              </a:ext>
            </a:extLst>
          </p:cNvPr>
          <p:cNvSpPr txBox="1"/>
          <p:nvPr/>
        </p:nvSpPr>
        <p:spPr>
          <a:xfrm>
            <a:off x="2472770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4589875-2851-8B97-6DBB-523F83EAF1E0}"/>
              </a:ext>
            </a:extLst>
          </p:cNvPr>
          <p:cNvSpPr txBox="1"/>
          <p:nvPr/>
        </p:nvSpPr>
        <p:spPr>
          <a:xfrm>
            <a:off x="8700594" y="973130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3263986C-DB10-ED2F-A1D9-34D088B5642A}"/>
              </a:ext>
            </a:extLst>
          </p:cNvPr>
          <p:cNvSpPr txBox="1"/>
          <p:nvPr/>
        </p:nvSpPr>
        <p:spPr>
          <a:xfrm>
            <a:off x="8738239" y="2947187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:a16="http://schemas.microsoft.com/office/drawing/2014/main" xmlns="" id="{8592BCE0-3F85-1C4F-3398-3B8AA4138CB5}"/>
              </a:ext>
            </a:extLst>
          </p:cNvPr>
          <p:cNvSpPr/>
          <p:nvPr/>
        </p:nvSpPr>
        <p:spPr>
          <a:xfrm>
            <a:off x="5807460" y="3143647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7A38F87-C80B-9134-99B2-6309AAADAE31}"/>
              </a:ext>
            </a:extLst>
          </p:cNvPr>
          <p:cNvSpPr txBox="1"/>
          <p:nvPr/>
        </p:nvSpPr>
        <p:spPr>
          <a:xfrm>
            <a:off x="5678121" y="297715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ch_ISP_fuel">
            <a:extLst>
              <a:ext uri="{FF2B5EF4-FFF2-40B4-BE49-F238E27FC236}">
                <a16:creationId xmlns:a16="http://schemas.microsoft.com/office/drawing/2014/main" xmlns="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0702921"/>
              </p:ext>
            </p:extLst>
          </p:nvPr>
        </p:nvGraphicFramePr>
        <p:xfrm>
          <a:off x="51178" y="1032205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8AD347C-A29F-A7DD-2EA6-CEC814030989}"/>
              </a:ext>
            </a:extLst>
          </p:cNvPr>
          <p:cNvSpPr txBox="1"/>
          <p:nvPr/>
        </p:nvSpPr>
        <p:spPr>
          <a:xfrm>
            <a:off x="2472770" y="870088"/>
            <a:ext cx="405751" cy="192352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637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 descr="Thank You Message For Card Presentation Business Expressing Gratitude  Acknowledgment And Appreciation Minimalist Abstract Design With White Cut  Out Paper On Blue Background Stock Photo - Download Image Now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3"/>
            <a:ext cx="9144000" cy="513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File:SAIL Logo.svg - Wikimedia Comm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357" y="3924955"/>
            <a:ext cx="1043429" cy="109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53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BE33-A8E2-4658-A9F5-C218009337E2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3" name="tbl_cr_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144013"/>
              </p:ext>
            </p:extLst>
          </p:nvPr>
        </p:nvGraphicFramePr>
        <p:xfrm>
          <a:off x="1415005" y="750384"/>
          <a:ext cx="7500395" cy="42336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9595"/>
                <a:gridCol w="2819400"/>
                <a:gridCol w="3581400"/>
              </a:tblGrid>
              <a:tr h="230067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Plant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1" u="none" strike="noStrike" smtClean="0">
                          <a:solidFill>
                            <a:srgbClr val="C00000"/>
                          </a:solidFill>
                          <a:effectLst/>
                        </a:rPr>
                        <a:t>{YTD}</a:t>
                      </a:r>
                      <a:endParaRPr lang="en-IN" sz="1400" b="1" u="none" strike="noStrike" smtClean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algn="ctr" rtl="0" fontAlgn="t"/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1" u="none" strike="noStrike" smtClean="0">
                          <a:solidFill>
                            <a:srgbClr val="C00000"/>
                          </a:solidFill>
                          <a:effectLst/>
                        </a:rPr>
                        <a:t>{YTD_PREV}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603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BSP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8000" lvl="1" algn="just" rtl="0" fontAlgn="t"/>
                      <a:r>
                        <a:rPr lang="en-US" sz="1200" u="none" strike="noStrike" dirty="0">
                          <a:effectLst/>
                        </a:rPr>
                        <a:t>SMS2 Conv </a:t>
                      </a:r>
                      <a:r>
                        <a:rPr lang="en-US" sz="1200" u="none" strike="noStrike">
                          <a:effectLst/>
                        </a:rPr>
                        <a:t>A </a:t>
                      </a:r>
                      <a:r>
                        <a:rPr lang="en-US" sz="1200" u="none" strike="noStrike" smtClean="0">
                          <a:effectLst/>
                        </a:rPr>
                        <a:t>(62 days in Jun-Aug’26)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468000" lvl="1" algn="just" rtl="0" fontAlgn="ctr"/>
                      <a:r>
                        <a:rPr lang="en-US" sz="1200" u="none" strike="noStrike" dirty="0">
                          <a:effectLst/>
                        </a:rPr>
                        <a:t>SMS2 Conv B (14 days in June'26)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468000" lvl="1" algn="just" rtl="0" fontAlgn="ctr"/>
                      <a:r>
                        <a:rPr lang="en-IN" sz="1200" u="none" strike="noStrike" dirty="0">
                          <a:effectLst/>
                        </a:rPr>
                        <a:t>SMS-2 </a:t>
                      </a:r>
                      <a:r>
                        <a:rPr lang="en-IN" sz="1200" u="none" strike="noStrike" dirty="0" err="1">
                          <a:effectLst/>
                        </a:rPr>
                        <a:t>Conv.C</a:t>
                      </a:r>
                      <a:r>
                        <a:rPr lang="en-IN" sz="1200" u="none" strike="noStrike" dirty="0">
                          <a:effectLst/>
                        </a:rPr>
                        <a:t> (</a:t>
                      </a:r>
                      <a:r>
                        <a:rPr lang="en-IN" sz="1200" u="none" strike="noStrike">
                          <a:effectLst/>
                        </a:rPr>
                        <a:t>11 </a:t>
                      </a:r>
                      <a:r>
                        <a:rPr lang="en-IN" sz="1200" u="none" strike="noStrike" smtClean="0">
                          <a:effectLst/>
                        </a:rPr>
                        <a:t>days in Apr’26) </a:t>
                      </a:r>
                    </a:p>
                    <a:p>
                      <a:pPr marL="468000" marR="0" lvl="1" indent="0" algn="just" defTabSz="9143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u="none" strike="noStrike" smtClean="0">
                          <a:effectLst/>
                        </a:rPr>
                        <a:t>SMS-3 Conv.2 (12 days in Aug’26)</a:t>
                      </a:r>
                    </a:p>
                    <a:p>
                      <a:pPr marL="468000" lvl="1" algn="just" rtl="0" fontAlgn="t"/>
                      <a:r>
                        <a:rPr lang="en-IN" sz="1200" u="none" strike="noStrike" smtClean="0">
                          <a:effectLst/>
                        </a:rPr>
                        <a:t>SMS-3 </a:t>
                      </a:r>
                      <a:r>
                        <a:rPr lang="en-IN" sz="1200" u="none" strike="noStrike" dirty="0">
                          <a:effectLst/>
                        </a:rPr>
                        <a:t>Conv.3 (</a:t>
                      </a:r>
                      <a:r>
                        <a:rPr lang="en-IN" sz="1200" u="none" strike="noStrike">
                          <a:effectLst/>
                        </a:rPr>
                        <a:t>11 </a:t>
                      </a:r>
                      <a:r>
                        <a:rPr lang="en-IN" sz="1200" u="none" strike="noStrike" smtClean="0">
                          <a:effectLst/>
                        </a:rPr>
                        <a:t>days in </a:t>
                      </a:r>
                      <a:r>
                        <a:rPr lang="en-IN" sz="1200" u="none" strike="noStrike" smtClean="0">
                          <a:effectLst/>
                        </a:rPr>
                        <a:t> Apr’26)</a:t>
                      </a:r>
                    </a:p>
                    <a:p>
                      <a:pPr marL="468000" marR="0" lvl="1" indent="0" algn="just" defTabSz="914331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SMS-3 CK-1 ( 8 days in Apr’26)</a:t>
                      </a:r>
                    </a:p>
                    <a:p>
                      <a:pPr marL="468000" marR="0" lvl="1" indent="0" algn="just" defTabSz="914331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SMS-3 CK-2 ( 7 days in Aug’26)</a:t>
                      </a:r>
                    </a:p>
                    <a:p>
                      <a:pPr marL="468000" marR="0" lvl="1" indent="0" algn="just" defTabSz="914331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SMS-3 CV-1 ( 8 days in {MON})</a:t>
                      </a:r>
                    </a:p>
                    <a:p>
                      <a:pPr marL="468000" marR="0" lvl="1" indent="0" algn="just" defTabSz="914331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RSM (19.9.26-cont.)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468000" lvl="1" algn="just" rtl="0" fontAlgn="t"/>
                      <a:r>
                        <a:rPr lang="en-IN" sz="1200" u="none" strike="noStrike" dirty="0">
                          <a:effectLst/>
                        </a:rPr>
                        <a:t>URM (</a:t>
                      </a:r>
                      <a:r>
                        <a:rPr lang="en-IN" sz="1200" u="none" strike="noStrike">
                          <a:effectLst/>
                        </a:rPr>
                        <a:t>7 </a:t>
                      </a:r>
                      <a:r>
                        <a:rPr lang="en-IN" sz="1200" u="none" strike="noStrike" smtClean="0">
                          <a:effectLst/>
                        </a:rPr>
                        <a:t>days in May’26)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468000" lvl="1" algn="just" rtl="0" fontAlgn="t"/>
                      <a:r>
                        <a:rPr lang="en-IN" sz="1200" u="none" strike="noStrike" dirty="0">
                          <a:effectLst/>
                        </a:rPr>
                        <a:t>WRM (</a:t>
                      </a:r>
                      <a:r>
                        <a:rPr lang="en-IN" sz="1200" u="none" strike="noStrike">
                          <a:effectLst/>
                        </a:rPr>
                        <a:t>13 </a:t>
                      </a:r>
                      <a:r>
                        <a:rPr lang="en-IN" sz="1200" u="none" strike="noStrike" smtClean="0">
                          <a:effectLst/>
                        </a:rPr>
                        <a:t>days in Apr’26)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468000" lvl="1" algn="just" rtl="0" fontAlgn="t"/>
                      <a:r>
                        <a:rPr lang="en-IN" sz="1200" u="none" strike="noStrike" smtClean="0">
                          <a:effectLst/>
                        </a:rPr>
                        <a:t>P Mill </a:t>
                      </a:r>
                      <a:r>
                        <a:rPr lang="en-IN" sz="1200" u="none" strike="noStrike" dirty="0">
                          <a:effectLst/>
                        </a:rPr>
                        <a:t>(</a:t>
                      </a:r>
                      <a:r>
                        <a:rPr lang="en-IN" sz="1200" u="none" strike="noStrike">
                          <a:effectLst/>
                        </a:rPr>
                        <a:t>6 </a:t>
                      </a:r>
                      <a:r>
                        <a:rPr lang="en-IN" sz="1200" u="none" strike="noStrike" smtClean="0">
                          <a:effectLst/>
                        </a:rPr>
                        <a:t>days in Jun’26)</a:t>
                      </a:r>
                    </a:p>
                    <a:p>
                      <a:pPr marL="468000" lvl="1" algn="just" rtl="0" fontAlgn="t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 Mill (7 days in Jul’26)</a:t>
                      </a:r>
                    </a:p>
                    <a:p>
                      <a:pPr marL="468000" lvl="1" algn="just" rtl="0" fontAlgn="t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BRM (8</a:t>
                      </a:r>
                      <a:r>
                        <a:rPr lang="en-IN" sz="12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days in  Aug’26)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BF-8 (3 days in Jul’25)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SMS-2 </a:t>
                      </a:r>
                      <a:r>
                        <a:rPr lang="en-IN" sz="1200" u="none" strike="noStrike" dirty="0" err="1">
                          <a:effectLst/>
                        </a:rPr>
                        <a:t>Conv.C</a:t>
                      </a:r>
                      <a:r>
                        <a:rPr lang="en-IN" sz="1200" u="none" strike="noStrike" dirty="0">
                          <a:effectLst/>
                        </a:rPr>
                        <a:t> (</a:t>
                      </a:r>
                      <a:r>
                        <a:rPr lang="en-IN" sz="1200" u="none" strike="noStrike">
                          <a:effectLst/>
                        </a:rPr>
                        <a:t>18 </a:t>
                      </a:r>
                      <a:r>
                        <a:rPr lang="en-IN" sz="1200" u="none" strike="noStrike" smtClean="0">
                          <a:effectLst/>
                        </a:rPr>
                        <a:t>days in Apr-May’25 </a:t>
                      </a:r>
                      <a:r>
                        <a:rPr lang="en-IN" sz="1200" u="none" strike="noStrike" dirty="0">
                          <a:effectLst/>
                        </a:rPr>
                        <a:t>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SMS-3 Conv.1 (</a:t>
                      </a:r>
                      <a:r>
                        <a:rPr lang="en-IN" sz="1200" u="none" strike="noStrike">
                          <a:effectLst/>
                        </a:rPr>
                        <a:t>12 </a:t>
                      </a:r>
                      <a:r>
                        <a:rPr lang="en-IN" sz="1200" u="none" strike="noStrike" smtClean="0">
                          <a:effectLst/>
                        </a:rPr>
                        <a:t>days in Apr’25)</a:t>
                      </a:r>
                    </a:p>
                    <a:p>
                      <a:pPr lvl="1" algn="just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SMS-3 Conv 2 (13 days in Jul’25)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r>
                        <a:rPr lang="en-US" sz="1200" u="none" strike="noStrike" smtClean="0">
                          <a:effectLst/>
                        </a:rPr>
                        <a:t>RSM </a:t>
                      </a:r>
                      <a:r>
                        <a:rPr lang="en-US" sz="1200" u="none" strike="noStrike" dirty="0">
                          <a:effectLst/>
                        </a:rPr>
                        <a:t>(2 days in May’25 + 8 days in Jun’25)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URM  (7 days in Jul’25)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P Mill </a:t>
                      </a:r>
                      <a:r>
                        <a:rPr lang="en-IN" sz="1200" u="none" strike="noStrike" dirty="0">
                          <a:effectLst/>
                        </a:rPr>
                        <a:t>(</a:t>
                      </a:r>
                      <a:r>
                        <a:rPr lang="en-IN" sz="1200" u="none" strike="noStrike">
                          <a:effectLst/>
                        </a:rPr>
                        <a:t>13 </a:t>
                      </a:r>
                      <a:r>
                        <a:rPr lang="en-IN" sz="1200" u="none" strike="noStrike" smtClean="0">
                          <a:effectLst/>
                        </a:rPr>
                        <a:t>days in Apr-May’25)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3591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DSP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just" rtl="0" fontAlgn="t"/>
                      <a:r>
                        <a:rPr lang="en-IN" sz="1200" u="none" strike="noStrike" dirty="0">
                          <a:effectLst/>
                        </a:rPr>
                        <a:t>BF-2 (</a:t>
                      </a:r>
                      <a:r>
                        <a:rPr lang="en-IN" sz="1200" u="none" strike="noStrike">
                          <a:effectLst/>
                        </a:rPr>
                        <a:t>60 </a:t>
                      </a:r>
                      <a:r>
                        <a:rPr lang="en-IN" sz="1200" u="none" strike="noStrike" smtClean="0">
                          <a:effectLst/>
                        </a:rPr>
                        <a:t>days in Apr-Jun’26)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t"/>
                      <a:r>
                        <a:rPr lang="en-IN" sz="1200" u="none" strike="noStrike" dirty="0">
                          <a:effectLst/>
                        </a:rPr>
                        <a:t>SMS Conv.2 (</a:t>
                      </a:r>
                      <a:r>
                        <a:rPr lang="en-IN" sz="1200" u="none" strike="noStrike">
                          <a:effectLst/>
                        </a:rPr>
                        <a:t>23 </a:t>
                      </a:r>
                      <a:r>
                        <a:rPr lang="en-IN" sz="1200" u="none" strike="noStrike" smtClean="0">
                          <a:effectLst/>
                        </a:rPr>
                        <a:t>days  in Apr-May’26)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SMS Conv. 3 (</a:t>
                      </a:r>
                      <a:r>
                        <a:rPr lang="en-US" sz="1200" u="none" strike="noStrike">
                          <a:effectLst/>
                        </a:rPr>
                        <a:t>11 </a:t>
                      </a:r>
                      <a:r>
                        <a:rPr lang="en-US" sz="1200" u="none" strike="noStrike" smtClean="0">
                          <a:effectLst/>
                        </a:rPr>
                        <a:t>days in Jun’26)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t"/>
                      <a:r>
                        <a:rPr lang="en-IN" sz="1200" u="none" strike="noStrike" dirty="0">
                          <a:effectLst/>
                        </a:rPr>
                        <a:t>BRC (</a:t>
                      </a:r>
                      <a:r>
                        <a:rPr lang="en-IN" sz="1200" u="none" strike="noStrike">
                          <a:effectLst/>
                        </a:rPr>
                        <a:t>9 </a:t>
                      </a:r>
                      <a:r>
                        <a:rPr lang="en-IN" sz="1200" u="none" strike="noStrike" smtClean="0">
                          <a:effectLst/>
                        </a:rPr>
                        <a:t>days.in Apr-May’26)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t"/>
                      <a:r>
                        <a:rPr lang="en-IN" sz="1200" u="none" strike="noStrike" dirty="0">
                          <a:effectLst/>
                        </a:rPr>
                        <a:t>MM  ( </a:t>
                      </a:r>
                      <a:r>
                        <a:rPr lang="en-IN" sz="1200" u="none" strike="noStrike">
                          <a:effectLst/>
                        </a:rPr>
                        <a:t>13 </a:t>
                      </a:r>
                      <a:r>
                        <a:rPr lang="en-IN" sz="1200" u="none" strike="noStrike" smtClean="0">
                          <a:effectLst/>
                        </a:rPr>
                        <a:t>days in Apr-May’26)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t"/>
                      <a:r>
                        <a:rPr lang="en-IN" sz="1200" u="none" strike="noStrike" dirty="0">
                          <a:effectLst/>
                        </a:rPr>
                        <a:t>MSM (</a:t>
                      </a:r>
                      <a:r>
                        <a:rPr lang="en-IN" sz="1200" u="none" strike="noStrike">
                          <a:effectLst/>
                        </a:rPr>
                        <a:t>8 </a:t>
                      </a:r>
                      <a:r>
                        <a:rPr lang="en-IN" sz="1200" u="none" strike="noStrike" smtClean="0">
                          <a:effectLst/>
                        </a:rPr>
                        <a:t>days in Apr’26)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BF-4  (2 days in May’25 + 12 days in Jun’25)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SMS Conv. - 3 (</a:t>
                      </a:r>
                      <a:r>
                        <a:rPr lang="en-US" sz="1200" u="none" strike="noStrike">
                          <a:effectLst/>
                        </a:rPr>
                        <a:t>17 </a:t>
                      </a:r>
                      <a:r>
                        <a:rPr lang="en-US" sz="1200" u="none" strike="noStrike" smtClean="0">
                          <a:effectLst/>
                        </a:rPr>
                        <a:t>days in May’25)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l" fontAlgn="b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1" i="0" u="none" strike="noStrike" dirty="0">
                        <a:effectLst/>
                        <a:latin typeface="Times New Roman"/>
                      </a:endParaRPr>
                    </a:p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MM (</a:t>
                      </a:r>
                      <a:r>
                        <a:rPr lang="en-IN" sz="1200" u="none" strike="noStrike">
                          <a:effectLst/>
                        </a:rPr>
                        <a:t>9 </a:t>
                      </a:r>
                      <a:r>
                        <a:rPr lang="en-IN" sz="1200" u="none" strike="noStrike" smtClean="0">
                          <a:effectLst/>
                        </a:rPr>
                        <a:t>days in Apr’25)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WAP (</a:t>
                      </a:r>
                      <a:r>
                        <a:rPr lang="en-IN" sz="1200" u="none" strike="noStrike">
                          <a:effectLst/>
                        </a:rPr>
                        <a:t>11 </a:t>
                      </a:r>
                      <a:r>
                        <a:rPr lang="en-IN" sz="1200" u="none" strike="noStrike" smtClean="0">
                          <a:effectLst/>
                        </a:rPr>
                        <a:t>days in May’25)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40755" y="411511"/>
            <a:ext cx="1415005" cy="42501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/>
              <a:t>Major </a:t>
            </a:r>
            <a:r>
              <a:rPr lang="en-US" sz="3000" b="1"/>
              <a:t>Capital </a:t>
            </a:r>
            <a:r>
              <a:rPr lang="en-US" sz="3000" b="1" smtClean="0"/>
              <a:t>Repairs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272880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BE33-A8E2-4658-A9F5-C218009337E2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3" name="tbl_cr_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372321"/>
              </p:ext>
            </p:extLst>
          </p:nvPr>
        </p:nvGraphicFramePr>
        <p:xfrm>
          <a:off x="1415005" y="796905"/>
          <a:ext cx="7500395" cy="366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9595"/>
                <a:gridCol w="2819400"/>
                <a:gridCol w="3581400"/>
              </a:tblGrid>
              <a:tr h="432000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Plant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1" u="none" strike="noStrike" smtClean="0">
                          <a:solidFill>
                            <a:srgbClr val="C00000"/>
                          </a:solidFill>
                          <a:effectLst/>
                        </a:rPr>
                        <a:t>{YTD}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1" u="none" strike="noStrike" smtClean="0">
                          <a:solidFill>
                            <a:srgbClr val="C00000"/>
                          </a:solidFill>
                          <a:effectLst/>
                        </a:rPr>
                        <a:t>{YTD_PREV}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1960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RSP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just" rtl="0" fontAlgn="ctr"/>
                      <a:r>
                        <a:rPr lang="en-IN" sz="1200" u="none" strike="noStrike">
                          <a:effectLst/>
                        </a:rPr>
                        <a:t>SMS-1 </a:t>
                      </a:r>
                      <a:r>
                        <a:rPr lang="en-IN" sz="1200" u="none" strike="noStrike" smtClean="0">
                          <a:effectLst/>
                        </a:rPr>
                        <a:t>LD-P (10 days in Jun-Jul’26)</a:t>
                      </a:r>
                    </a:p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SMS-1 LD-Q (6 days in Apr’26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SMS-2  </a:t>
                      </a:r>
                      <a:r>
                        <a:rPr lang="en-US" sz="1200" u="none" strike="noStrike" dirty="0" err="1">
                          <a:effectLst/>
                        </a:rPr>
                        <a:t>Conv.B</a:t>
                      </a:r>
                      <a:r>
                        <a:rPr lang="en-US" sz="1200" u="none" strike="noStrike" dirty="0">
                          <a:effectLst/>
                        </a:rPr>
                        <a:t> (17 days in May'26)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SMS-2  Caster-1 (7 days in June'26)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NPM (11 days in Jul’26)</a:t>
                      </a:r>
                    </a:p>
                    <a:p>
                      <a:pPr lvl="1" algn="just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HSM-2 (10 days in May’26)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BF-5 (5 days in Jul’25)</a:t>
                      </a:r>
                    </a:p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SMS-1 </a:t>
                      </a:r>
                      <a:r>
                        <a:rPr lang="en-IN" sz="1200" u="none" strike="noStrike" dirty="0">
                          <a:effectLst/>
                        </a:rPr>
                        <a:t>LD-Q (</a:t>
                      </a:r>
                      <a:r>
                        <a:rPr lang="en-IN" sz="1200" u="none" strike="noStrike">
                          <a:effectLst/>
                        </a:rPr>
                        <a:t>14 </a:t>
                      </a:r>
                      <a:r>
                        <a:rPr lang="en-IN" sz="1200" u="none" strike="noStrike" smtClean="0">
                          <a:effectLst/>
                        </a:rPr>
                        <a:t>days in Jun’25)   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SMS-2 Conv A (7 days in Jul’25)</a:t>
                      </a:r>
                    </a:p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SMS-2  </a:t>
                      </a:r>
                      <a:r>
                        <a:rPr lang="en-IN" sz="1200" u="none" strike="noStrike" dirty="0" err="1">
                          <a:effectLst/>
                        </a:rPr>
                        <a:t>Conv.B</a:t>
                      </a:r>
                      <a:r>
                        <a:rPr lang="en-IN" sz="1200" u="none" strike="noStrike" dirty="0">
                          <a:effectLst/>
                        </a:rPr>
                        <a:t> (</a:t>
                      </a:r>
                      <a:r>
                        <a:rPr lang="en-IN" sz="1200" u="none" strike="noStrike">
                          <a:effectLst/>
                        </a:rPr>
                        <a:t>14 </a:t>
                      </a:r>
                      <a:r>
                        <a:rPr lang="en-IN" sz="1200" u="none" strike="noStrike" smtClean="0">
                          <a:effectLst/>
                        </a:rPr>
                        <a:t>days in May’25)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SMS-2  Caster-2 (7 days)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HSM-2</a:t>
                      </a:r>
                      <a:r>
                        <a:rPr lang="en-IN" sz="1200" u="none" strike="noStrike">
                          <a:effectLst/>
                        </a:rPr>
                        <a:t>: </a:t>
                      </a:r>
                      <a:r>
                        <a:rPr lang="en-IN" sz="1200" u="none" strike="noStrike" smtClean="0">
                          <a:effectLst/>
                        </a:rPr>
                        <a:t>6 days in Jul’25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60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BSL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just" rtl="0" fontAlgn="ctr"/>
                      <a:r>
                        <a:rPr lang="en-IN" sz="1200" u="none" strike="noStrike" smtClean="0">
                          <a:effectLst/>
                        </a:rPr>
                        <a:t>BF-1 (4 days in Aug’26)</a:t>
                      </a:r>
                    </a:p>
                    <a:p>
                      <a:pPr lvl="1" algn="just" rtl="0" fontAlgn="ctr"/>
                      <a:r>
                        <a:rPr lang="en-IN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BF-4</a:t>
                      </a:r>
                      <a:r>
                        <a:rPr lang="en-IN" sz="12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(8 days in Jul’26)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SMS-1 Conv. D (</a:t>
                      </a:r>
                      <a:r>
                        <a:rPr lang="en-US" sz="1200" u="none" strike="noStrike">
                          <a:effectLst/>
                        </a:rPr>
                        <a:t>25 </a:t>
                      </a:r>
                      <a:r>
                        <a:rPr lang="en-US" sz="1200" u="none" strike="noStrike" smtClean="0">
                          <a:effectLst/>
                        </a:rPr>
                        <a:t>days in May’26) </a:t>
                      </a:r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SMS-2  </a:t>
                      </a:r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Conv2 (13 days in Jul’26)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r>
                        <a:rPr lang="en-IN" sz="1200" u="none" strike="noStrike" smtClean="0">
                          <a:effectLst/>
                        </a:rPr>
                        <a:t>HSM (8 days in May’26)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BF-1 (</a:t>
                      </a:r>
                      <a:r>
                        <a:rPr lang="en-IN" sz="1200" u="none" strike="noStrike">
                          <a:effectLst/>
                        </a:rPr>
                        <a:t>11 </a:t>
                      </a:r>
                      <a:r>
                        <a:rPr lang="en-IN" sz="1200" u="none" strike="noStrike" smtClean="0">
                          <a:effectLst/>
                        </a:rPr>
                        <a:t>days in Apr’25)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IN" sz="1200" u="none" strike="noStrike" dirty="0">
                          <a:effectLst/>
                        </a:rPr>
                        <a:t>BF-4 (</a:t>
                      </a:r>
                      <a:r>
                        <a:rPr lang="en-IN" sz="1200" u="none" strike="noStrike">
                          <a:effectLst/>
                        </a:rPr>
                        <a:t>4 </a:t>
                      </a:r>
                      <a:r>
                        <a:rPr lang="en-IN" sz="1200" u="none" strike="noStrike" smtClean="0">
                          <a:effectLst/>
                        </a:rPr>
                        <a:t>days in Jun’25)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SMS-1 Conv. D (</a:t>
                      </a:r>
                      <a:r>
                        <a:rPr lang="en-US" sz="1200" u="none" strike="noStrike">
                          <a:effectLst/>
                        </a:rPr>
                        <a:t>11 </a:t>
                      </a:r>
                      <a:r>
                        <a:rPr lang="en-US" sz="1200" u="none" strike="noStrike" smtClean="0">
                          <a:effectLst/>
                        </a:rPr>
                        <a:t>days in May’25)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SMS-1 Conv. E </a:t>
                      </a:r>
                      <a:r>
                        <a:rPr lang="en-US" sz="1200" u="none" strike="noStrike">
                          <a:effectLst/>
                        </a:rPr>
                        <a:t>(</a:t>
                      </a:r>
                      <a:r>
                        <a:rPr lang="en-US" sz="1200" u="none" strike="noStrike" smtClean="0">
                          <a:effectLst/>
                        </a:rPr>
                        <a:t>17 days</a:t>
                      </a:r>
                      <a:r>
                        <a:rPr lang="en-US" sz="1200" u="none" strike="noStrike" baseline="0" smtClean="0">
                          <a:effectLst/>
                        </a:rPr>
                        <a:t> in Jun-Jul’25)</a:t>
                      </a:r>
                      <a:r>
                        <a:rPr lang="en-US" sz="1200" u="none" strike="noStrike" smtClean="0">
                          <a:effectLst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65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ISP</a:t>
                      </a:r>
                      <a:endParaRPr lang="en-IN" sz="1400" b="1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BF-5 (13 days in May'26)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WRM (13 days in May'26)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>
                          <a:effectLst/>
                        </a:rPr>
                        <a:t>Bar </a:t>
                      </a:r>
                      <a:r>
                        <a:rPr lang="en-US" sz="1200" u="none" strike="noStrike" smtClean="0">
                          <a:effectLst/>
                        </a:rPr>
                        <a:t>Mill (</a:t>
                      </a:r>
                      <a:r>
                        <a:rPr lang="en-US" sz="1200" u="none" strike="noStrike" dirty="0">
                          <a:effectLst/>
                        </a:rPr>
                        <a:t>17 days  in May'26)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1" algn="just" rtl="0" fontAlgn="ctr"/>
                      <a:r>
                        <a:rPr lang="en-US" sz="1200" u="none" strike="noStrike" dirty="0">
                          <a:effectLst/>
                        </a:rPr>
                        <a:t>USM (22 days  in May'26)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355" marR="5355" marT="535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just" fontAlgn="t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r>
                        <a:rPr lang="en-IN" sz="1200" u="none" strike="noStrike" smtClean="0">
                          <a:effectLst/>
                        </a:rPr>
                        <a:t>Conv 2 (12 days in Apr-May’25)</a:t>
                      </a:r>
                      <a:endParaRPr lang="en-IN" sz="1200" b="0" i="0" u="none" strike="noStrike" dirty="0">
                        <a:effectLst/>
                        <a:latin typeface="Arial"/>
                      </a:endParaRPr>
                    </a:p>
                  </a:txBody>
                  <a:tcPr marL="5355" marR="5355" marT="535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40755" y="411511"/>
            <a:ext cx="1415005" cy="42501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/>
              <a:t>Major </a:t>
            </a:r>
            <a:r>
              <a:rPr lang="en-US" sz="3000" b="1"/>
              <a:t>Capital </a:t>
            </a:r>
            <a:r>
              <a:rPr lang="en-US" sz="3000" b="1" smtClean="0"/>
              <a:t>Repairs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115471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1"/>
          <p:cNvSpPr>
            <a:spLocks noGrp="1"/>
          </p:cNvSpPr>
          <p:nvPr>
            <p:ph type="title"/>
          </p:nvPr>
        </p:nvSpPr>
        <p:spPr>
          <a:xfrm>
            <a:off x="762000" y="104491"/>
            <a:ext cx="8077200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34" tIns="45717" rIns="91434" bIns="45717" rtlCol="0" anchor="ctr">
            <a:noAutofit/>
          </a:bodyPr>
          <a:lstStyle/>
          <a:p>
            <a:r>
              <a:rPr lang="en-IN" sz="2800" b="1">
                <a:solidFill>
                  <a:srgbClr val="0000FF"/>
                </a:solidFill>
              </a:rPr>
              <a:t>BSP: Major Breakdowns/Delays during  {MON}</a:t>
            </a:r>
            <a:endParaRPr lang="en-IN" sz="2800" b="1">
              <a:solidFill>
                <a:srgbClr val="0000FF"/>
              </a:solidFill>
            </a:endParaRPr>
          </a:p>
        </p:txBody>
      </p:sp>
      <p:graphicFrame>
        <p:nvGraphicFramePr>
          <p:cNvPr id="4" name="tbl_bd_BS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032110"/>
              </p:ext>
            </p:extLst>
          </p:nvPr>
        </p:nvGraphicFramePr>
        <p:xfrm>
          <a:off x="25020" y="1122108"/>
          <a:ext cx="9042779" cy="34747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77288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2698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712428">
                <a:tc>
                  <a:txBody>
                    <a:bodyPr/>
                    <a:lstStyle/>
                    <a:p>
                      <a:pPr algn="ctr"/>
                      <a:r>
                        <a:rPr lang="en-IN" b="1" smtClean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BFs</a:t>
                      </a:r>
                      <a:endParaRPr lang="en-IN" b="1">
                        <a:solidFill>
                          <a:srgbClr val="C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solidFill>
                            <a:srgbClr val="C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428">
                <a:tc>
                  <a:txBody>
                    <a:bodyPr/>
                    <a:lstStyle/>
                    <a:p>
                      <a:pPr algn="ctr"/>
                      <a:r>
                        <a:rPr lang="en-IN" b="1" smtClean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SMS</a:t>
                      </a:r>
                      <a:endParaRPr lang="en-IN" b="1">
                        <a:solidFill>
                          <a:srgbClr val="C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solidFill>
                            <a:srgbClr val="C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428">
                <a:tc>
                  <a:txBody>
                    <a:bodyPr/>
                    <a:lstStyle/>
                    <a:p>
                      <a:pPr algn="ctr"/>
                      <a:r>
                        <a:rPr lang="en-IN" b="1" smtClean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Mills</a:t>
                      </a:r>
                      <a:endParaRPr lang="en-IN" b="1">
                        <a:solidFill>
                          <a:srgbClr val="C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solidFill>
                            <a:srgbClr val="C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11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2"/>
          <p:cNvSpPr>
            <a:spLocks noGrp="1"/>
          </p:cNvSpPr>
          <p:nvPr>
            <p:ph type="title"/>
          </p:nvPr>
        </p:nvSpPr>
        <p:spPr>
          <a:xfrm>
            <a:off x="304800" y="104491"/>
            <a:ext cx="8839200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34" tIns="45717" rIns="91434" bIns="45717" rtlCol="0" anchor="ctr">
            <a:noAutofit/>
          </a:bodyPr>
          <a:lstStyle/>
          <a:p>
            <a:r>
              <a:rPr lang="en-IN" sz="2700" b="1">
                <a:solidFill>
                  <a:srgbClr val="0000FF"/>
                </a:solidFill>
              </a:rPr>
              <a:t>DSP: Major Breakdowns/Delays during  {MON}</a:t>
            </a:r>
            <a:endParaRPr lang="en-IN" sz="2700" b="1">
              <a:solidFill>
                <a:srgbClr val="0000FF"/>
              </a:solidFill>
            </a:endParaRPr>
          </a:p>
        </p:txBody>
      </p:sp>
      <p:graphicFrame>
        <p:nvGraphicFramePr>
          <p:cNvPr id="4" name="tbl_bd_DS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201805"/>
              </p:ext>
            </p:extLst>
          </p:nvPr>
        </p:nvGraphicFramePr>
        <p:xfrm>
          <a:off x="25020" y="941070"/>
          <a:ext cx="9042779" cy="35814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77288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2698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67858">
                <a:tc>
                  <a:txBody>
                    <a:bodyPr/>
                    <a:lstStyle/>
                    <a:p>
                      <a:pPr algn="l"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BFs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smtClean="0">
                          <a:solidFill>
                            <a:srgbClr val="0000FF"/>
                          </a:solidFill>
                          <a:latin typeface="+mj-lt"/>
                          <a:ea typeface="+mj-ea"/>
                          <a:cs typeface="+mj-cs"/>
                        </a:rPr>
                        <a:t/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7858">
                <a:tc>
                  <a:txBody>
                    <a:bodyPr/>
                    <a:lstStyle/>
                    <a:p>
                      <a:pPr algn="l"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SMS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smtClean="0">
                          <a:solidFill>
                            <a:srgbClr val="0000FF"/>
                          </a:solidFill>
                          <a:latin typeface="+mj-lt"/>
                          <a:ea typeface="+mj-ea"/>
                          <a:cs typeface="+mj-cs"/>
                        </a:rPr>
                        <a:t/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7858">
                <a:tc>
                  <a:txBody>
                    <a:bodyPr/>
                    <a:lstStyle/>
                    <a:p>
                      <a:pPr algn="l"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Mills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smtClean="0">
                          <a:solidFill>
                            <a:srgbClr val="0000FF"/>
                          </a:solidFill>
                          <a:latin typeface="+mj-lt"/>
                          <a:ea typeface="+mj-ea"/>
                          <a:cs typeface="+mj-cs"/>
                        </a:rPr>
                        <a:t/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70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3"/>
          <p:cNvSpPr>
            <a:spLocks noGrp="1"/>
          </p:cNvSpPr>
          <p:nvPr>
            <p:ph type="title"/>
          </p:nvPr>
        </p:nvSpPr>
        <p:spPr>
          <a:xfrm>
            <a:off x="762000" y="104491"/>
            <a:ext cx="8077200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34" tIns="45717" rIns="91434" bIns="45717" rtlCol="0" anchor="ctr">
            <a:noAutofit/>
          </a:bodyPr>
          <a:lstStyle/>
          <a:p>
            <a:r>
              <a:rPr lang="en-IN" sz="2800" b="1">
                <a:solidFill>
                  <a:srgbClr val="0000FF"/>
                </a:solidFill>
              </a:rPr>
              <a:t>RSP: Major Breakdowns/Delays during  {MON}</a:t>
            </a:r>
            <a:endParaRPr lang="en-IN" sz="2800" b="1">
              <a:solidFill>
                <a:srgbClr val="0000FF"/>
              </a:solidFill>
            </a:endParaRPr>
          </a:p>
        </p:txBody>
      </p:sp>
      <p:graphicFrame>
        <p:nvGraphicFramePr>
          <p:cNvPr id="4" name="tbl_bd_RS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086202"/>
              </p:ext>
            </p:extLst>
          </p:nvPr>
        </p:nvGraphicFramePr>
        <p:xfrm>
          <a:off x="0" y="1047750"/>
          <a:ext cx="9144000" cy="3708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3784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2061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23613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BFs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kern="1200" smtClean="0">
                          <a:solidFill>
                            <a:srgbClr val="C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/>
                      </a:r>
                      <a:endParaRPr lang="en-IN" b="0" baseline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3613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SMS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kern="1200" smtClean="0">
                          <a:solidFill>
                            <a:srgbClr val="C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/>
                      </a:r>
                      <a:endParaRPr lang="en-IN" b="0" baseline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3613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Mills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kern="1200" smtClean="0">
                          <a:solidFill>
                            <a:srgbClr val="C00000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/>
                      </a:r>
                      <a:endParaRPr lang="en-IN" b="0" baseline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2712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4"/>
          <p:cNvSpPr>
            <a:spLocks noGrp="1"/>
          </p:cNvSpPr>
          <p:nvPr>
            <p:ph type="title"/>
          </p:nvPr>
        </p:nvSpPr>
        <p:spPr>
          <a:xfrm>
            <a:off x="762000" y="104491"/>
            <a:ext cx="8077200" cy="409859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34" tIns="45717" rIns="91434" bIns="45717" rtlCol="0" anchor="ctr">
            <a:noAutofit/>
          </a:bodyPr>
          <a:lstStyle/>
          <a:p>
            <a:r>
              <a:rPr lang="en-IN" sz="2400" b="1" dirty="0">
                <a:solidFill>
                  <a:srgbClr val="0000FF"/>
                </a:solidFill>
              </a:rPr>
              <a:t>ISP: Major Breakdowns/Delays during  {MON}</a:t>
            </a:r>
            <a:endParaRPr lang="en-IN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4" name="tbl_bd_IS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059595"/>
              </p:ext>
            </p:extLst>
          </p:nvPr>
        </p:nvGraphicFramePr>
        <p:xfrm>
          <a:off x="25020" y="951230"/>
          <a:ext cx="9042779" cy="31699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77288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2698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47226">
                <a:tc>
                  <a:txBody>
                    <a:bodyPr/>
                    <a:lstStyle/>
                    <a:p>
                      <a:pPr marL="13335" marR="635"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25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BFs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spc="-25" smtClean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47226">
                <a:tc>
                  <a:txBody>
                    <a:bodyPr/>
                    <a:lstStyle/>
                    <a:p>
                      <a:pPr marL="13335" marR="635"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25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SMS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spc="-25" smtClean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47226">
                <a:tc>
                  <a:txBody>
                    <a:bodyPr/>
                    <a:lstStyle/>
                    <a:p>
                      <a:pPr marL="13335" marR="635"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25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>Mills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0" algn="l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spc="-25" smtClean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Arial MT"/>
                          <a:cs typeface="Times New Roman" panose="02020603050405020304" pitchFamily="18" charset="0"/>
                        </a:rPr>
                        <a:t/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09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0" y="198972"/>
            <a:ext cx="8413423" cy="69637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/>
              <a:t>SAIL Techno  Performance</a:t>
            </a:r>
            <a:endParaRPr lang="en-IN" b="1" dirty="0"/>
          </a:p>
        </p:txBody>
      </p:sp>
      <p:graphicFrame>
        <p:nvGraphicFramePr>
          <p:cNvPr id="8" name="trend_SAIL_coke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0392263"/>
              </p:ext>
            </p:extLst>
          </p:nvPr>
        </p:nvGraphicFramePr>
        <p:xfrm>
          <a:off x="3154000" y="973098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rend_SAIL_pci">
            <a:extLst>
              <a:ext uri="{FF2B5EF4-FFF2-40B4-BE49-F238E27FC236}">
                <a16:creationId xmlns="" xmlns:a16="http://schemas.microsoft.com/office/drawing/2014/main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4921272"/>
              </p:ext>
            </p:extLst>
          </p:nvPr>
        </p:nvGraphicFramePr>
        <p:xfrm>
          <a:off x="6092846" y="973098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rend_SAIL_bfprod">
            <a:extLst>
              <a:ext uri="{FF2B5EF4-FFF2-40B4-BE49-F238E27FC236}">
                <a16:creationId xmlns="" xmlns:a16="http://schemas.microsoft.com/office/drawing/2014/main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1258392"/>
              </p:ext>
            </p:extLst>
          </p:nvPr>
        </p:nvGraphicFramePr>
        <p:xfrm>
          <a:off x="23043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trend_SAIL_energy">
            <a:extLst>
              <a:ext uri="{FF2B5EF4-FFF2-40B4-BE49-F238E27FC236}">
                <a16:creationId xmlns="" xmlns:a16="http://schemas.microsoft.com/office/drawing/2014/main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2995505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trend_SAIL_co2">
            <a:extLst>
              <a:ext uri="{FF2B5EF4-FFF2-40B4-BE49-F238E27FC236}">
                <a16:creationId xmlns="" xmlns:a16="http://schemas.microsoft.com/office/drawing/2014/main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8966590"/>
              </p:ext>
            </p:extLst>
          </p:nvPr>
        </p:nvGraphicFramePr>
        <p:xfrm>
          <a:off x="6032033" y="3073337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="" xmlns:a16="http://schemas.microsoft.com/office/drawing/2014/main" id="{468FF4CD-BFBE-9162-452F-671EFCEC1EB1}"/>
              </a:ext>
            </a:extLst>
          </p:cNvPr>
          <p:cNvSpPr/>
          <p:nvPr/>
        </p:nvSpPr>
        <p:spPr>
          <a:xfrm>
            <a:off x="5812499" y="10367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="" xmlns:a16="http://schemas.microsoft.com/office/drawing/2014/main" id="{4A9AFB77-8853-EFC9-8382-A1A5951D88C5}"/>
              </a:ext>
            </a:extLst>
          </p:cNvPr>
          <p:cNvSpPr/>
          <p:nvPr/>
        </p:nvSpPr>
        <p:spPr>
          <a:xfrm rot="10800000">
            <a:off x="8831404" y="110112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="" xmlns:a16="http://schemas.microsoft.com/office/drawing/2014/main" id="{AC3054EC-F129-033A-22D0-534C9B53C940}"/>
              </a:ext>
            </a:extLst>
          </p:cNvPr>
          <p:cNvSpPr/>
          <p:nvPr/>
        </p:nvSpPr>
        <p:spPr>
          <a:xfrm>
            <a:off x="8868458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="" xmlns:a16="http://schemas.microsoft.com/office/drawing/2014/main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5674310" y="846305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E34A3E0-3C28-0FB4-B89A-52034D2C1A6A}"/>
              </a:ext>
            </a:extLst>
          </p:cNvPr>
          <p:cNvSpPr txBox="1"/>
          <p:nvPr/>
        </p:nvSpPr>
        <p:spPr>
          <a:xfrm>
            <a:off x="247276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B4589875-2851-8B97-6DBB-523F83EAF1E0}"/>
              </a:ext>
            </a:extLst>
          </p:cNvPr>
          <p:cNvSpPr txBox="1"/>
          <p:nvPr/>
        </p:nvSpPr>
        <p:spPr>
          <a:xfrm>
            <a:off x="8700592" y="973129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263986C-DB10-ED2F-A1D9-34D088B5642A}"/>
              </a:ext>
            </a:extLst>
          </p:cNvPr>
          <p:cNvSpPr txBox="1"/>
          <p:nvPr/>
        </p:nvSpPr>
        <p:spPr>
          <a:xfrm>
            <a:off x="8738237" y="2947187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="" xmlns:a16="http://schemas.microsoft.com/office/drawing/2014/main" id="{8592BCE0-3F85-1C4F-3398-3B8AA4138CB5}"/>
              </a:ext>
            </a:extLst>
          </p:cNvPr>
          <p:cNvSpPr/>
          <p:nvPr/>
        </p:nvSpPr>
        <p:spPr>
          <a:xfrm>
            <a:off x="5807460" y="31436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C7A38F87-C80B-9134-99B2-6309AAADAE31}"/>
              </a:ext>
            </a:extLst>
          </p:cNvPr>
          <p:cNvSpPr txBox="1"/>
          <p:nvPr/>
        </p:nvSpPr>
        <p:spPr>
          <a:xfrm>
            <a:off x="567811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trend_SAIL_fuel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6718009"/>
              </p:ext>
            </p:extLst>
          </p:nvPr>
        </p:nvGraphicFramePr>
        <p:xfrm>
          <a:off x="51178" y="1032204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2472769" y="87008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37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0" y="198972"/>
            <a:ext cx="8413423" cy="69637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smtClean="0"/>
              <a:t>BSP </a:t>
            </a:r>
            <a:r>
              <a:rPr lang="en-US" b="1" dirty="0"/>
              <a:t>Techno  Performance</a:t>
            </a:r>
            <a:endParaRPr lang="en-IN" b="1" dirty="0"/>
          </a:p>
        </p:txBody>
      </p:sp>
      <p:graphicFrame>
        <p:nvGraphicFramePr>
          <p:cNvPr id="8" name="trend_BSP_coke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90023"/>
              </p:ext>
            </p:extLst>
          </p:nvPr>
        </p:nvGraphicFramePr>
        <p:xfrm>
          <a:off x="3154000" y="973098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rend_BSP_pci">
            <a:extLst>
              <a:ext uri="{FF2B5EF4-FFF2-40B4-BE49-F238E27FC236}">
                <a16:creationId xmlns="" xmlns:a16="http://schemas.microsoft.com/office/drawing/2014/main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9014937"/>
              </p:ext>
            </p:extLst>
          </p:nvPr>
        </p:nvGraphicFramePr>
        <p:xfrm>
          <a:off x="6092846" y="973098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rend_BSP_bfprod">
            <a:extLst>
              <a:ext uri="{FF2B5EF4-FFF2-40B4-BE49-F238E27FC236}">
                <a16:creationId xmlns="" xmlns:a16="http://schemas.microsoft.com/office/drawing/2014/main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0980205"/>
              </p:ext>
            </p:extLst>
          </p:nvPr>
        </p:nvGraphicFramePr>
        <p:xfrm>
          <a:off x="23043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trend_BSP_energy">
            <a:extLst>
              <a:ext uri="{FF2B5EF4-FFF2-40B4-BE49-F238E27FC236}">
                <a16:creationId xmlns="" xmlns:a16="http://schemas.microsoft.com/office/drawing/2014/main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6342829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trend_BSP_co2">
            <a:extLst>
              <a:ext uri="{FF2B5EF4-FFF2-40B4-BE49-F238E27FC236}">
                <a16:creationId xmlns="" xmlns:a16="http://schemas.microsoft.com/office/drawing/2014/main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1440549"/>
              </p:ext>
            </p:extLst>
          </p:nvPr>
        </p:nvGraphicFramePr>
        <p:xfrm>
          <a:off x="6032033" y="3073337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="" xmlns:a16="http://schemas.microsoft.com/office/drawing/2014/main" id="{468FF4CD-BFBE-9162-452F-671EFCEC1EB1}"/>
              </a:ext>
            </a:extLst>
          </p:cNvPr>
          <p:cNvSpPr/>
          <p:nvPr/>
        </p:nvSpPr>
        <p:spPr>
          <a:xfrm>
            <a:off x="5812499" y="10367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="" xmlns:a16="http://schemas.microsoft.com/office/drawing/2014/main" id="{4A9AFB77-8853-EFC9-8382-A1A5951D88C5}"/>
              </a:ext>
            </a:extLst>
          </p:cNvPr>
          <p:cNvSpPr/>
          <p:nvPr/>
        </p:nvSpPr>
        <p:spPr>
          <a:xfrm rot="10800000">
            <a:off x="8831404" y="110112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="" xmlns:a16="http://schemas.microsoft.com/office/drawing/2014/main" id="{AC3054EC-F129-033A-22D0-534C9B53C940}"/>
              </a:ext>
            </a:extLst>
          </p:cNvPr>
          <p:cNvSpPr/>
          <p:nvPr/>
        </p:nvSpPr>
        <p:spPr>
          <a:xfrm>
            <a:off x="8868458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="" xmlns:a16="http://schemas.microsoft.com/office/drawing/2014/main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5674310" y="846305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E34A3E0-3C28-0FB4-B89A-52034D2C1A6A}"/>
              </a:ext>
            </a:extLst>
          </p:cNvPr>
          <p:cNvSpPr txBox="1"/>
          <p:nvPr/>
        </p:nvSpPr>
        <p:spPr>
          <a:xfrm>
            <a:off x="247276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B4589875-2851-8B97-6DBB-523F83EAF1E0}"/>
              </a:ext>
            </a:extLst>
          </p:cNvPr>
          <p:cNvSpPr txBox="1"/>
          <p:nvPr/>
        </p:nvSpPr>
        <p:spPr>
          <a:xfrm>
            <a:off x="8700592" y="973129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263986C-DB10-ED2F-A1D9-34D088B5642A}"/>
              </a:ext>
            </a:extLst>
          </p:cNvPr>
          <p:cNvSpPr txBox="1"/>
          <p:nvPr/>
        </p:nvSpPr>
        <p:spPr>
          <a:xfrm>
            <a:off x="8738237" y="2947187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="" xmlns:a16="http://schemas.microsoft.com/office/drawing/2014/main" id="{8592BCE0-3F85-1C4F-3398-3B8AA4138CB5}"/>
              </a:ext>
            </a:extLst>
          </p:cNvPr>
          <p:cNvSpPr/>
          <p:nvPr/>
        </p:nvSpPr>
        <p:spPr>
          <a:xfrm>
            <a:off x="5807460" y="31436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C7A38F87-C80B-9134-99B2-6309AAADAE31}"/>
              </a:ext>
            </a:extLst>
          </p:cNvPr>
          <p:cNvSpPr txBox="1"/>
          <p:nvPr/>
        </p:nvSpPr>
        <p:spPr>
          <a:xfrm>
            <a:off x="567811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trend_BSP_fuel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8406132"/>
              </p:ext>
            </p:extLst>
          </p:nvPr>
        </p:nvGraphicFramePr>
        <p:xfrm>
          <a:off x="51178" y="1032204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2472769" y="87008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73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0" y="198972"/>
            <a:ext cx="8413423" cy="69637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smtClean="0"/>
              <a:t>DSP </a:t>
            </a:r>
            <a:r>
              <a:rPr lang="en-US" b="1" dirty="0"/>
              <a:t>Techno  Performance</a:t>
            </a:r>
            <a:endParaRPr lang="en-IN" b="1" dirty="0"/>
          </a:p>
        </p:txBody>
      </p:sp>
      <p:graphicFrame>
        <p:nvGraphicFramePr>
          <p:cNvPr id="8" name="trend_DSP_coke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1453519"/>
              </p:ext>
            </p:extLst>
          </p:nvPr>
        </p:nvGraphicFramePr>
        <p:xfrm>
          <a:off x="3154000" y="973098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rend_DSP_pci">
            <a:extLst>
              <a:ext uri="{FF2B5EF4-FFF2-40B4-BE49-F238E27FC236}">
                <a16:creationId xmlns="" xmlns:a16="http://schemas.microsoft.com/office/drawing/2014/main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1791173"/>
              </p:ext>
            </p:extLst>
          </p:nvPr>
        </p:nvGraphicFramePr>
        <p:xfrm>
          <a:off x="6092846" y="973098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rend_DSP_bfprod">
            <a:extLst>
              <a:ext uri="{FF2B5EF4-FFF2-40B4-BE49-F238E27FC236}">
                <a16:creationId xmlns="" xmlns:a16="http://schemas.microsoft.com/office/drawing/2014/main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9317226"/>
              </p:ext>
            </p:extLst>
          </p:nvPr>
        </p:nvGraphicFramePr>
        <p:xfrm>
          <a:off x="23043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trend_DSP_energy">
            <a:extLst>
              <a:ext uri="{FF2B5EF4-FFF2-40B4-BE49-F238E27FC236}">
                <a16:creationId xmlns="" xmlns:a16="http://schemas.microsoft.com/office/drawing/2014/main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1247700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trend_DSP_co2">
            <a:extLst>
              <a:ext uri="{FF2B5EF4-FFF2-40B4-BE49-F238E27FC236}">
                <a16:creationId xmlns="" xmlns:a16="http://schemas.microsoft.com/office/drawing/2014/main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8194654"/>
              </p:ext>
            </p:extLst>
          </p:nvPr>
        </p:nvGraphicFramePr>
        <p:xfrm>
          <a:off x="6032033" y="3073337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="" xmlns:a16="http://schemas.microsoft.com/office/drawing/2014/main" id="{468FF4CD-BFBE-9162-452F-671EFCEC1EB1}"/>
              </a:ext>
            </a:extLst>
          </p:cNvPr>
          <p:cNvSpPr/>
          <p:nvPr/>
        </p:nvSpPr>
        <p:spPr>
          <a:xfrm>
            <a:off x="5812499" y="10367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="" xmlns:a16="http://schemas.microsoft.com/office/drawing/2014/main" id="{4A9AFB77-8853-EFC9-8382-A1A5951D88C5}"/>
              </a:ext>
            </a:extLst>
          </p:cNvPr>
          <p:cNvSpPr/>
          <p:nvPr/>
        </p:nvSpPr>
        <p:spPr>
          <a:xfrm rot="10800000">
            <a:off x="8831404" y="110112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="" xmlns:a16="http://schemas.microsoft.com/office/drawing/2014/main" id="{AC3054EC-F129-033A-22D0-534C9B53C940}"/>
              </a:ext>
            </a:extLst>
          </p:cNvPr>
          <p:cNvSpPr/>
          <p:nvPr/>
        </p:nvSpPr>
        <p:spPr>
          <a:xfrm>
            <a:off x="8868458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="" xmlns:a16="http://schemas.microsoft.com/office/drawing/2014/main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5674310" y="846305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E34A3E0-3C28-0FB4-B89A-52034D2C1A6A}"/>
              </a:ext>
            </a:extLst>
          </p:cNvPr>
          <p:cNvSpPr txBox="1"/>
          <p:nvPr/>
        </p:nvSpPr>
        <p:spPr>
          <a:xfrm>
            <a:off x="247276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B4589875-2851-8B97-6DBB-523F83EAF1E0}"/>
              </a:ext>
            </a:extLst>
          </p:cNvPr>
          <p:cNvSpPr txBox="1"/>
          <p:nvPr/>
        </p:nvSpPr>
        <p:spPr>
          <a:xfrm>
            <a:off x="8700592" y="973129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263986C-DB10-ED2F-A1D9-34D088B5642A}"/>
              </a:ext>
            </a:extLst>
          </p:cNvPr>
          <p:cNvSpPr txBox="1"/>
          <p:nvPr/>
        </p:nvSpPr>
        <p:spPr>
          <a:xfrm>
            <a:off x="8738237" y="2947187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="" xmlns:a16="http://schemas.microsoft.com/office/drawing/2014/main" id="{8592BCE0-3F85-1C4F-3398-3B8AA4138CB5}"/>
              </a:ext>
            </a:extLst>
          </p:cNvPr>
          <p:cNvSpPr/>
          <p:nvPr/>
        </p:nvSpPr>
        <p:spPr>
          <a:xfrm>
            <a:off x="5807460" y="31436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C7A38F87-C80B-9134-99B2-6309AAADAE31}"/>
              </a:ext>
            </a:extLst>
          </p:cNvPr>
          <p:cNvSpPr txBox="1"/>
          <p:nvPr/>
        </p:nvSpPr>
        <p:spPr>
          <a:xfrm>
            <a:off x="567811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trend_DSP_fuel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594120"/>
              </p:ext>
            </p:extLst>
          </p:nvPr>
        </p:nvGraphicFramePr>
        <p:xfrm>
          <a:off x="51178" y="1032204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2472769" y="87008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06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0" y="198972"/>
            <a:ext cx="8413423" cy="69637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smtClean="0"/>
              <a:t>RSP </a:t>
            </a:r>
            <a:r>
              <a:rPr lang="en-US" b="1" dirty="0"/>
              <a:t>Techno  Performance</a:t>
            </a:r>
            <a:endParaRPr lang="en-IN" b="1" dirty="0"/>
          </a:p>
        </p:txBody>
      </p:sp>
      <p:graphicFrame>
        <p:nvGraphicFramePr>
          <p:cNvPr id="8" name="trend_RSP_coke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3041635"/>
              </p:ext>
            </p:extLst>
          </p:nvPr>
        </p:nvGraphicFramePr>
        <p:xfrm>
          <a:off x="3154000" y="973098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rend_RSP_pci">
            <a:extLst>
              <a:ext uri="{FF2B5EF4-FFF2-40B4-BE49-F238E27FC236}">
                <a16:creationId xmlns="" xmlns:a16="http://schemas.microsoft.com/office/drawing/2014/main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129279"/>
              </p:ext>
            </p:extLst>
          </p:nvPr>
        </p:nvGraphicFramePr>
        <p:xfrm>
          <a:off x="6092846" y="973098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rend_RSP_bfprod">
            <a:extLst>
              <a:ext uri="{FF2B5EF4-FFF2-40B4-BE49-F238E27FC236}">
                <a16:creationId xmlns="" xmlns:a16="http://schemas.microsoft.com/office/drawing/2014/main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6838454"/>
              </p:ext>
            </p:extLst>
          </p:nvPr>
        </p:nvGraphicFramePr>
        <p:xfrm>
          <a:off x="23043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trend_RSP_energy">
            <a:extLst>
              <a:ext uri="{FF2B5EF4-FFF2-40B4-BE49-F238E27FC236}">
                <a16:creationId xmlns="" xmlns:a16="http://schemas.microsoft.com/office/drawing/2014/main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2002228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trend_RSP_co2">
            <a:extLst>
              <a:ext uri="{FF2B5EF4-FFF2-40B4-BE49-F238E27FC236}">
                <a16:creationId xmlns="" xmlns:a16="http://schemas.microsoft.com/office/drawing/2014/main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0259505"/>
              </p:ext>
            </p:extLst>
          </p:nvPr>
        </p:nvGraphicFramePr>
        <p:xfrm>
          <a:off x="6032033" y="3073337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="" xmlns:a16="http://schemas.microsoft.com/office/drawing/2014/main" id="{468FF4CD-BFBE-9162-452F-671EFCEC1EB1}"/>
              </a:ext>
            </a:extLst>
          </p:cNvPr>
          <p:cNvSpPr/>
          <p:nvPr/>
        </p:nvSpPr>
        <p:spPr>
          <a:xfrm>
            <a:off x="5812499" y="10367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="" xmlns:a16="http://schemas.microsoft.com/office/drawing/2014/main" id="{4A9AFB77-8853-EFC9-8382-A1A5951D88C5}"/>
              </a:ext>
            </a:extLst>
          </p:cNvPr>
          <p:cNvSpPr/>
          <p:nvPr/>
        </p:nvSpPr>
        <p:spPr>
          <a:xfrm rot="10800000">
            <a:off x="8831404" y="110112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="" xmlns:a16="http://schemas.microsoft.com/office/drawing/2014/main" id="{AC3054EC-F129-033A-22D0-534C9B53C940}"/>
              </a:ext>
            </a:extLst>
          </p:cNvPr>
          <p:cNvSpPr/>
          <p:nvPr/>
        </p:nvSpPr>
        <p:spPr>
          <a:xfrm>
            <a:off x="8868458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="" xmlns:a16="http://schemas.microsoft.com/office/drawing/2014/main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5674310" y="846305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E34A3E0-3C28-0FB4-B89A-52034D2C1A6A}"/>
              </a:ext>
            </a:extLst>
          </p:cNvPr>
          <p:cNvSpPr txBox="1"/>
          <p:nvPr/>
        </p:nvSpPr>
        <p:spPr>
          <a:xfrm>
            <a:off x="247276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B4589875-2851-8B97-6DBB-523F83EAF1E0}"/>
              </a:ext>
            </a:extLst>
          </p:cNvPr>
          <p:cNvSpPr txBox="1"/>
          <p:nvPr/>
        </p:nvSpPr>
        <p:spPr>
          <a:xfrm>
            <a:off x="8700592" y="973129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263986C-DB10-ED2F-A1D9-34D088B5642A}"/>
              </a:ext>
            </a:extLst>
          </p:cNvPr>
          <p:cNvSpPr txBox="1"/>
          <p:nvPr/>
        </p:nvSpPr>
        <p:spPr>
          <a:xfrm>
            <a:off x="8738237" y="2947187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="" xmlns:a16="http://schemas.microsoft.com/office/drawing/2014/main" id="{8592BCE0-3F85-1C4F-3398-3B8AA4138CB5}"/>
              </a:ext>
            </a:extLst>
          </p:cNvPr>
          <p:cNvSpPr/>
          <p:nvPr/>
        </p:nvSpPr>
        <p:spPr>
          <a:xfrm>
            <a:off x="5807460" y="31436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C7A38F87-C80B-9134-99B2-6309AAADAE31}"/>
              </a:ext>
            </a:extLst>
          </p:cNvPr>
          <p:cNvSpPr txBox="1"/>
          <p:nvPr/>
        </p:nvSpPr>
        <p:spPr>
          <a:xfrm>
            <a:off x="567811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trend_RSP_fuel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5063450"/>
              </p:ext>
            </p:extLst>
          </p:nvPr>
        </p:nvGraphicFramePr>
        <p:xfrm>
          <a:off x="51178" y="1032204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2472769" y="87008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744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0" y="198972"/>
            <a:ext cx="8413423" cy="69637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smtClean="0"/>
              <a:t>BSL </a:t>
            </a:r>
            <a:r>
              <a:rPr lang="en-US" b="1" dirty="0"/>
              <a:t>Techno  Performance</a:t>
            </a:r>
            <a:endParaRPr lang="en-IN" b="1" dirty="0"/>
          </a:p>
        </p:txBody>
      </p:sp>
      <p:graphicFrame>
        <p:nvGraphicFramePr>
          <p:cNvPr id="8" name="trend_BSL_coke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6681891"/>
              </p:ext>
            </p:extLst>
          </p:nvPr>
        </p:nvGraphicFramePr>
        <p:xfrm>
          <a:off x="3154000" y="973098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rend_BSL_pci">
            <a:extLst>
              <a:ext uri="{FF2B5EF4-FFF2-40B4-BE49-F238E27FC236}">
                <a16:creationId xmlns="" xmlns:a16="http://schemas.microsoft.com/office/drawing/2014/main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5245546"/>
              </p:ext>
            </p:extLst>
          </p:nvPr>
        </p:nvGraphicFramePr>
        <p:xfrm>
          <a:off x="6092846" y="973098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rend_BSL_bfprod">
            <a:extLst>
              <a:ext uri="{FF2B5EF4-FFF2-40B4-BE49-F238E27FC236}">
                <a16:creationId xmlns="" xmlns:a16="http://schemas.microsoft.com/office/drawing/2014/main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2859043"/>
              </p:ext>
            </p:extLst>
          </p:nvPr>
        </p:nvGraphicFramePr>
        <p:xfrm>
          <a:off x="23043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trend_BSL_energy">
            <a:extLst>
              <a:ext uri="{FF2B5EF4-FFF2-40B4-BE49-F238E27FC236}">
                <a16:creationId xmlns="" xmlns:a16="http://schemas.microsoft.com/office/drawing/2014/main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146580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trend_BSL_co2">
            <a:extLst>
              <a:ext uri="{FF2B5EF4-FFF2-40B4-BE49-F238E27FC236}">
                <a16:creationId xmlns="" xmlns:a16="http://schemas.microsoft.com/office/drawing/2014/main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550136"/>
              </p:ext>
            </p:extLst>
          </p:nvPr>
        </p:nvGraphicFramePr>
        <p:xfrm>
          <a:off x="6032033" y="3073337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="" xmlns:a16="http://schemas.microsoft.com/office/drawing/2014/main" id="{468FF4CD-BFBE-9162-452F-671EFCEC1EB1}"/>
              </a:ext>
            </a:extLst>
          </p:cNvPr>
          <p:cNvSpPr/>
          <p:nvPr/>
        </p:nvSpPr>
        <p:spPr>
          <a:xfrm>
            <a:off x="5812499" y="10367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="" xmlns:a16="http://schemas.microsoft.com/office/drawing/2014/main" id="{4A9AFB77-8853-EFC9-8382-A1A5951D88C5}"/>
              </a:ext>
            </a:extLst>
          </p:cNvPr>
          <p:cNvSpPr/>
          <p:nvPr/>
        </p:nvSpPr>
        <p:spPr>
          <a:xfrm rot="10800000">
            <a:off x="8831404" y="110112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="" xmlns:a16="http://schemas.microsoft.com/office/drawing/2014/main" id="{AC3054EC-F129-033A-22D0-534C9B53C940}"/>
              </a:ext>
            </a:extLst>
          </p:cNvPr>
          <p:cNvSpPr/>
          <p:nvPr/>
        </p:nvSpPr>
        <p:spPr>
          <a:xfrm>
            <a:off x="8868458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="" xmlns:a16="http://schemas.microsoft.com/office/drawing/2014/main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5674310" y="846305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E34A3E0-3C28-0FB4-B89A-52034D2C1A6A}"/>
              </a:ext>
            </a:extLst>
          </p:cNvPr>
          <p:cNvSpPr txBox="1"/>
          <p:nvPr/>
        </p:nvSpPr>
        <p:spPr>
          <a:xfrm>
            <a:off x="247276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B4589875-2851-8B97-6DBB-523F83EAF1E0}"/>
              </a:ext>
            </a:extLst>
          </p:cNvPr>
          <p:cNvSpPr txBox="1"/>
          <p:nvPr/>
        </p:nvSpPr>
        <p:spPr>
          <a:xfrm>
            <a:off x="8700592" y="973129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263986C-DB10-ED2F-A1D9-34D088B5642A}"/>
              </a:ext>
            </a:extLst>
          </p:cNvPr>
          <p:cNvSpPr txBox="1"/>
          <p:nvPr/>
        </p:nvSpPr>
        <p:spPr>
          <a:xfrm>
            <a:off x="8738237" y="2947187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="" xmlns:a16="http://schemas.microsoft.com/office/drawing/2014/main" id="{8592BCE0-3F85-1C4F-3398-3B8AA4138CB5}"/>
              </a:ext>
            </a:extLst>
          </p:cNvPr>
          <p:cNvSpPr/>
          <p:nvPr/>
        </p:nvSpPr>
        <p:spPr>
          <a:xfrm>
            <a:off x="5807460" y="31436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C7A38F87-C80B-9134-99B2-6309AAADAE31}"/>
              </a:ext>
            </a:extLst>
          </p:cNvPr>
          <p:cNvSpPr txBox="1"/>
          <p:nvPr/>
        </p:nvSpPr>
        <p:spPr>
          <a:xfrm>
            <a:off x="567811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trend_BSL_fuel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0229873"/>
              </p:ext>
            </p:extLst>
          </p:nvPr>
        </p:nvGraphicFramePr>
        <p:xfrm>
          <a:off x="51178" y="1032204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2472769" y="87008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86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2F539A-8BC3-0DC8-39B1-239A6083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0" y="198972"/>
            <a:ext cx="8413423" cy="69637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smtClean="0"/>
              <a:t>ISP </a:t>
            </a:r>
            <a:r>
              <a:rPr lang="en-US" b="1" dirty="0"/>
              <a:t>Techno  Performance</a:t>
            </a:r>
            <a:endParaRPr lang="en-IN" b="1" dirty="0"/>
          </a:p>
        </p:txBody>
      </p:sp>
      <p:graphicFrame>
        <p:nvGraphicFramePr>
          <p:cNvPr id="8" name="trend_ISP_coke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8059741"/>
              </p:ext>
            </p:extLst>
          </p:nvPr>
        </p:nvGraphicFramePr>
        <p:xfrm>
          <a:off x="3154000" y="973098"/>
          <a:ext cx="2935268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rend_ISP_pci">
            <a:extLst>
              <a:ext uri="{FF2B5EF4-FFF2-40B4-BE49-F238E27FC236}">
                <a16:creationId xmlns="" xmlns:a16="http://schemas.microsoft.com/office/drawing/2014/main" id="{848301C5-8399-FE4E-459E-773510FDEB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9931816"/>
              </p:ext>
            </p:extLst>
          </p:nvPr>
        </p:nvGraphicFramePr>
        <p:xfrm>
          <a:off x="6092846" y="973098"/>
          <a:ext cx="2938603" cy="2004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rend_ISP_bfprod">
            <a:extLst>
              <a:ext uri="{FF2B5EF4-FFF2-40B4-BE49-F238E27FC236}">
                <a16:creationId xmlns="" xmlns:a16="http://schemas.microsoft.com/office/drawing/2014/main" id="{823E7253-7CA4-0EF2-8B08-9A9CD6B3C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9882536"/>
              </p:ext>
            </p:extLst>
          </p:nvPr>
        </p:nvGraphicFramePr>
        <p:xfrm>
          <a:off x="23043" y="3033670"/>
          <a:ext cx="3010683" cy="2109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trend_ISP_energy">
            <a:extLst>
              <a:ext uri="{FF2B5EF4-FFF2-40B4-BE49-F238E27FC236}">
                <a16:creationId xmlns="" xmlns:a16="http://schemas.microsoft.com/office/drawing/2014/main" id="{F5A98B31-9746-49D2-D917-366B4F68C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4833393"/>
              </p:ext>
            </p:extLst>
          </p:nvPr>
        </p:nvGraphicFramePr>
        <p:xfrm>
          <a:off x="3106294" y="3033664"/>
          <a:ext cx="2956035" cy="210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trend_ISP_co2">
            <a:extLst>
              <a:ext uri="{FF2B5EF4-FFF2-40B4-BE49-F238E27FC236}">
                <a16:creationId xmlns="" xmlns:a16="http://schemas.microsoft.com/office/drawing/2014/main" id="{AC360842-D05E-AC3B-DC65-1B755697D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767888"/>
              </p:ext>
            </p:extLst>
          </p:nvPr>
        </p:nvGraphicFramePr>
        <p:xfrm>
          <a:off x="6032033" y="3073337"/>
          <a:ext cx="3074322" cy="207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="" xmlns:a16="http://schemas.microsoft.com/office/drawing/2014/main" id="{468FF4CD-BFBE-9162-452F-671EFCEC1EB1}"/>
              </a:ext>
            </a:extLst>
          </p:cNvPr>
          <p:cNvSpPr/>
          <p:nvPr/>
        </p:nvSpPr>
        <p:spPr>
          <a:xfrm>
            <a:off x="5812499" y="10367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="" xmlns:a16="http://schemas.microsoft.com/office/drawing/2014/main" id="{4A9AFB77-8853-EFC9-8382-A1A5951D88C5}"/>
              </a:ext>
            </a:extLst>
          </p:cNvPr>
          <p:cNvSpPr/>
          <p:nvPr/>
        </p:nvSpPr>
        <p:spPr>
          <a:xfrm rot="10800000">
            <a:off x="8831404" y="110112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="" xmlns:a16="http://schemas.microsoft.com/office/drawing/2014/main" id="{AC3054EC-F129-033A-22D0-534C9B53C940}"/>
              </a:ext>
            </a:extLst>
          </p:cNvPr>
          <p:cNvSpPr/>
          <p:nvPr/>
        </p:nvSpPr>
        <p:spPr>
          <a:xfrm>
            <a:off x="8868458" y="3139721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="" xmlns:a16="http://schemas.microsoft.com/office/drawing/2014/main" id="{58B8680B-D199-3FFC-F282-C7D9B176DDDC}"/>
              </a:ext>
            </a:extLst>
          </p:cNvPr>
          <p:cNvSpPr/>
          <p:nvPr/>
        </p:nvSpPr>
        <p:spPr>
          <a:xfrm rot="10800000">
            <a:off x="2887470" y="3047824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5674310" y="846305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6E34A3E0-3C28-0FB4-B89A-52034D2C1A6A}"/>
              </a:ext>
            </a:extLst>
          </p:cNvPr>
          <p:cNvSpPr txBox="1"/>
          <p:nvPr/>
        </p:nvSpPr>
        <p:spPr>
          <a:xfrm>
            <a:off x="247276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B4589875-2851-8B97-6DBB-523F83EAF1E0}"/>
              </a:ext>
            </a:extLst>
          </p:cNvPr>
          <p:cNvSpPr txBox="1"/>
          <p:nvPr/>
        </p:nvSpPr>
        <p:spPr>
          <a:xfrm>
            <a:off x="8700592" y="973129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263986C-DB10-ED2F-A1D9-34D088B5642A}"/>
              </a:ext>
            </a:extLst>
          </p:cNvPr>
          <p:cNvSpPr txBox="1"/>
          <p:nvPr/>
        </p:nvSpPr>
        <p:spPr>
          <a:xfrm>
            <a:off x="8738237" y="2947187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Down 15">
            <a:extLst>
              <a:ext uri="{FF2B5EF4-FFF2-40B4-BE49-F238E27FC236}">
                <a16:creationId xmlns="" xmlns:a16="http://schemas.microsoft.com/office/drawing/2014/main" id="{8592BCE0-3F85-1C4F-3398-3B8AA4138CB5}"/>
              </a:ext>
            </a:extLst>
          </p:cNvPr>
          <p:cNvSpPr/>
          <p:nvPr/>
        </p:nvSpPr>
        <p:spPr>
          <a:xfrm>
            <a:off x="5807460" y="3143646"/>
            <a:ext cx="197963" cy="212103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57" tIns="34286" rIns="68357" bIns="34286" rtlCol="0" anchor="ctr"/>
          <a:lstStyle/>
          <a:p>
            <a:pPr algn="ctr" defTabSz="683284"/>
            <a:endParaRPr lang="en-IN" sz="1400">
              <a:solidFill>
                <a:prstClr val="whit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C7A38F87-C80B-9134-99B2-6309AAADAE31}"/>
              </a:ext>
            </a:extLst>
          </p:cNvPr>
          <p:cNvSpPr txBox="1"/>
          <p:nvPr/>
        </p:nvSpPr>
        <p:spPr>
          <a:xfrm>
            <a:off x="5678119" y="297715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File:SAIL 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24" y="0"/>
            <a:ext cx="323433" cy="33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trend_ISP_fuel">
            <a:extLst>
              <a:ext uri="{FF2B5EF4-FFF2-40B4-BE49-F238E27FC236}">
                <a16:creationId xmlns="" xmlns:a16="http://schemas.microsoft.com/office/drawing/2014/main" id="{AB45F735-D5E7-B461-8AC4-3CF28F96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4891277"/>
              </p:ext>
            </p:extLst>
          </p:nvPr>
        </p:nvGraphicFramePr>
        <p:xfrm>
          <a:off x="51178" y="1032204"/>
          <a:ext cx="2935268" cy="19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D8AD347C-A29F-A7DD-2EA6-CEC814030989}"/>
              </a:ext>
            </a:extLst>
          </p:cNvPr>
          <p:cNvSpPr txBox="1"/>
          <p:nvPr/>
        </p:nvSpPr>
        <p:spPr>
          <a:xfrm>
            <a:off x="2472769" y="870088"/>
            <a:ext cx="405763" cy="192358"/>
          </a:xfrm>
          <a:prstGeom prst="rect">
            <a:avLst/>
          </a:prstGeom>
          <a:noFill/>
        </p:spPr>
        <p:txBody>
          <a:bodyPr wrap="none" lIns="68357" tIns="34286" rIns="68357" bIns="34286" rtlCol="0">
            <a:spAutoFit/>
          </a:bodyPr>
          <a:lstStyle/>
          <a:p>
            <a:pPr defTabSz="683284"/>
            <a:r>
              <a:rPr lang="en-US" sz="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endParaRPr lang="en-IN" sz="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0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2685</TotalTime>
  <Words>2796</Words>
  <Application>Microsoft Office PowerPoint</Application>
  <PresentationFormat>On-screen Show (16:9)</PresentationFormat>
  <Paragraphs>1142</Paragraphs>
  <Slides>30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Office Theme</vt:lpstr>
      <vt:lpstr>1_Office Theme</vt:lpstr>
      <vt:lpstr>8_Office Theme</vt:lpstr>
      <vt:lpstr>PowerPoint Presentation</vt:lpstr>
      <vt:lpstr>SAIL Performance : Sep’26 &amp; Apr-Sep’26</vt:lpstr>
      <vt:lpstr>SAIL Plant-wise Performance : Sep’26 &amp; Apr-Sep’26</vt:lpstr>
      <vt:lpstr>Major Breakdowns/Delays during Sep’26 &amp; Apr-Sep’26</vt:lpstr>
      <vt:lpstr>SAIL Plant-wise Performance : Sep’26 &amp; Apr-Sep’26</vt:lpstr>
      <vt:lpstr>Major Breakdowns/Delays during Sep’26 &amp; Apr-Sep’26</vt:lpstr>
      <vt:lpstr>SAIL Techno  Performance (Apr-Sep’26)</vt:lpstr>
      <vt:lpstr>BSP Performance : Sep’26 &amp; Apr-Sep’26</vt:lpstr>
      <vt:lpstr>BSP Techno  Performance</vt:lpstr>
      <vt:lpstr>DSP Performance : Sep’26 &amp; Apr-Sep’26</vt:lpstr>
      <vt:lpstr>DSP Techno  Performance</vt:lpstr>
      <vt:lpstr>RSP Performance : Sep’26 &amp; Apr-Sep’26</vt:lpstr>
      <vt:lpstr>RSP Techno  Performance</vt:lpstr>
      <vt:lpstr>BSL Performance : Sep’26 &amp; Apr-Sep’26</vt:lpstr>
      <vt:lpstr>BSL Techno  Performance</vt:lpstr>
      <vt:lpstr>ISP Performance : Sep’26 &amp; Apr-Sep’26</vt:lpstr>
      <vt:lpstr>ISP Techno  Performance</vt:lpstr>
      <vt:lpstr>PowerPoint Presentation</vt:lpstr>
      <vt:lpstr>PowerPoint Presentation</vt:lpstr>
      <vt:lpstr>PowerPoint Presentation</vt:lpstr>
      <vt:lpstr>BSP: Major Breakdowns/Delays during Sep’26</vt:lpstr>
      <vt:lpstr>DSP: Major Breakdowns/Delays during Apr-26 &amp; Apr-Sep’26</vt:lpstr>
      <vt:lpstr>RSP: Major Breakdowns/Delays during Sep’26</vt:lpstr>
      <vt:lpstr>ISP: Major Breakdowns/Delays during Sep’26 &amp; Apr-Sep’26</vt:lpstr>
      <vt:lpstr>SAIL Techno  Performance</vt:lpstr>
      <vt:lpstr>BSP Techno  Performance</vt:lpstr>
      <vt:lpstr>DSP Techno  Performance</vt:lpstr>
      <vt:lpstr>RSP Techno  Performance</vt:lpstr>
      <vt:lpstr>BSL Techno  Performance</vt:lpstr>
      <vt:lpstr>ISP Techno  Performance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Sushant Kumar</dc:creator>
  <cp:lastModifiedBy>SAIL</cp:lastModifiedBy>
  <cp:revision>224</cp:revision>
  <cp:lastPrinted>2026-10-03T08:25:31Z</cp:lastPrinted>
  <dcterms:created xsi:type="dcterms:W3CDTF">2006-08-16T00:00:00Z</dcterms:created>
  <dcterms:modified xsi:type="dcterms:W3CDTF">2026-10-03T09:24:53Z</dcterms:modified>
</cp:coreProperties>
</file>